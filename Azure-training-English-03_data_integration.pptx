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4551" r:id="rId1"/>
  </p:sldMasterIdLst>
  <p:notesMasterIdLst>
    <p:notesMasterId r:id="rId29"/>
  </p:notesMasterIdLst>
  <p:handoutMasterIdLst>
    <p:handoutMasterId r:id="rId30"/>
  </p:handoutMasterIdLst>
  <p:sldIdLst>
    <p:sldId id="262" r:id="rId2"/>
    <p:sldId id="1910" r:id="rId3"/>
    <p:sldId id="1930" r:id="rId4"/>
    <p:sldId id="2147470157" r:id="rId5"/>
    <p:sldId id="1797" r:id="rId6"/>
    <p:sldId id="1809" r:id="rId7"/>
    <p:sldId id="2147470158" r:id="rId8"/>
    <p:sldId id="2147470159" r:id="rId9"/>
    <p:sldId id="2147470160" r:id="rId10"/>
    <p:sldId id="1799" r:id="rId11"/>
    <p:sldId id="1816" r:id="rId12"/>
    <p:sldId id="1824" r:id="rId13"/>
    <p:sldId id="2147470161" r:id="rId14"/>
    <p:sldId id="1798" r:id="rId15"/>
    <p:sldId id="1811" r:id="rId16"/>
    <p:sldId id="2147470162" r:id="rId17"/>
    <p:sldId id="1801" r:id="rId18"/>
    <p:sldId id="1836" r:id="rId19"/>
    <p:sldId id="1828" r:id="rId20"/>
    <p:sldId id="1850" r:id="rId21"/>
    <p:sldId id="1804" r:id="rId22"/>
    <p:sldId id="1841" r:id="rId23"/>
    <p:sldId id="2147470164" r:id="rId24"/>
    <p:sldId id="297" r:id="rId25"/>
    <p:sldId id="298" r:id="rId26"/>
    <p:sldId id="299" r:id="rId27"/>
    <p:sldId id="1849" r:id="rId28"/>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3A5E"/>
    <a:srgbClr val="4BCBEE"/>
    <a:srgbClr val="1392B4"/>
    <a:srgbClr val="0B556A"/>
    <a:srgbClr val="59B4D9"/>
    <a:srgbClr val="EBEBEB"/>
    <a:srgbClr val="FFFFFF"/>
    <a:srgbClr val="FFF100"/>
    <a:srgbClr val="75757A"/>
    <a:srgbClr val="3C3C41"/>
  </p:clrMru>
  <p:extLst>
    <p:ext uri="{E76CE94A-603C-4142-B9EB-6D1370010A27}">
      <p14:discardImageEditData xmlns:p14="http://schemas.microsoft.com/office/powerpoint/2010/main" val="1"/>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48D12E-64C1-47E2-8F33-CC299726B7C0}" v="39" dt="2021-11-04T15:48:16.785"/>
    <p1510:client id="{30F1DE35-4FD9-4653-8362-924B5C71E688}" v="7" dt="2021-11-04T21:17:34.9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69" autoAdjust="0"/>
    <p:restoredTop sz="84970" autoAdjust="0"/>
  </p:normalViewPr>
  <p:slideViewPr>
    <p:cSldViewPr snapToGrid="0">
      <p:cViewPr varScale="1">
        <p:scale>
          <a:sx n="91" d="100"/>
          <a:sy n="91" d="100"/>
        </p:scale>
        <p:origin x="906" y="90"/>
      </p:cViewPr>
      <p:guideLst/>
    </p:cSldViewPr>
  </p:slideViewPr>
  <p:notesTextViewPr>
    <p:cViewPr>
      <p:scale>
        <a:sx n="1" d="1"/>
        <a:sy n="1" d="1"/>
      </p:scale>
      <p:origin x="0" y="0"/>
    </p:cViewPr>
  </p:notesTextViewPr>
  <p:sorterViewPr>
    <p:cViewPr>
      <p:scale>
        <a:sx n="100" d="100"/>
        <a:sy n="100" d="100"/>
      </p:scale>
      <p:origin x="0" y="-768"/>
    </p:cViewPr>
  </p:sorter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5FDB7B-8DB8-4A3A-95C8-7102BBC9A9E1}" type="datetime8">
              <a:rPr lang="en-US" smtClean="0">
                <a:latin typeface="Segoe UI" pitchFamily="34" charset="0"/>
              </a:rPr>
              <a:t>7/12/2022 6:27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CE60099-03E7-4FA1-8A7F-E6E6CFB0F855}" type="datetime8">
              <a:rPr lang="en-US" smtClean="0"/>
              <a:t>7/12/2022 6:27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dt="0"/>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800" b="0" i="0" u="none" strike="noStrike" kern="1200" dirty="0">
                <a:solidFill>
                  <a:schemeClr val="tx1"/>
                </a:solidFill>
                <a:effectLst/>
                <a:latin typeface="Segoe UI Light" pitchFamily="34" charset="0"/>
                <a:ea typeface="+mn-ea"/>
                <a:cs typeface="+mn-cs"/>
              </a:rPr>
              <a:t>Slides 1-5 </a:t>
            </a:r>
          </a:p>
          <a:p>
            <a:pPr marL="0" indent="0">
              <a:buFont typeface="Arial" panose="020B0604020202020204" pitchFamily="34" charset="0"/>
              <a:buNone/>
            </a:pPr>
            <a:r>
              <a:rPr lang="en-US" sz="800" b="0" i="0" u="none" strike="noStrike" kern="1200" dirty="0">
                <a:solidFill>
                  <a:schemeClr val="tx1"/>
                </a:solidFill>
                <a:effectLst/>
                <a:latin typeface="Segoe UI Light" pitchFamily="34" charset="0"/>
                <a:ea typeface="+mn-ea"/>
                <a:cs typeface="+mn-cs"/>
              </a:rPr>
              <a:t>https://docs.microsoft.com/en-us/learn/modules/azure-architecture-fundamentals/introduction</a:t>
            </a:r>
          </a:p>
          <a:p>
            <a:pPr marL="0" indent="0">
              <a:buFont typeface="Arial" panose="020B0604020202020204" pitchFamily="34" charset="0"/>
              <a:buNone/>
            </a:pPr>
            <a:r>
              <a:rPr lang="en-US" dirty="0"/>
              <a:t>https://docs.microsoft.com/en-us/learn/modules/azure-architecture-fundamentals/overview</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7/12/2022 6:27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305091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900" b="0" i="0" u="none" strike="noStrike" kern="1200" dirty="0">
                <a:solidFill>
                  <a:schemeClr val="tx1"/>
                </a:solidFill>
                <a:effectLst/>
                <a:latin typeface="Segoe UI Light" pitchFamily="34" charset="0"/>
                <a:ea typeface="+mn-ea"/>
                <a:cs typeface="+mn-cs"/>
              </a:rPr>
              <a:t>Slides 3-5 </a:t>
            </a:r>
          </a:p>
          <a:p>
            <a:pPr marL="0" indent="0">
              <a:buFont typeface="Arial" panose="020B0604020202020204" pitchFamily="34" charset="0"/>
              <a:buNone/>
            </a:pPr>
            <a:r>
              <a:rPr lang="en-US" sz="900" b="0" i="0" u="none" strike="noStrike" kern="1200" dirty="0">
                <a:solidFill>
                  <a:schemeClr val="tx1"/>
                </a:solidFill>
                <a:effectLst/>
                <a:latin typeface="Segoe UI Light" pitchFamily="34" charset="0"/>
                <a:ea typeface="+mn-ea"/>
                <a:cs typeface="+mn-cs"/>
              </a:rPr>
              <a:t>https://docs.microsoft.com/en-us/learn/modules/azure-architecture-fundamentals/introduction</a:t>
            </a:r>
          </a:p>
          <a:p>
            <a:pPr marL="0" indent="0">
              <a:buFont typeface="Arial" panose="020B0604020202020204" pitchFamily="34" charset="0"/>
              <a:buNone/>
            </a:pPr>
            <a:r>
              <a:rPr lang="en-US" dirty="0"/>
              <a:t>https://docs.microsoft.com/en-us/learn/modules/azure-architecture-fundamentals/overview</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7/12/2022 6:27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1601089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619146B-24F9-441E-A368-DB3B5A84C1D4}" type="datetime8">
              <a:rPr lang="en-US" smtClean="0"/>
              <a:t>7/12/2022 6:27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2860274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3849594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Connect and collect – Data ingestion is the first step to collecting all the data from different sources into a centralized location.</a:t>
            </a:r>
          </a:p>
          <a:p>
            <a:pPr marL="228600" indent="-228600">
              <a:buFont typeface="+mj-lt"/>
              <a:buAutoNum type="arabicPeriod"/>
            </a:pPr>
            <a:r>
              <a:rPr lang="en-US" dirty="0"/>
              <a:t>Transform and enrich – Now you will use a compute service like Azure Databricks and Azure HDInsight Hadoop to transform the data</a:t>
            </a:r>
          </a:p>
          <a:p>
            <a:pPr marL="228600" indent="-228600">
              <a:buFont typeface="+mj-lt"/>
              <a:buAutoNum type="arabicPeriod"/>
            </a:pPr>
            <a:r>
              <a:rPr lang="en-US" dirty="0"/>
              <a:t>Continuous integration and delivery (CI/CD) and publish – Support for CI/CD through GitHub and Azure DevOps enables to deliver your ETL process incrementally before publishing the data to the analytics engine.</a:t>
            </a:r>
          </a:p>
          <a:p>
            <a:pPr marL="228600" indent="-228600">
              <a:buFont typeface="+mj-lt"/>
              <a:buAutoNum type="arabicPeriod"/>
            </a:pPr>
            <a:r>
              <a:rPr lang="en-US" dirty="0"/>
              <a:t>Monitor – Via the Azure portal, you can monitor the pipeline for scheduled activities and for any failures.</a:t>
            </a:r>
          </a:p>
          <a:p>
            <a:endParaRPr lang="en-US" dirty="0"/>
          </a:p>
          <a:p>
            <a:pPr marL="171450" indent="-171450">
              <a:buFont typeface="Arial" panose="020B0604020202020204" pitchFamily="34" charset="0"/>
              <a:buChar char="•"/>
            </a:pPr>
            <a:r>
              <a:rPr lang="en-US" altLang="zh-CN" dirty="0"/>
              <a:t>Requirements for data integration – Azure Data Factory serves two communities – Big data community and the Relational data warehousing community that uses SQL Server Integration Services (SSIS). Depending on your organization’s data needs you would set up pipelines in the cloud using Azure Data Factory that can access data from both cloud and on-premises data services. </a:t>
            </a:r>
          </a:p>
          <a:p>
            <a:pPr marL="171450" indent="-171450">
              <a:buFont typeface="Arial" panose="020B0604020202020204" pitchFamily="34" charset="0"/>
              <a:buChar char="•"/>
            </a:pPr>
            <a:r>
              <a:rPr lang="en-US" altLang="zh-CN" dirty="0"/>
              <a:t>Coding resources – If you prefer a graphical interface to set up pipelines, then Azure Data Factory authoring and monitoring tool is the right fit for your needs. Azure Data Factory provides a low code/no code process for working with data sources  </a:t>
            </a:r>
          </a:p>
          <a:p>
            <a:pPr marL="171450" indent="-171450">
              <a:buFont typeface="Arial" panose="020B0604020202020204" pitchFamily="34" charset="0"/>
              <a:buChar char="•"/>
            </a:pPr>
            <a:r>
              <a:rPr lang="en-US" altLang="zh-CN" dirty="0"/>
              <a:t>Support for multiple data sources – Azure Data Factory supports 90+ connectors to integrate with disparate data sources. </a:t>
            </a:r>
          </a:p>
          <a:p>
            <a:pPr marL="171450" indent="-171450">
              <a:buFont typeface="Arial" panose="020B0604020202020204" pitchFamily="34" charset="0"/>
              <a:buChar char="•"/>
            </a:pPr>
            <a:r>
              <a:rPr lang="en-US" altLang="zh-CN" dirty="0"/>
              <a:t>Serverless infrastructure – There are advantages in using a fully managed, serverless solution for data integration - No need to maintain, configure or deploy servers, and the ability to scale with fluctuating workloads.</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2505571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There are 2 units in Learn under this one banner. </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1211358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900"/>
              <a:t>A data lake is a repository of data that is stored in its natural format, usually as blobs or files.</a:t>
            </a:r>
          </a:p>
          <a:p>
            <a:endParaRPr lang="en-US"/>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a:t>Azure Data Lake Storage combines a file system with a storage platform to help you quickly identify insights into your data. </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a:t>Data Lake Storage Gen2 builds on Azure Blob storage capabilities to optimize it specifically for analytics workloads.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a:p>
          <a:p>
            <a:pPr marL="0" algn="l" rtl="0" eaLnBrk="1" fontAlgn="t" latinLnBrk="0" hangingPunct="1">
              <a:spcBef>
                <a:spcPts val="0"/>
              </a:spcBef>
              <a:spcAft>
                <a:spcPts val="0"/>
              </a:spcAft>
            </a:pPr>
            <a:r>
              <a:rPr lang="en-US" sz="1800" b="1" i="0" u="none" strike="noStrike" kern="1200">
                <a:solidFill>
                  <a:srgbClr val="000000"/>
                </a:solidFill>
                <a:effectLst/>
                <a:latin typeface="Segoe UI" panose="020B0502040204020203" pitchFamily="34" charset="0"/>
              </a:rPr>
              <a:t>Azure Data Lake Storage runs on virtual hardware on the Azure platform, making storage scalable, fast, and reliable without incurring massive charges. </a:t>
            </a:r>
            <a:endParaRPr lang="en-US"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sz="1800" b="0" i="0" u="none" strike="noStrike" kern="1200">
                <a:solidFill>
                  <a:srgbClr val="000000"/>
                </a:solidFill>
                <a:effectLst/>
                <a:latin typeface="Segoe UI" panose="020B0502040204020203" pitchFamily="34" charset="0"/>
              </a:rPr>
              <a:t>Azure Data Lake Storage enables data democratization for your organization by storing all your data formats (including raw data) in a single location.</a:t>
            </a:r>
            <a:endParaRPr lang="en-US"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sz="1800" b="0" i="0" u="none" strike="noStrike" kern="1200">
                <a:solidFill>
                  <a:srgbClr val="000000"/>
                </a:solidFill>
                <a:effectLst/>
                <a:latin typeface="Segoe UI" panose="020B0502040204020203" pitchFamily="34" charset="0"/>
              </a:rPr>
              <a:t>Azure Data Lake Storage can ingest real-time data directly from an instance of Apache Storm on Azure HDInsight, Azure IoT Hub, Azure Event Hubs, or Azure Stream Analytics. </a:t>
            </a:r>
            <a:endParaRPr lang="en-US" sz="1800" b="0" i="0" u="none" strike="noStrike">
              <a:effectLst/>
              <a:latin typeface="Arial" panose="020B0604020202020204" pitchFamily="34"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a:p>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2873831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https://docs.microsoft.com/azure/storage/blobs/storage-feature-support-in-storage-accounts#standard-general-purpose-v2-accounts</a:t>
            </a:r>
          </a:p>
          <a:p>
            <a:endParaRPr lang="en-US" dirty="0"/>
          </a:p>
          <a:p>
            <a:pPr algn="l"/>
            <a:r>
              <a:rPr lang="en-US" b="0" i="0" dirty="0">
                <a:solidFill>
                  <a:srgbClr val="171717"/>
                </a:solidFill>
                <a:effectLst/>
                <a:latin typeface="Segoe UI" panose="020B0502040204020203" pitchFamily="34" charset="0"/>
              </a:rPr>
              <a:t>This article above shows whether a feature is fully supported, supported at the preview level, or is not yet supported. Support levels are impacted by storage account type, and whether certain capabilities or protocols are enabled on the account.</a:t>
            </a:r>
          </a:p>
          <a:p>
            <a:pPr algn="l"/>
            <a:r>
              <a:rPr lang="en-US" b="0" i="0" dirty="0">
                <a:solidFill>
                  <a:srgbClr val="171717"/>
                </a:solidFill>
                <a:effectLst/>
                <a:latin typeface="Segoe UI" panose="020B0502040204020203" pitchFamily="34" charset="0"/>
              </a:rPr>
              <a:t>The items that appear in these tables will change over time as support continues to expand.</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39052869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619146B-24F9-441E-A368-DB3B5A84C1D4}" type="datetime8">
              <a:rPr lang="en-US" smtClean="0"/>
              <a:t>7/12/2022 6:27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3140521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18851366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workload requires Spark, Databricks usually is the go-to solution.</a:t>
            </a:r>
          </a:p>
          <a:p>
            <a:endParaRPr lang="en-US" dirty="0"/>
          </a:p>
          <a:p>
            <a:r>
              <a:rPr lang="en-US" dirty="0"/>
              <a:t>You can use Azure Databricks as a solution for the following scenarios.</a:t>
            </a:r>
          </a:p>
          <a:p>
            <a:pPr marL="171450" indent="-171450">
              <a:buFont typeface="Arial" panose="020B0604020202020204" pitchFamily="34" charset="0"/>
              <a:buChar char="•"/>
            </a:pPr>
            <a:r>
              <a:rPr lang="en-US" dirty="0"/>
              <a:t>Data science preparation of data - Create, clone and edit clusters of complex, unstructured data, turn them into specific jobs and deliver them to data scientists and data analysts for review</a:t>
            </a:r>
          </a:p>
          <a:p>
            <a:pPr marL="171450" indent="-171450">
              <a:buFont typeface="Arial" panose="020B0604020202020204" pitchFamily="34" charset="0"/>
              <a:buChar char="•"/>
            </a:pPr>
            <a:r>
              <a:rPr lang="en-US" dirty="0"/>
              <a:t>Find relevant insights in the data - Recommendation engines, churn analysis, and intrusion detection are common scenarios that many organizations solve across multiple industries using Azure Databricks.</a:t>
            </a:r>
          </a:p>
          <a:p>
            <a:pPr marL="171450" indent="-171450">
              <a:buFont typeface="Arial" panose="020B0604020202020204" pitchFamily="34" charset="0"/>
              <a:buChar char="•"/>
            </a:pPr>
            <a:r>
              <a:rPr lang="en-US" dirty="0"/>
              <a:t>Improve productivity across data and analytics teams - Create a collaborative environment and shared workspaces for data engineers, analysts, and scientists to work together across the data science lifecycle with shared workspaces, saving teams precious time and resources.</a:t>
            </a:r>
          </a:p>
          <a:p>
            <a:pPr marL="171450" indent="-171450">
              <a:buFont typeface="Arial" panose="020B0604020202020204" pitchFamily="34" charset="0"/>
              <a:buChar char="•"/>
            </a:pPr>
            <a:r>
              <a:rPr lang="en-US" dirty="0"/>
              <a:t>Big data workloads – Leverage Delta Lake and engine to get the best performance and reliability for your big data workloads, and to create no-fuss multi-step data pipelines</a:t>
            </a:r>
          </a:p>
          <a:p>
            <a:pPr marL="171450" indent="-171450">
              <a:buFont typeface="Arial" panose="020B0604020202020204" pitchFamily="34" charset="0"/>
              <a:buChar char="•"/>
            </a:pPr>
            <a:r>
              <a:rPr lang="en-US" dirty="0"/>
              <a:t>Machine learning programs – Leverage integrated end-to-end machine learning environment incorporating managed services for experiment tracking, model training, feature development and management, and feature and model serving</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15</a:t>
            </a:fld>
            <a:endParaRPr lang="en-US"/>
          </a:p>
        </p:txBody>
      </p:sp>
    </p:spTree>
    <p:extLst>
      <p:ext uri="{BB962C8B-B14F-4D97-AF65-F5344CB8AC3E}">
        <p14:creationId xmlns:p14="http://schemas.microsoft.com/office/powerpoint/2010/main" val="41364453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The are </a:t>
            </a:r>
            <a:r>
              <a:rPr lang="en-US"/>
              <a:t>two units </a:t>
            </a:r>
            <a:r>
              <a:rPr lang="en-US" dirty="0"/>
              <a:t>in Learn for this section. </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17</a:t>
            </a:fld>
            <a:endParaRPr lang="en-US"/>
          </a:p>
        </p:txBody>
      </p:sp>
    </p:spTree>
    <p:extLst>
      <p:ext uri="{BB962C8B-B14F-4D97-AF65-F5344CB8AC3E}">
        <p14:creationId xmlns:p14="http://schemas.microsoft.com/office/powerpoint/2010/main" val="4278824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altLang="zh-CN" sz="900"/>
              <a:t>Initial analysis shows that the data needs to be cleaned, modeled, and visualized before data science can be applied. </a:t>
            </a:r>
          </a:p>
          <a:p>
            <a:pPr marL="171450" marR="0" lvl="0" indent="-17145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altLang="zh-CN" sz="900"/>
              <a:t>Initial analysis would like to interface with all of their existing on-premises apps, cloud services subscriptions through a central interface.</a:t>
            </a:r>
          </a:p>
          <a:p>
            <a:pPr marL="171450" indent="-171450">
              <a:buFont typeface="Arial" panose="020B0604020202020204" pitchFamily="34" charset="0"/>
              <a:buChar char="•"/>
            </a:pPr>
            <a:endParaRPr lang="en-US"/>
          </a:p>
          <a:p>
            <a:pPr>
              <a:spcAft>
                <a:spcPts val="1200"/>
              </a:spcAft>
            </a:pPr>
            <a:r>
              <a:rPr lang="en-US" sz="900">
                <a:latin typeface="+mn-lt"/>
              </a:rPr>
              <a:t>Use Azure Synapse Analytics when:</a:t>
            </a:r>
          </a:p>
          <a:p>
            <a:pPr marL="342900" indent="-342900">
              <a:spcAft>
                <a:spcPts val="1200"/>
              </a:spcAft>
              <a:buFont typeface="Arial" panose="020B0604020202020204" pitchFamily="34" charset="0"/>
              <a:buChar char="•"/>
            </a:pPr>
            <a:r>
              <a:rPr lang="en-US" sz="900">
                <a:latin typeface="+mn-lt"/>
              </a:rPr>
              <a:t>You have a variety of data sources use Azure Synapse Analytics for code-free ETL and data flow activities. </a:t>
            </a:r>
          </a:p>
          <a:p>
            <a:pPr marL="342900" indent="-342900">
              <a:spcAft>
                <a:spcPts val="1200"/>
              </a:spcAft>
              <a:buFont typeface="Arial" panose="020B0604020202020204" pitchFamily="34" charset="0"/>
              <a:buChar char="•"/>
            </a:pPr>
            <a:r>
              <a:rPr lang="en-US" sz="900">
                <a:latin typeface="+mn-lt"/>
              </a:rPr>
              <a:t>You have a need to implement Machine Learning solutions using Apache Spark, use Azure Synapse Analytics for built-in support for </a:t>
            </a:r>
            <a:r>
              <a:rPr lang="en-US" sz="900" err="1">
                <a:latin typeface="+mn-lt"/>
              </a:rPr>
              <a:t>AzureML</a:t>
            </a:r>
            <a:r>
              <a:rPr lang="en-US" sz="900">
                <a:latin typeface="+mn-lt"/>
              </a:rPr>
              <a:t>. </a:t>
            </a:r>
          </a:p>
          <a:p>
            <a:pPr marL="342900" indent="-342900">
              <a:spcAft>
                <a:spcPts val="1200"/>
              </a:spcAft>
              <a:buFont typeface="Arial" panose="020B0604020202020204" pitchFamily="34" charset="0"/>
              <a:buChar char="•"/>
            </a:pPr>
            <a:r>
              <a:rPr lang="en-US" sz="900">
                <a:latin typeface="+mn-lt"/>
              </a:rPr>
              <a:t>You have existing data stored on a data lake and need integration with the Data Lake and additional input sources, Azure Synapse Analytics provides seamless integration between the two. </a:t>
            </a:r>
          </a:p>
          <a:p>
            <a:pPr>
              <a:spcAft>
                <a:spcPts val="1200"/>
              </a:spcAft>
            </a:pPr>
            <a:endParaRPr lang="en-US" sz="900">
              <a:latin typeface="+mn-lt"/>
            </a:endParaRPr>
          </a:p>
          <a:p>
            <a:pPr marL="0" indent="0">
              <a:buFont typeface="Arial" panose="020B0604020202020204" pitchFamily="34" charset="0"/>
              <a:buNone/>
            </a:pPr>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12592818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b="0" i="0" dirty="0">
                <a:solidFill>
                  <a:srgbClr val="171717"/>
                </a:solidFill>
                <a:effectLst/>
                <a:latin typeface="Segoe UI" panose="020B0502040204020203" pitchFamily="34" charset="0"/>
              </a:rPr>
              <a:t>Short discussion on different uses of Data Factory and Synapse Analytics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b="0" i="0" dirty="0">
              <a:solidFill>
                <a:srgbClr val="171717"/>
              </a:solidFill>
              <a:effectLst/>
              <a:latin typeface="Segoe UI" panose="020B0502040204020203" pitchFamily="34"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b="0" i="0" dirty="0">
                <a:solidFill>
                  <a:srgbClr val="171717"/>
                </a:solidFill>
                <a:effectLst/>
                <a:latin typeface="Segoe UI" panose="020B0502040204020203" pitchFamily="34" charset="0"/>
              </a:rPr>
              <a:t>Available features in ADF &amp; Azure Synapse Analytics - https://docs.microsoft.com/azure/synapse-analytics/data-integration/concepts-data-factory-differences#available-features-in-adf--azure-synapse-analytics</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39052869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Different order from the Learn content: Azure Stream Analytics is ahead of hot/warm/cold data path. </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26385477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Data stream- Data streams are continuous data generated by applications, IoT devices or sensors. These data streams are analyzed, and actionable insights are extracted from it. For example, monitoring data stream from industrial and manufacturing equipment, Monitoring data of water pipelines by utility providers. Data streams help understand change over time. </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Event processing - Event processing refers to consumption and analysis of a continuous data stream to extract actionable insights from the events happening within that stream. For example, a car passing through a tollbooth should include temporal information, such as a timestamp, indicating when it occurred. </a:t>
            </a:r>
          </a:p>
          <a:p>
            <a:pPr marL="171450" indent="-171450">
              <a:buFont typeface="Arial" panose="020B0604020202020204" pitchFamily="34" charset="0"/>
              <a:buChar char="•"/>
            </a:pPr>
            <a:endParaRPr lang="en-US"/>
          </a:p>
          <a:p>
            <a:r>
              <a:rPr lang="en-US" sz="900">
                <a:latin typeface="+mn-lt"/>
              </a:rPr>
              <a:t>An Azure Stream Analytics job consists of an input, query, and an output. You can do the following with the job output: </a:t>
            </a:r>
          </a:p>
          <a:p>
            <a:pPr marL="342900" indent="-342900">
              <a:buFont typeface="Arial" panose="020B0604020202020204" pitchFamily="34" charset="0"/>
              <a:buChar char="•"/>
            </a:pPr>
            <a:r>
              <a:rPr lang="en-US" sz="900">
                <a:latin typeface="+mn-lt"/>
              </a:rPr>
              <a:t>Route  data to storage systems like Azure Blob storage, Azure SQL Database, Azure Data Lake Store, and Azure CosmosDB. </a:t>
            </a:r>
          </a:p>
          <a:p>
            <a:pPr marL="342900" indent="-342900">
              <a:buFont typeface="Arial" panose="020B0604020202020204" pitchFamily="34" charset="0"/>
              <a:buChar char="•"/>
            </a:pPr>
            <a:r>
              <a:rPr lang="en-US" sz="900">
                <a:latin typeface="+mn-lt"/>
              </a:rPr>
              <a:t>You can send data to Power BI for real-time visualization. </a:t>
            </a:r>
          </a:p>
          <a:p>
            <a:pPr marL="342900" indent="-342900">
              <a:buFont typeface="Arial" panose="020B0604020202020204" pitchFamily="34" charset="0"/>
              <a:buChar char="•"/>
            </a:pPr>
            <a:r>
              <a:rPr lang="en-US" sz="900">
                <a:latin typeface="+mn-lt"/>
              </a:rPr>
              <a:t>You can store data in Data Warehouse service like Azure Synapse Analytics to train a machine learning model based on historical data or perform batch analytics. </a:t>
            </a:r>
          </a:p>
          <a:p>
            <a:pPr marL="342900" indent="-342900">
              <a:buFont typeface="Arial" panose="020B0604020202020204" pitchFamily="34" charset="0"/>
              <a:buChar char="•"/>
            </a:pPr>
            <a:r>
              <a:rPr lang="en-US" sz="900">
                <a:latin typeface="+mn-lt"/>
              </a:rPr>
              <a:t>You can trigger custom downstream workflows by sending the data to services like Azure Functions, Service Bus Topics or Queues. </a:t>
            </a:r>
          </a:p>
          <a:p>
            <a:pPr marL="171450" indent="-171450">
              <a:buFont typeface="Arial" panose="020B0604020202020204" pitchFamily="34" charset="0"/>
              <a:buChar char="•"/>
            </a:pPr>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511158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619146B-24F9-441E-A368-DB3B5A84C1D4}" type="datetime8">
              <a:rPr lang="en-US" smtClean="0"/>
              <a:t>7/12/2022 6:27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23</a:t>
            </a:fld>
            <a:endParaRPr lang="en-US"/>
          </a:p>
        </p:txBody>
      </p:sp>
    </p:spTree>
    <p:extLst>
      <p:ext uri="{BB962C8B-B14F-4D97-AF65-F5344CB8AC3E}">
        <p14:creationId xmlns:p14="http://schemas.microsoft.com/office/powerpoint/2010/main" val="24010622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Arial,Sans-Serif"/>
              <a:buChar char="•"/>
            </a:pPr>
            <a:r>
              <a:rPr lang="en-US" sz="1400" b="1" dirty="0">
                <a:latin typeface="Segoe UI Semilight"/>
                <a:cs typeface="Segoe UI Semilight"/>
              </a:rPr>
              <a:t>Azure Machine Learning service</a:t>
            </a:r>
            <a:r>
              <a:rPr lang="en-US" sz="1400" dirty="0">
                <a:latin typeface="Segoe UI Semilight"/>
                <a:cs typeface="Segoe UI Semilight"/>
              </a:rPr>
              <a:t> provides </a:t>
            </a:r>
            <a:r>
              <a:rPr lang="en-IE" sz="1400" dirty="0">
                <a:latin typeface="Segoe UI Semilight"/>
                <a:cs typeface="Segoe UI Semilight"/>
              </a:rPr>
              <a:t>a cloud-based environment used to develop, train, test, deploy, manage, and track machine learning models.</a:t>
            </a:r>
            <a:endParaRPr lang="en-US" sz="1400" dirty="0">
              <a:latin typeface="Segoe UI Semilight"/>
              <a:cs typeface="Segoe UI Semilight"/>
            </a:endParaRPr>
          </a:p>
          <a:p>
            <a:pPr marL="457200" indent="-457200">
              <a:buFont typeface="Arial,Sans-Serif"/>
              <a:buChar char="•"/>
            </a:pPr>
            <a:r>
              <a:rPr lang="en-US" sz="1400" dirty="0">
                <a:solidFill>
                  <a:srgbClr val="FF0000"/>
                </a:solidFill>
                <a:latin typeface="Segoe UI Semilight"/>
                <a:cs typeface="Segoe UI Semilight"/>
              </a:rPr>
              <a:t>Cognitive Services builds intelligent and supported algorithms into apps, websites, and bots to see, hear, speak, understand, and interpret your user needs. </a:t>
            </a:r>
            <a:endParaRPr lang="en-US" sz="1400" dirty="0">
              <a:solidFill>
                <a:srgbClr val="FF0000"/>
              </a:solidFill>
            </a:endParaRPr>
          </a:p>
          <a:p>
            <a:pPr marL="457200" indent="-457200">
              <a:buFont typeface="Arial,Sans-Serif"/>
              <a:buChar char="•"/>
            </a:pPr>
            <a:r>
              <a:rPr lang="en-US" sz="1400" dirty="0">
                <a:solidFill>
                  <a:srgbClr val="FF0000"/>
                </a:solidFill>
                <a:latin typeface="Segoe UI Semilight"/>
                <a:cs typeface="Segoe UI Semilight"/>
              </a:rPr>
              <a:t>Azure Bot Service develops intelligent, enterprise-grade bots that let you maintain control of your data.</a:t>
            </a:r>
          </a:p>
          <a:p>
            <a:endParaRPr lang="en-IE" sz="900" b="1" i="0" u="none" strike="noStrike" kern="1200" dirty="0">
              <a:solidFill>
                <a:schemeClr val="tx1"/>
              </a:solidFill>
              <a:effectLst/>
              <a:latin typeface="Segoe UI Light" pitchFamily="34" charset="0"/>
              <a:ea typeface="+mn-ea"/>
              <a:cs typeface="+mn-cs"/>
            </a:endParaRPr>
          </a:p>
          <a:p>
            <a:r>
              <a:rPr lang="en-IE" sz="900" b="0" i="0" u="none" strike="noStrike" kern="1200" dirty="0">
                <a:solidFill>
                  <a:schemeClr val="tx1"/>
                </a:solidFill>
                <a:effectLst/>
                <a:latin typeface="Segoe UI Light" pitchFamily="34" charset="0"/>
                <a:ea typeface="+mn-ea"/>
                <a:cs typeface="+mn-cs"/>
              </a:rPr>
              <a:t>Learn more at:</a:t>
            </a:r>
          </a:p>
          <a:p>
            <a:r>
              <a:rPr lang="en-IE" sz="900" b="1" i="0" u="none" strike="noStrike" kern="1200" dirty="0">
                <a:solidFill>
                  <a:schemeClr val="tx1"/>
                </a:solidFill>
                <a:effectLst/>
                <a:latin typeface="Segoe UI Light" pitchFamily="34" charset="0"/>
                <a:ea typeface="+mn-ea"/>
                <a:cs typeface="+mn-cs"/>
              </a:rPr>
              <a:t>Azure Machine Learning Service - </a:t>
            </a:r>
            <a:r>
              <a:rPr lang="en-IE" sz="900" u="none" dirty="0"/>
              <a:t>https://azure.microsoft.com/en-us/services/machine-learning-service/</a:t>
            </a:r>
          </a:p>
          <a:p>
            <a:r>
              <a:rPr lang="en-IE" sz="900" b="1" i="0" u="none" strike="noStrike" kern="1200" dirty="0">
                <a:solidFill>
                  <a:schemeClr val="tx1"/>
                </a:solidFill>
                <a:effectLst/>
                <a:latin typeface="Segoe UI Light" pitchFamily="34" charset="0"/>
                <a:ea typeface="+mn-ea"/>
                <a:cs typeface="+mn-cs"/>
              </a:rPr>
              <a:t>Azure Machine Learning Studio - </a:t>
            </a:r>
            <a:r>
              <a:rPr lang="en-IE" sz="900" u="none" dirty="0"/>
              <a:t>https://azure.microsoft.com/en-us/services/machine-learning-studio/</a:t>
            </a:r>
            <a:endParaRPr lang="en-IE" sz="900" b="0" i="0" u="none" strike="noStrike" kern="1200" dirty="0">
              <a:solidFill>
                <a:schemeClr val="tx1"/>
              </a:solidFill>
              <a:effectLst/>
              <a:latin typeface="Segoe UI Light" pitchFamily="34" charset="0"/>
              <a:ea typeface="+mn-ea"/>
              <a:cs typeface="+mn-cs"/>
            </a:endParaRPr>
          </a:p>
          <a:p>
            <a:endParaRPr lang="en-IE" sz="900" b="1" u="none" kern="1200" dirty="0">
              <a:solidFill>
                <a:schemeClr val="tx1"/>
              </a:solidFill>
              <a:effectLst/>
              <a:latin typeface="Segoe UI Light" pitchFamily="34" charset="0"/>
              <a:ea typeface="+mn-ea"/>
              <a:cs typeface="+mn-cs"/>
            </a:endParaRPr>
          </a:p>
          <a:p>
            <a:r>
              <a:rPr lang="en-IE" sz="900" b="1" u="none" kern="1200" dirty="0">
                <a:solidFill>
                  <a:schemeClr val="tx1"/>
                </a:solidFill>
                <a:effectLst/>
                <a:latin typeface="Segoe UI Light" pitchFamily="34" charset="0"/>
                <a:ea typeface="+mn-ea"/>
                <a:cs typeface="+mn-cs"/>
              </a:rPr>
              <a:t>Note</a:t>
            </a:r>
            <a:r>
              <a:rPr lang="en-IE" sz="900" u="none" kern="1200" dirty="0">
                <a:solidFill>
                  <a:schemeClr val="tx1"/>
                </a:solidFill>
                <a:effectLst/>
                <a:latin typeface="Segoe UI Light" pitchFamily="34" charset="0"/>
                <a:ea typeface="+mn-ea"/>
                <a:cs typeface="+mn-cs"/>
              </a:rPr>
              <a:t>: For a full list of Artificial Intelligence and Machine Learning services available with Azure, see the AI + Machine Learning section on the </a:t>
            </a:r>
            <a:r>
              <a:rPr lang="en-IE" sz="900" u="none" dirty="0"/>
              <a:t>https://azure.microsoft.com/en-us/overview/ai-platform/ </a:t>
            </a:r>
            <a:r>
              <a:rPr lang="en-IE" sz="900" u="none" kern="1200" dirty="0">
                <a:solidFill>
                  <a:schemeClr val="tx1"/>
                </a:solidFill>
                <a:effectLst/>
                <a:latin typeface="Segoe UI Light" pitchFamily="34" charset="0"/>
                <a:ea typeface="+mn-ea"/>
                <a:cs typeface="+mn-cs"/>
              </a:rPr>
              <a:t>page.</a:t>
            </a:r>
          </a:p>
          <a:p>
            <a:endParaRPr lang="en-IE" sz="900" b="0" i="0" u="none" strike="noStrike"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1" kern="1200" dirty="0">
                <a:solidFill>
                  <a:schemeClr val="tx1"/>
                </a:solidFill>
                <a:effectLst/>
                <a:latin typeface="Segoe UI Light" pitchFamily="34" charset="0"/>
                <a:ea typeface="+mn-ea"/>
                <a:cs typeface="+mn-cs"/>
              </a:rPr>
              <a:t>Learn and SkillPipe content order note:</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800" b="0" i="0" u="none" strike="noStrike" kern="1200" dirty="0">
                <a:solidFill>
                  <a:schemeClr val="tx1"/>
                </a:solidFill>
                <a:effectLst/>
                <a:latin typeface="Segoe UI Light" pitchFamily="34" charset="0"/>
                <a:ea typeface="+mn-ea"/>
                <a:cs typeface="+mn-cs"/>
              </a:rPr>
              <a:t>Multiple Learn units cover the content in this slide</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https://docs.microsoft.com/en-us/learn/modules/ai-machine-learning-fundamentals/1-introduction</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https://docs.microsoft.com/en-us/learn/modules/ai-machine-learning-fundamentals/2-identify-product-options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https://docs.microsoft.com/en-us/learn/modules/ai-machine-learning-fundamentals/3-analyze-decision-criteria</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https://docs.microsoft.com/en-us/learn/modules/ai-machine-learning-fundamentals/4-use-machine-learning</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https://docs.microsoft.com/en-us/learn/modules/ai-machine-learning-fundamentals/5-use-cognitive-services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https://docs.microsoft.com/en-us/learn/modules/ai-machine-learning-fundamentals/6-use-bot-services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b="0" kern="1200" dirty="0">
              <a:solidFill>
                <a:schemeClr val="tx1"/>
              </a:solidFill>
              <a:effectLst/>
              <a:latin typeface="Segoe UI Light" pitchFamily="34" charset="0"/>
              <a:ea typeface="+mn-ea"/>
              <a:cs typeface="+mn-cs"/>
            </a:endParaRPr>
          </a:p>
          <a:p>
            <a:endParaRPr lang="en-IE" sz="900" b="0" i="0" u="none" strike="noStrike"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7/12/2022 6:27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a:p>
        </p:txBody>
      </p:sp>
    </p:spTree>
    <p:extLst>
      <p:ext uri="{BB962C8B-B14F-4D97-AF65-F5344CB8AC3E}">
        <p14:creationId xmlns:p14="http://schemas.microsoft.com/office/powerpoint/2010/main" val="35678708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3200" b="1" i="0" dirty="0">
                <a:effectLst/>
                <a:latin typeface="Segoe UI Light" panose="020B0502040204020203" pitchFamily="34" charset="0"/>
              </a:rPr>
              <a:t>Note: This topic is also introduced in Module 1, slide 23 (as it works well there), but is listed in the objective domain here.</a:t>
            </a:r>
          </a:p>
          <a:p>
            <a:pPr marL="0" indent="0">
              <a:buFont typeface="Arial" panose="020B0604020202020204" pitchFamily="34" charset="0"/>
              <a:buNone/>
            </a:pPr>
            <a:endParaRPr lang="en-US" sz="2000" b="0" i="0" u="none" strike="noStrike" dirty="0">
              <a:effectLst/>
              <a:latin typeface="Segoe UI" panose="020B0502040204020203" pitchFamily="34" charset="0"/>
              <a:hlinkClick r:id="" action="ppaction://noaction"/>
            </a:endParaRPr>
          </a:p>
          <a:p>
            <a:pPr marL="0" indent="0">
              <a:buFont typeface="Arial" panose="020B0604020202020204" pitchFamily="34" charset="0"/>
              <a:buNone/>
            </a:pPr>
            <a:r>
              <a:rPr lang="en-US" sz="2000" b="0" i="0" u="none" strike="noStrike" dirty="0">
                <a:effectLst/>
                <a:latin typeface="Segoe UI" panose="020B0502040204020203" pitchFamily="34" charset="0"/>
                <a:hlinkClick r:id="" action="ppaction://noaction"/>
              </a:rPr>
              <a:t>Serverless</a:t>
            </a:r>
            <a:r>
              <a:rPr lang="en-US" sz="2000" b="0" i="0" dirty="0">
                <a:solidFill>
                  <a:srgbClr val="171717"/>
                </a:solidFill>
                <a:effectLst/>
                <a:latin typeface="Segoe UI" panose="020B0502040204020203" pitchFamily="34" charset="0"/>
              </a:rPr>
              <a:t> computing is the evolution of cloud platforms in the direction of pure cloud native code. Serverless brings developers closer to business logic while insulating them from infrastructure concerns. It's a pattern that doesn't imply "no server" but rather, "less server." Serverless code is event-driven. Code may be triggered by anything from a traditional HTTP web request to a timer or the result of uploading a file. The infrastructure behind serverless allows for instant scale to meet elastic demands and offers micro-billing to truly "pay for what you use." Serverless requires a new way of thinking and approach to building applications and isn't the right solution for every problem. </a:t>
            </a:r>
          </a:p>
          <a:p>
            <a:pPr marL="0" indent="0">
              <a:buFont typeface="Arial" panose="020B0604020202020204" pitchFamily="34" charset="0"/>
              <a:buNone/>
            </a:pPr>
            <a:endParaRPr lang="en-US" sz="1400" b="1" dirty="0"/>
          </a:p>
          <a:p>
            <a:pPr marL="457200" indent="-457200">
              <a:buFont typeface="Arial" panose="020B0604020202020204" pitchFamily="34" charset="0"/>
              <a:buChar char="•"/>
            </a:pPr>
            <a:r>
              <a:rPr lang="en-US" sz="1400" b="1" dirty="0"/>
              <a:t>Azure Functions </a:t>
            </a:r>
            <a:r>
              <a:rPr lang="en-US" sz="1400" dirty="0"/>
              <a:t>is</a:t>
            </a:r>
            <a:r>
              <a:rPr lang="en-US" sz="1400" b="1" dirty="0"/>
              <a:t> </a:t>
            </a:r>
            <a:r>
              <a:rPr lang="en-IE" sz="1400" dirty="0"/>
              <a:t>code running your service and not the underlying platform or infrastructure. </a:t>
            </a:r>
            <a:r>
              <a:rPr lang="en-US" sz="1400" dirty="0"/>
              <a:t>Creates infrastructure based on an event.</a:t>
            </a:r>
          </a:p>
          <a:p>
            <a:pPr marL="457200" indent="-457200">
              <a:buFont typeface="Arial" panose="020B0604020202020204" pitchFamily="34" charset="0"/>
              <a:buChar char="•"/>
            </a:pPr>
            <a:r>
              <a:rPr lang="en-US" sz="1400" b="1" dirty="0"/>
              <a:t>Azure Logic Apps </a:t>
            </a:r>
            <a:r>
              <a:rPr lang="en-US" sz="1400" dirty="0"/>
              <a:t>is a</a:t>
            </a:r>
            <a:r>
              <a:rPr lang="en-IE" sz="1400" dirty="0"/>
              <a:t> cloud service that helps you automate and orchestrate tasks, business processes, and workflows when you need to integrate apps, data, systems, and services.</a:t>
            </a:r>
          </a:p>
          <a:p>
            <a:pPr marL="457200" indent="-457200">
              <a:buFont typeface="Arial" panose="020B0604020202020204" pitchFamily="34" charset="0"/>
              <a:buChar char="•"/>
            </a:pPr>
            <a:r>
              <a:rPr lang="en-US" sz="1400" b="1" dirty="0"/>
              <a:t>Azure Event Grid</a:t>
            </a:r>
            <a:r>
              <a:rPr lang="en-US" sz="1400" dirty="0"/>
              <a:t> is a </a:t>
            </a:r>
            <a:r>
              <a:rPr lang="en-IE" sz="1400" dirty="0"/>
              <a:t>fully-managed, intelligent event routing service that uses a publish-subscribe model for uniform event consumption.</a:t>
            </a:r>
            <a:endParaRPr lang="en-US" sz="1400" dirty="0"/>
          </a:p>
          <a:p>
            <a:endParaRPr lang="en-IE" sz="900" b="1" i="0" u="none" strike="noStrike" kern="1200" dirty="0">
              <a:solidFill>
                <a:schemeClr val="tx1"/>
              </a:solidFill>
              <a:effectLst/>
              <a:latin typeface="Segoe UI Light" pitchFamily="34" charset="0"/>
              <a:ea typeface="+mn-ea"/>
              <a:cs typeface="+mn-cs"/>
            </a:endParaRPr>
          </a:p>
          <a:p>
            <a:r>
              <a:rPr lang="en-IE" sz="900" b="1" i="0" u="none" strike="noStrike" kern="1200" dirty="0">
                <a:solidFill>
                  <a:schemeClr val="tx1"/>
                </a:solidFill>
                <a:effectLst/>
                <a:latin typeface="Segoe UI Light" pitchFamily="34" charset="0"/>
                <a:ea typeface="+mn-ea"/>
                <a:cs typeface="+mn-cs"/>
              </a:rPr>
              <a:t>Azure Functions - </a:t>
            </a:r>
            <a:r>
              <a:rPr lang="en-IE" sz="900" b="0" i="0" u="none" strike="noStrike" kern="1200" dirty="0">
                <a:solidFill>
                  <a:schemeClr val="tx1"/>
                </a:solidFill>
                <a:effectLst/>
                <a:latin typeface="Segoe UI Light" pitchFamily="34" charset="0"/>
                <a:ea typeface="+mn-ea"/>
                <a:cs typeface="+mn-cs"/>
              </a:rPr>
              <a:t>https://docs.microsoft.com/en-us/azure/azure-functions/ </a:t>
            </a:r>
          </a:p>
          <a:p>
            <a:endParaRPr lang="en-IE" sz="900" b="0" i="0" u="none" strike="noStrike" kern="1200" dirty="0">
              <a:solidFill>
                <a:schemeClr val="tx1"/>
              </a:solidFill>
              <a:effectLst/>
              <a:latin typeface="Segoe UI Light" pitchFamily="34" charset="0"/>
              <a:ea typeface="+mn-ea"/>
              <a:cs typeface="+mn-cs"/>
            </a:endParaRPr>
          </a:p>
          <a:p>
            <a:r>
              <a:rPr lang="en-IE" sz="900" b="1" i="0" u="none" strike="noStrike" kern="1200" dirty="0">
                <a:solidFill>
                  <a:schemeClr val="tx1"/>
                </a:solidFill>
                <a:effectLst/>
                <a:latin typeface="Segoe UI Light" pitchFamily="34" charset="0"/>
                <a:ea typeface="+mn-ea"/>
                <a:cs typeface="+mn-cs"/>
              </a:rPr>
              <a:t>Azure Logic Apps - </a:t>
            </a:r>
            <a:r>
              <a:rPr lang="en-IE" sz="900" u="sng" dirty="0"/>
              <a:t>https://docs.microsoft.com/en-us/azure/logic-apps/ </a:t>
            </a:r>
          </a:p>
          <a:p>
            <a:endParaRPr lang="en-IE" sz="900" b="0" i="0" u="none" strike="noStrike" kern="1200" dirty="0">
              <a:solidFill>
                <a:schemeClr val="tx1"/>
              </a:solidFill>
              <a:effectLst/>
              <a:latin typeface="Segoe UI Light" pitchFamily="34" charset="0"/>
              <a:ea typeface="+mn-ea"/>
              <a:cs typeface="+mn-cs"/>
            </a:endParaRPr>
          </a:p>
          <a:p>
            <a:r>
              <a:rPr lang="en-IE" sz="900" b="1" i="0" u="none" strike="noStrike" kern="1200" dirty="0">
                <a:solidFill>
                  <a:schemeClr val="tx1"/>
                </a:solidFill>
                <a:effectLst/>
                <a:latin typeface="Segoe UI Light" pitchFamily="34" charset="0"/>
                <a:ea typeface="+mn-ea"/>
                <a:cs typeface="+mn-cs"/>
              </a:rPr>
              <a:t>Azure Event Grid - </a:t>
            </a:r>
            <a:r>
              <a:rPr lang="en-IE" sz="900" u="sng" dirty="0"/>
              <a:t>https://docs.microsoft.com/en-us/azure/event-grid/ </a:t>
            </a:r>
            <a:endParaRPr lang="en-IE" sz="900" b="0" i="0" u="none" strike="noStrike" kern="1200" dirty="0">
              <a:solidFill>
                <a:schemeClr val="tx1"/>
              </a:solidFill>
              <a:effectLst/>
              <a:latin typeface="Segoe UI Light" pitchFamily="34" charset="0"/>
              <a:ea typeface="+mn-ea"/>
              <a:cs typeface="+mn-cs"/>
            </a:endParaRPr>
          </a:p>
          <a:p>
            <a:pPr marL="0" indent="0">
              <a:buFont typeface="Arial" panose="020B0604020202020204" pitchFamily="34" charset="0"/>
              <a:buNone/>
            </a:pPr>
            <a:endParaRPr lang="en-IE" sz="900" b="0" i="0" u="none" strike="noStrike" kern="1200" dirty="0">
              <a:solidFill>
                <a:schemeClr val="tx1"/>
              </a:solidFill>
              <a:effectLst/>
              <a:latin typeface="Segoe UI Light" pitchFamily="34" charset="0"/>
              <a:ea typeface="+mn-ea"/>
              <a:cs typeface="+mn-cs"/>
            </a:endParaRPr>
          </a:p>
          <a:p>
            <a:r>
              <a:rPr lang="en-IE" sz="900" b="1" kern="1200" dirty="0">
                <a:solidFill>
                  <a:schemeClr val="tx1"/>
                </a:solidFill>
                <a:effectLst/>
                <a:latin typeface="Segoe UI Light" pitchFamily="34" charset="0"/>
                <a:ea typeface="+mn-ea"/>
                <a:cs typeface="+mn-cs"/>
              </a:rPr>
              <a:t>Note</a:t>
            </a:r>
            <a:r>
              <a:rPr lang="en-IE" sz="900" kern="1200" dirty="0">
                <a:solidFill>
                  <a:schemeClr val="tx1"/>
                </a:solidFill>
                <a:effectLst/>
                <a:latin typeface="Segoe UI Light" pitchFamily="34" charset="0"/>
                <a:ea typeface="+mn-ea"/>
                <a:cs typeface="+mn-cs"/>
              </a:rPr>
              <a:t>: For more details about serverless services available with Azure, see </a:t>
            </a:r>
            <a:r>
              <a:rPr lang="en-IE" sz="900" u="sng" dirty="0"/>
              <a:t>https://azure.microsoft.com/en-us/solutions/serverless/ </a:t>
            </a:r>
          </a:p>
          <a:p>
            <a:endParaRPr lang="en-IE" sz="900" b="0" i="0" u="sng" strike="noStrike"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1" kern="1200" dirty="0">
                <a:solidFill>
                  <a:schemeClr val="tx1"/>
                </a:solidFill>
                <a:effectLst/>
                <a:latin typeface="Segoe UI Light" pitchFamily="34" charset="0"/>
                <a:ea typeface="+mn-ea"/>
                <a:cs typeface="+mn-cs"/>
              </a:rPr>
              <a:t>Learn and SkillPipe content order note:</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800" b="0" i="0" u="none" strike="noStrike" kern="1200" dirty="0">
                <a:solidFill>
                  <a:schemeClr val="tx1"/>
                </a:solidFill>
                <a:effectLst/>
                <a:latin typeface="Segoe UI Light" pitchFamily="34" charset="0"/>
                <a:ea typeface="+mn-ea"/>
                <a:cs typeface="+mn-cs"/>
              </a:rPr>
              <a:t>Multiple Learn units cover the content in this slide</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https://docs.microsoft.com/en-us/learn/modules/serverless-fundamentals/1-introduction</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https://docs.microsoft.com/en-us/learn/modules/serverless-fundamentals/2-identify-product-options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https://docs.microsoft.com/en-us/learn/modules/serverless-fundamentals/3-analyze-decision-criteria</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https://docs.microsoft.com/en-us/learn/modules/serverless-fundamentals/4-use-azure-functions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https://docs.microsoft.com/en-us/learn/modules/serverless-fundamentals/5-use-azure-logic-apps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b="0" kern="1200" dirty="0">
              <a:solidFill>
                <a:schemeClr val="tx1"/>
              </a:solidFill>
              <a:effectLst/>
              <a:latin typeface="Segoe UI Light" pitchFamily="34" charset="0"/>
              <a:ea typeface="+mn-ea"/>
              <a:cs typeface="+mn-cs"/>
            </a:endParaRPr>
          </a:p>
          <a:p>
            <a:endParaRPr lang="en-IE" sz="900" b="0" i="0" u="none" strike="noStrike"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7/12/2022 6:27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25</a:t>
            </a:fld>
            <a:endParaRPr lang="en-US"/>
          </a:p>
        </p:txBody>
      </p:sp>
    </p:spTree>
    <p:extLst>
      <p:ext uri="{BB962C8B-B14F-4D97-AF65-F5344CB8AC3E}">
        <p14:creationId xmlns:p14="http://schemas.microsoft.com/office/powerpoint/2010/main" val="5154998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t>Azure DevOps services </a:t>
            </a:r>
            <a:r>
              <a:rPr lang="en-US" sz="800" dirty="0"/>
              <a:t>provides </a:t>
            </a:r>
            <a:r>
              <a:rPr lang="en-IE" sz="800" dirty="0"/>
              <a:t>development collaboration tools including pipelines, Git repositories, Kanban boards, and extensive automated and cloud-based load testing.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t>Azure DevTest Labs </a:t>
            </a:r>
            <a:r>
              <a:rPr lang="en-US" sz="800" dirty="0"/>
              <a:t>allows you to </a:t>
            </a:r>
            <a:r>
              <a:rPr lang="en-IE" sz="800" dirty="0"/>
              <a:t>quickly create environments in Azure while minimizing waste and controlling cost.</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900" dirty="0"/>
            </a:br>
            <a:r>
              <a:rPr lang="en-US" sz="900" b="1" i="0" dirty="0">
                <a:solidFill>
                  <a:srgbClr val="666666"/>
                </a:solidFill>
                <a:effectLst/>
                <a:latin typeface="Roboto"/>
              </a:rPr>
              <a:t>GitHub </a:t>
            </a:r>
            <a:r>
              <a:rPr lang="en-US" sz="900" b="0" i="0" dirty="0">
                <a:solidFill>
                  <a:srgbClr val="666666"/>
                </a:solidFill>
                <a:effectLst/>
                <a:latin typeface="Roboto"/>
              </a:rPr>
              <a:t>is an American provides hosting for software development and version control using Git. It offers the distributed version control and source code management (SCM) functionality of Git, plus its own features. It provides access control and several collaboration features such as bug tracking, feature requests, task management, and wikis for every project.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dirty="0">
                <a:solidFill>
                  <a:srgbClr val="6A737D"/>
                </a:solidFill>
                <a:effectLst/>
                <a:latin typeface="-apple-system"/>
              </a:rPr>
              <a:t>GitHub Actions</a:t>
            </a:r>
            <a:r>
              <a:rPr lang="en-US" sz="900" b="0" i="0" dirty="0">
                <a:solidFill>
                  <a:srgbClr val="6A737D"/>
                </a:solidFill>
                <a:effectLst/>
                <a:latin typeface="-apple-system"/>
              </a:rPr>
              <a:t> makes it easy to automate all your software workflows, now with world-class CI/CD. Build, test, and deploy your code right from GitHub. Make code reviews, branch management, and issue triaging work the way you want.</a:t>
            </a:r>
            <a:endParaRPr lang="en-US"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E" sz="800" dirty="0"/>
          </a:p>
          <a:p>
            <a:endParaRPr lang="en-IE" sz="800" b="1" i="0" u="none" strike="noStrike" kern="1200" dirty="0">
              <a:solidFill>
                <a:schemeClr val="tx1"/>
              </a:solidFill>
              <a:effectLst/>
              <a:latin typeface="Segoe UI Light" pitchFamily="34" charset="0"/>
              <a:ea typeface="+mn-ea"/>
              <a:cs typeface="+mn-cs"/>
            </a:endParaRPr>
          </a:p>
          <a:p>
            <a:r>
              <a:rPr lang="en-IE" sz="800" b="1" i="0" u="none" strike="noStrike" kern="1200" dirty="0">
                <a:solidFill>
                  <a:schemeClr val="tx1"/>
                </a:solidFill>
                <a:effectLst/>
                <a:latin typeface="Segoe UI Light" pitchFamily="34" charset="0"/>
                <a:ea typeface="+mn-ea"/>
                <a:cs typeface="+mn-cs"/>
              </a:rPr>
              <a:t>Azure DevOps Services - </a:t>
            </a:r>
            <a:r>
              <a:rPr lang="en-IE" sz="900" u="sng" dirty="0"/>
              <a:t>https://docs.microsoft.com/en-us/azure/devops/ </a:t>
            </a:r>
          </a:p>
          <a:p>
            <a:endParaRPr lang="en-IE" sz="800" b="0" i="0" u="none" strike="noStrike" kern="1200" dirty="0">
              <a:solidFill>
                <a:schemeClr val="tx1"/>
              </a:solidFill>
              <a:effectLst/>
              <a:latin typeface="Segoe UI Light" pitchFamily="34" charset="0"/>
              <a:ea typeface="+mn-ea"/>
              <a:cs typeface="+mn-cs"/>
            </a:endParaRPr>
          </a:p>
          <a:p>
            <a:r>
              <a:rPr lang="en-IE" sz="800" b="1" i="0" u="none" strike="noStrike" kern="1200" dirty="0">
                <a:solidFill>
                  <a:schemeClr val="tx1"/>
                </a:solidFill>
                <a:effectLst/>
                <a:latin typeface="Segoe UI Light" pitchFamily="34" charset="0"/>
                <a:ea typeface="+mn-ea"/>
                <a:cs typeface="+mn-cs"/>
              </a:rPr>
              <a:t>Azure DevTest Labs - </a:t>
            </a:r>
            <a:r>
              <a:rPr lang="en-IE" sz="900" u="sng" dirty="0"/>
              <a:t>https://azure.microsoft.com/en-us/services/devtest-lab/ </a:t>
            </a:r>
            <a:endParaRPr lang="en-IE" sz="800" b="0" i="0" u="none" strike="noStrike" kern="1200" dirty="0">
              <a:solidFill>
                <a:schemeClr val="tx1"/>
              </a:solidFill>
              <a:effectLst/>
              <a:latin typeface="Segoe UI Light" pitchFamily="34" charset="0"/>
              <a:ea typeface="+mn-ea"/>
              <a:cs typeface="+mn-cs"/>
            </a:endParaRPr>
          </a:p>
          <a:p>
            <a:endParaRPr lang="en-IE" sz="800" b="1" kern="1200" dirty="0">
              <a:solidFill>
                <a:schemeClr val="tx1"/>
              </a:solidFill>
              <a:effectLst/>
              <a:latin typeface="Segoe UI Light" pitchFamily="34" charset="0"/>
              <a:ea typeface="+mn-ea"/>
              <a:cs typeface="+mn-cs"/>
            </a:endParaRPr>
          </a:p>
          <a:p>
            <a:r>
              <a:rPr lang="en-IE" sz="800" b="1" kern="1200" dirty="0">
                <a:solidFill>
                  <a:schemeClr val="tx1"/>
                </a:solidFill>
                <a:effectLst/>
                <a:latin typeface="Segoe UI Light" pitchFamily="34" charset="0"/>
                <a:ea typeface="+mn-ea"/>
                <a:cs typeface="+mn-cs"/>
              </a:rPr>
              <a:t>Note</a:t>
            </a:r>
            <a:r>
              <a:rPr lang="en-IE" sz="800" kern="1200" dirty="0">
                <a:solidFill>
                  <a:schemeClr val="tx1"/>
                </a:solidFill>
                <a:effectLst/>
                <a:latin typeface="Segoe UI Light" pitchFamily="34" charset="0"/>
                <a:ea typeface="+mn-ea"/>
                <a:cs typeface="+mn-cs"/>
              </a:rPr>
              <a:t>: For more general details on DevOps services available with Azure, see </a:t>
            </a:r>
            <a:r>
              <a:rPr lang="en-IE" sz="900" u="sng" dirty="0"/>
              <a:t>https://docs.microsoft.com/en-us/azure/#pivot=products&amp;panel=devops </a:t>
            </a:r>
          </a:p>
          <a:p>
            <a:endParaRPr lang="en-IE" sz="900" b="0" i="0" u="sng" strike="noStrike"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1" kern="1200" dirty="0">
                <a:solidFill>
                  <a:schemeClr val="tx1"/>
                </a:solidFill>
                <a:effectLst/>
                <a:latin typeface="Segoe UI Light" pitchFamily="34" charset="0"/>
                <a:ea typeface="+mn-ea"/>
                <a:cs typeface="+mn-cs"/>
              </a:rPr>
              <a:t>Learn and SkillPipe content order note:</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800" b="0" i="0" u="none" strike="noStrike" kern="1200" dirty="0">
                <a:solidFill>
                  <a:schemeClr val="tx1"/>
                </a:solidFill>
                <a:effectLst/>
                <a:latin typeface="Segoe UI Light" pitchFamily="34" charset="0"/>
                <a:ea typeface="+mn-ea"/>
                <a:cs typeface="+mn-cs"/>
              </a:rPr>
              <a:t>Multiple Learn units cover the content in this slide</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800" b="0" i="0" u="none" strike="noStrike" kern="1200" dirty="0">
                <a:solidFill>
                  <a:schemeClr val="tx1"/>
                </a:solidFill>
                <a:effectLst/>
                <a:latin typeface="Segoe UI Light" pitchFamily="34" charset="0"/>
                <a:ea typeface="+mn-ea"/>
                <a:cs typeface="+mn-cs"/>
              </a:rPr>
              <a:t>https://docs.microsoft.com/en-us/learn/modules/azure-devops-devtest-labs/1-introduction</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800" b="0" i="0" u="none" strike="noStrike" kern="1200" dirty="0">
                <a:solidFill>
                  <a:schemeClr val="tx1"/>
                </a:solidFill>
                <a:effectLst/>
                <a:latin typeface="Segoe UI Light" pitchFamily="34" charset="0"/>
                <a:ea typeface="+mn-ea"/>
                <a:cs typeface="+mn-cs"/>
              </a:rPr>
              <a:t>https://docs.microsoft.com/en-us/learn/modules/azure-devops-devtest-labs/2-identify-product-options</a:t>
            </a:r>
          </a:p>
          <a:p>
            <a:r>
              <a:rPr lang="en-IE" sz="800" b="0" i="0" u="none" strike="noStrike" kern="1200" dirty="0">
                <a:solidFill>
                  <a:schemeClr val="tx1"/>
                </a:solidFill>
                <a:effectLst/>
                <a:latin typeface="Segoe UI Light" pitchFamily="34" charset="0"/>
                <a:ea typeface="+mn-ea"/>
                <a:cs typeface="+mn-cs"/>
              </a:rPr>
              <a:t>https://docs.microsoft.com/en-us/learn/modules/azure-devops-devtest-labs/3-analyze-decision-criteria</a:t>
            </a:r>
          </a:p>
          <a:p>
            <a:r>
              <a:rPr lang="en-IE" sz="800" b="0" i="0" u="none" strike="noStrike" kern="1200" dirty="0">
                <a:solidFill>
                  <a:schemeClr val="tx1"/>
                </a:solidFill>
                <a:effectLst/>
                <a:latin typeface="Segoe UI Light" pitchFamily="34" charset="0"/>
                <a:ea typeface="+mn-ea"/>
                <a:cs typeface="+mn-cs"/>
              </a:rPr>
              <a:t>https://docs.microsoft.com/en-us/learn/modules/azure-devops-devtest-labs/4-use-azure-devops</a:t>
            </a:r>
          </a:p>
          <a:p>
            <a:r>
              <a:rPr lang="en-IE" sz="800" b="0" i="0" u="none" strike="noStrike" kern="1200" dirty="0">
                <a:solidFill>
                  <a:schemeClr val="tx1"/>
                </a:solidFill>
                <a:effectLst/>
                <a:latin typeface="Segoe UI Light" pitchFamily="34" charset="0"/>
                <a:ea typeface="+mn-ea"/>
                <a:cs typeface="+mn-cs"/>
              </a:rPr>
              <a:t>https://docs.microsoft.com/en-us/learn/modules/azure-devops-devtest-labs/5-use-github</a:t>
            </a:r>
          </a:p>
          <a:p>
            <a:r>
              <a:rPr lang="en-IE" sz="800" b="0" i="0" u="none" strike="noStrike" kern="1200" dirty="0">
                <a:solidFill>
                  <a:schemeClr val="tx1"/>
                </a:solidFill>
                <a:effectLst/>
                <a:latin typeface="Segoe UI Light" pitchFamily="34" charset="0"/>
                <a:ea typeface="+mn-ea"/>
                <a:cs typeface="+mn-cs"/>
              </a:rPr>
              <a:t>https://docs.microsoft.com/en-us/learn/modules/azure-devops-devtest-labs/6-use-azure-devtest-labs</a:t>
            </a:r>
          </a:p>
          <a:p>
            <a:endParaRPr lang="en-IE" sz="800" b="0" i="0" u="none" strike="noStrike" kern="1200" dirty="0">
              <a:solidFill>
                <a:schemeClr val="tx1"/>
              </a:solidFill>
              <a:effectLst/>
              <a:latin typeface="Segoe UI Light" pitchFamily="34" charset="0"/>
              <a:ea typeface="+mn-ea"/>
              <a:cs typeface="+mn-cs"/>
            </a:endParaRPr>
          </a:p>
          <a:p>
            <a:endParaRPr lang="en-US" sz="900"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7/12/2022 6:27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26</a:t>
            </a:fld>
            <a:endParaRPr lang="en-US"/>
          </a:p>
        </p:txBody>
      </p:sp>
    </p:spTree>
    <p:extLst>
      <p:ext uri="{BB962C8B-B14F-4D97-AF65-F5344CB8AC3E}">
        <p14:creationId xmlns:p14="http://schemas.microsoft.com/office/powerpoint/2010/main" val="3934237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endParaRPr lang="en-US" sz="1800" u="none"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8507DC7E-BC41-4478-BA30-CBCC3A644F0A}"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7430365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userDrawn="1"/>
        </p:nvGrpSpPr>
        <p:grpSpPr>
          <a:xfrm>
            <a:off x="6600946" y="859776"/>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grpSp>
      <p:sp>
        <p:nvSpPr>
          <p:cNvPr id="3" name="Footer Placeholder 1">
            <a:extLst>
              <a:ext uri="{FF2B5EF4-FFF2-40B4-BE49-F238E27FC236}">
                <a16:creationId xmlns:a16="http://schemas.microsoft.com/office/drawing/2014/main" id="{0B9BB0CE-4F25-4CFE-8A74-31969B76107B}"/>
              </a:ext>
            </a:extLst>
          </p:cNvPr>
          <p:cNvSpPr txBox="1">
            <a:spLocks/>
          </p:cNvSpPr>
          <p:nvPr userDrawn="1"/>
        </p:nvSpPr>
        <p:spPr>
          <a:xfrm>
            <a:off x="8531469" y="653368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66574218"/>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8531469" y="653368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07187434"/>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083334"/>
            <a:ext cx="11341268" cy="430887"/>
          </a:xfrm>
        </p:spPr>
        <p:txBody>
          <a:bodyPr tIns="45720" rIns="0" bIns="45720"/>
          <a:lstStyle>
            <a:lvl1pPr>
              <a:defRPr sz="2200">
                <a:solidFill>
                  <a:schemeClr val="tx2">
                    <a:lumMod val="50000"/>
                  </a:schemeClr>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B0138D81-D900-4CA0-91A3-E4B4D037F850}"/>
              </a:ext>
            </a:extLst>
          </p:cNvPr>
          <p:cNvSpPr txBox="1">
            <a:spLocks/>
          </p:cNvSpPr>
          <p:nvPr userDrawn="1"/>
        </p:nvSpPr>
        <p:spPr>
          <a:xfrm>
            <a:off x="8531469" y="653368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2530135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endParaRPr lang="en-US"/>
          </a:p>
        </p:txBody>
      </p:sp>
      <p:sp>
        <p:nvSpPr>
          <p:cNvPr id="5" name="Footer Placeholder 1">
            <a:extLst>
              <a:ext uri="{FF2B5EF4-FFF2-40B4-BE49-F238E27FC236}">
                <a16:creationId xmlns:a16="http://schemas.microsoft.com/office/drawing/2014/main" id="{84F47FE4-BCEA-4982-9264-265B3E681079}"/>
              </a:ext>
            </a:extLst>
          </p:cNvPr>
          <p:cNvSpPr txBox="1">
            <a:spLocks/>
          </p:cNvSpPr>
          <p:nvPr userDrawn="1"/>
        </p:nvSpPr>
        <p:spPr>
          <a:xfrm>
            <a:off x="8531469" y="653368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76403934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5" name="Footer Placeholder 1">
            <a:extLst>
              <a:ext uri="{FF2B5EF4-FFF2-40B4-BE49-F238E27FC236}">
                <a16:creationId xmlns:a16="http://schemas.microsoft.com/office/drawing/2014/main" id="{84F47FE4-BCEA-4982-9264-265B3E681079}"/>
              </a:ext>
            </a:extLst>
          </p:cNvPr>
          <p:cNvSpPr txBox="1">
            <a:spLocks/>
          </p:cNvSpPr>
          <p:nvPr userDrawn="1"/>
        </p:nvSpPr>
        <p:spPr>
          <a:xfrm>
            <a:off x="8531469" y="653368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268052869"/>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66708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980724"/>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58808B7E-FD34-4940-8D19-5E76B2BDF6CF}"/>
              </a:ext>
            </a:extLst>
          </p:cNvPr>
          <p:cNvSpPr txBox="1">
            <a:spLocks/>
          </p:cNvSpPr>
          <p:nvPr userDrawn="1"/>
        </p:nvSpPr>
        <p:spPr>
          <a:xfrm>
            <a:off x="8531469" y="653368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509295684"/>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B3F01DCB-D579-40C8-9F58-D8F7FD314078}"/>
              </a:ext>
            </a:extLst>
          </p:cNvPr>
          <p:cNvSpPr txBox="1">
            <a:spLocks/>
          </p:cNvSpPr>
          <p:nvPr userDrawn="1"/>
        </p:nvSpPr>
        <p:spPr>
          <a:xfrm>
            <a:off x="8531469" y="653368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296779267"/>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userDrawn="1"/>
        </p:nvCxnSpPr>
        <p:spPr>
          <a:xfrm>
            <a:off x="1568744" y="4629985"/>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726875"/>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1164193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568744" y="241295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568744" y="34280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568744" y="4443230"/>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568744" y="54583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110367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59" y="1456896"/>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24450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329"/>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309081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49762"/>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937128"/>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6194"/>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783440"/>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2627"/>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562975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689059"/>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78610175"/>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568744"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568744"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568744"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379943"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379943"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133791627"/>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568744"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568744"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568744"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568744"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3"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3"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3"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20771854"/>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pic>
        <p:nvPicPr>
          <p:cNvPr id="9" name="Picture 8" descr="A close up of a logo&#10;&#10;Description automatically generated">
            <a:extLst>
              <a:ext uri="{FF2B5EF4-FFF2-40B4-BE49-F238E27FC236}">
                <a16:creationId xmlns:a16="http://schemas.microsoft.com/office/drawing/2014/main" id="{627962C6-3D96-4CE6-8E4F-540B7A0E6F3A}"/>
              </a:ext>
            </a:extLst>
          </p:cNvPr>
          <p:cNvPicPr>
            <a:picLocks noChangeAspect="1"/>
          </p:cNvPicPr>
          <p:nvPr userDrawn="1"/>
        </p:nvPicPr>
        <p:blipFill>
          <a:blip r:embed="rId2"/>
          <a:stretch>
            <a:fillRect/>
          </a:stretch>
        </p:blipFill>
        <p:spPr>
          <a:xfrm>
            <a:off x="146409" y="159693"/>
            <a:ext cx="3471501" cy="871754"/>
          </a:xfrm>
          <a:prstGeom prst="rect">
            <a:avLst/>
          </a:prstGeom>
        </p:spPr>
      </p:pic>
    </p:spTree>
    <p:extLst>
      <p:ext uri="{BB962C8B-B14F-4D97-AF65-F5344CB8AC3E}">
        <p14:creationId xmlns:p14="http://schemas.microsoft.com/office/powerpoint/2010/main" val="230629913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39284608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6" y="1611250"/>
            <a:ext cx="0" cy="456321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29422134"/>
      </p:ext>
    </p:extLst>
  </p:cSld>
  <p:clrMapOvr>
    <a:masterClrMapping/>
  </p:clrMapOvr>
  <p:transition>
    <p:fade/>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291693"/>
            <a:ext cx="11340811" cy="2544286"/>
          </a:xfrm>
        </p:spPr>
        <p:txBody>
          <a:bodyPr/>
          <a:lstStyle>
            <a:lvl1pPr>
              <a:spcBef>
                <a:spcPts val="392"/>
              </a:spcBef>
              <a:spcAft>
                <a:spcPts val="588"/>
              </a:spcAft>
              <a:defRPr sz="2400">
                <a:latin typeface="+mn-lt"/>
              </a:defRPr>
            </a:lvl1pPr>
            <a:lvl2pPr>
              <a:spcBef>
                <a:spcPts val="392"/>
              </a:spcBef>
              <a:spcAft>
                <a:spcPts val="588"/>
              </a:spcAft>
              <a:defRPr sz="2400">
                <a:latin typeface="+mn-lt"/>
              </a:defRPr>
            </a:lvl2pPr>
            <a:lvl3pPr>
              <a:spcBef>
                <a:spcPts val="392"/>
              </a:spcBef>
              <a:spcAft>
                <a:spcPts val="588"/>
              </a:spcAft>
              <a:defRPr sz="2400">
                <a:latin typeface="+mn-lt"/>
              </a:defRPr>
            </a:lvl3pPr>
            <a:lvl4pPr>
              <a:spcBef>
                <a:spcPts val="392"/>
              </a:spcBef>
              <a:spcAft>
                <a:spcPts val="588"/>
              </a:spcAft>
              <a:defRPr sz="2400">
                <a:latin typeface="+mn-lt"/>
              </a:defRPr>
            </a:lvl4pPr>
            <a:lvl5pPr>
              <a:spcBef>
                <a:spcPts val="392"/>
              </a:spcBef>
              <a:spcAft>
                <a:spcPts val="588"/>
              </a:spcAft>
              <a:defRPr sz="2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21372731"/>
      </p:ext>
    </p:extLst>
  </p:cSld>
  <p:clrMapOvr>
    <a:masterClrMapping/>
  </p:clrMapOvr>
  <p:transition>
    <p:fade/>
  </p:transition>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18643" y="1456898"/>
            <a:ext cx="11341268" cy="2492990"/>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1881724970"/>
      </p:ext>
    </p:extLst>
  </p:cSld>
  <p:clrMap bg1="lt1" tx1="dk1" bg2="lt2" tx2="dk2" accent1="accent1" accent2="accent2" accent3="accent3" accent4="accent4" accent5="accent5" accent6="accent6" hlink="hlink" folHlink="folHlink"/>
  <p:sldLayoutIdLst>
    <p:sldLayoutId id="2147484669" r:id="rId1"/>
    <p:sldLayoutId id="2147484562" r:id="rId2"/>
    <p:sldLayoutId id="2147484680" r:id="rId3"/>
    <p:sldLayoutId id="2147484580" r:id="rId4"/>
    <p:sldLayoutId id="2147484699" r:id="rId5"/>
    <p:sldLayoutId id="2147484683" r:id="rId6"/>
    <p:sldLayoutId id="2147484685" r:id="rId7"/>
    <p:sldLayoutId id="2147484673" r:id="rId8"/>
    <p:sldLayoutId id="2147484678" r:id="rId9"/>
    <p:sldLayoutId id="2147484679" r:id="rId10"/>
    <p:sldLayoutId id="2147484686" r:id="rId11"/>
    <p:sldLayoutId id="2147484674" r:id="rId12"/>
    <p:sldLayoutId id="2147484698" r:id="rId13"/>
    <p:sldLayoutId id="2147484700" r:id="rId14"/>
    <p:sldLayoutId id="2147484701" r:id="rId15"/>
    <p:sldLayoutId id="2147484702" r:id="rId16"/>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userDrawn="1">
          <p15:clr>
            <a:srgbClr val="C35EA4"/>
          </p15:clr>
        </p15:guide>
        <p15:guide id="32" pos="1498" userDrawn="1">
          <p15:clr>
            <a:srgbClr val="C35EA4"/>
          </p15:clr>
        </p15:guide>
        <p15:guide id="33" pos="2569" userDrawn="1">
          <p15:clr>
            <a:srgbClr val="C35EA4"/>
          </p15:clr>
        </p15:guide>
        <p15:guide id="34" pos="2711" userDrawn="1">
          <p15:clr>
            <a:srgbClr val="C35EA4"/>
          </p15:clr>
        </p15:guide>
        <p15:guide id="35" pos="3778" userDrawn="1">
          <p15:clr>
            <a:srgbClr val="C35EA4"/>
          </p15:clr>
        </p15:guide>
        <p15:guide id="36" pos="3924" userDrawn="1">
          <p15:clr>
            <a:srgbClr val="C35EA4"/>
          </p15:clr>
        </p15:guide>
        <p15:guide id="37" pos="4983" userDrawn="1">
          <p15:clr>
            <a:srgbClr val="C35EA4"/>
          </p15:clr>
        </p15:guide>
        <p15:guide id="38" pos="5127" userDrawn="1">
          <p15:clr>
            <a:srgbClr val="C35EA4"/>
          </p15:clr>
        </p15:guide>
        <p15:guide id="39" pos="6199" userDrawn="1">
          <p15:clr>
            <a:srgbClr val="C35EA4"/>
          </p15:clr>
        </p15:guide>
        <p15:guide id="40" pos="6342" userDrawn="1">
          <p15:clr>
            <a:srgbClr val="C35EA4"/>
          </p15:clr>
        </p15:guide>
        <p15:guide id="41" pos="264" userDrawn="1">
          <p15:clr>
            <a:srgbClr val="F26B43"/>
          </p15:clr>
        </p15:guide>
        <p15:guide id="42" pos="7416" userDrawn="1">
          <p15:clr>
            <a:srgbClr val="F26B43"/>
          </p15:clr>
        </p15:guide>
        <p15:guide id="43" orient="horz" pos="736" userDrawn="1">
          <p15:clr>
            <a:srgbClr val="5ACBF0"/>
          </p15:clr>
        </p15:guide>
        <p15:guide id="44" orient="horz" pos="1360" userDrawn="1">
          <p15:clr>
            <a:srgbClr val="5ACBF0"/>
          </p15:clr>
        </p15:guide>
        <p15:guide id="45" orient="horz" pos="593" userDrawn="1">
          <p15:clr>
            <a:srgbClr val="5ACBF0"/>
          </p15:clr>
        </p15:guide>
        <p15:guide id="46" orient="horz" pos="1484" userDrawn="1">
          <p15:clr>
            <a:srgbClr val="5ACBF0"/>
          </p15:clr>
        </p15:guide>
        <p15:guide id="47" orient="horz" pos="2088" userDrawn="1">
          <p15:clr>
            <a:srgbClr val="5ACBF0"/>
          </p15:clr>
        </p15:guide>
        <p15:guide id="48" orient="horz" pos="2254" userDrawn="1">
          <p15:clr>
            <a:srgbClr val="5ACBF0"/>
          </p15:clr>
        </p15:guide>
        <p15:guide id="49" orient="horz" pos="277" userDrawn="1">
          <p15:clr>
            <a:srgbClr val="F26B43"/>
          </p15:clr>
        </p15:guide>
        <p15:guide id="50" orient="horz" pos="4043" userDrawn="1">
          <p15:clr>
            <a:srgbClr val="F26B43"/>
          </p15:clr>
        </p15:guide>
        <p15:guide id="51" orient="horz" pos="2835" userDrawn="1">
          <p15:clr>
            <a:srgbClr val="5ACBF0"/>
          </p15:clr>
        </p15:guide>
        <p15:guide id="52" orient="horz" pos="2960" userDrawn="1">
          <p15:clr>
            <a:srgbClr val="5ACBF0"/>
          </p15:clr>
        </p15:guide>
        <p15:guide id="53" orient="horz" pos="3572" userDrawn="1">
          <p15:clr>
            <a:srgbClr val="5ACBF0"/>
          </p15:clr>
        </p15:guide>
        <p15:guide id="54" orient="horz" pos="3690" userDrawn="1">
          <p15:clr>
            <a:srgbClr val="5ACBF0"/>
          </p15:clr>
        </p15:guide>
        <p15:guide id="55" orient="horz" pos="91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hyperlink" Target="https://docs.microsoft.com/azure/data-factory/introduction"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7.svg"/></Relationships>
</file>

<file path=ppt/slides/_rels/slide11.xml.rels><?xml version="1.0" encoding="UTF-8" standalone="yes"?>
<Relationships xmlns="http://schemas.openxmlformats.org/package/2006/relationships"><Relationship Id="rId3" Type="http://schemas.openxmlformats.org/officeDocument/2006/relationships/hyperlink" Target="https://docs.microsoft.com/azure/storage/blobs/data-lake-storage-introduction"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hyperlink" Target="https://docs.microsoft.com/azure/storage/blobs/storage-feature-support-in-storage-accounts#standard-general-purpose-v2-accounts"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0.svg"/></Relationships>
</file>

<file path=ppt/slides/_rels/slide15.xml.rels><?xml version="1.0" encoding="UTF-8" standalone="yes"?>
<Relationships xmlns="http://schemas.openxmlformats.org/package/2006/relationships"><Relationship Id="rId3" Type="http://schemas.openxmlformats.org/officeDocument/2006/relationships/hyperlink" Target="https://docs.microsoft.com/azure/databricks/scenarios/what-is-azure-databricks"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24.svg"/></Relationships>
</file>

<file path=ppt/slides/_rels/slide18.xml.rels><?xml version="1.0" encoding="UTF-8" standalone="yes"?>
<Relationships xmlns="http://schemas.openxmlformats.org/package/2006/relationships"><Relationship Id="rId3" Type="http://schemas.openxmlformats.org/officeDocument/2006/relationships/hyperlink" Target="https://docs.microsoft.com/azure/synapse-analytics/overview-what-is"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7.svg"/></Relationships>
</file>

<file path=ppt/slides/_rels/slide22.xml.rels><?xml version="1.0" encoding="UTF-8" standalone="yes"?>
<Relationships xmlns="http://schemas.openxmlformats.org/package/2006/relationships"><Relationship Id="rId3" Type="http://schemas.openxmlformats.org/officeDocument/2006/relationships/hyperlink" Target="https://docs.microsoft.com/azure/stream-analytics/stream-analytics-introduction"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6.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 Id="rId9"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6.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slides/_rels/slide26.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3.svg"/><Relationship Id="rId11" Type="http://schemas.openxmlformats.org/officeDocument/2006/relationships/image" Target="../media/image35.png"/><Relationship Id="rId5" Type="http://schemas.openxmlformats.org/officeDocument/2006/relationships/image" Target="../media/image42.png"/><Relationship Id="rId10" Type="http://schemas.openxmlformats.org/officeDocument/2006/relationships/image" Target="../media/image47.svg"/><Relationship Id="rId4" Type="http://schemas.openxmlformats.org/officeDocument/2006/relationships/image" Target="../media/image41.svg"/><Relationship Id="rId9" Type="http://schemas.openxmlformats.org/officeDocument/2006/relationships/image" Target="../media/image46.png"/></Relationships>
</file>

<file path=ppt/slides/_rels/slide27.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1AD11-C05B-4487-A246-ED644C73C692}"/>
              </a:ext>
            </a:extLst>
          </p:cNvPr>
          <p:cNvSpPr>
            <a:spLocks noGrp="1"/>
          </p:cNvSpPr>
          <p:nvPr>
            <p:ph type="title"/>
          </p:nvPr>
        </p:nvSpPr>
        <p:spPr>
          <a:xfrm>
            <a:off x="578738" y="2800870"/>
            <a:ext cx="4167887" cy="1514261"/>
          </a:xfrm>
        </p:spPr>
        <p:txBody>
          <a:bodyPr/>
          <a:lstStyle/>
          <a:p>
            <a:r>
              <a:rPr lang="fr-FR" dirty="0">
                <a:solidFill>
                  <a:schemeClr val="tx1"/>
                </a:solidFill>
              </a:rPr>
              <a:t>Module 03: </a:t>
            </a:r>
            <a:br>
              <a:rPr lang="fr-FR" dirty="0">
                <a:solidFill>
                  <a:schemeClr val="tx1"/>
                </a:solidFill>
              </a:rPr>
            </a:br>
            <a:r>
              <a:rPr lang="fr-FR" dirty="0">
                <a:solidFill>
                  <a:schemeClr val="tx1"/>
                </a:solidFill>
              </a:rPr>
              <a:t>Data </a:t>
            </a:r>
            <a:r>
              <a:rPr lang="fr-FR" dirty="0" err="1">
                <a:solidFill>
                  <a:schemeClr val="tx1"/>
                </a:solidFill>
              </a:rPr>
              <a:t>integration</a:t>
            </a:r>
            <a:r>
              <a:rPr lang="fr-FR" dirty="0">
                <a:solidFill>
                  <a:schemeClr val="tx1"/>
                </a:solidFill>
              </a:rPr>
              <a:t> solution</a:t>
            </a:r>
            <a:endParaRPr lang="en-US" dirty="0">
              <a:solidFill>
                <a:schemeClr val="tx1"/>
              </a:solidFill>
            </a:endParaRPr>
          </a:p>
        </p:txBody>
      </p:sp>
      <p:sp>
        <p:nvSpPr>
          <p:cNvPr id="3" name="Text Placeholder 2">
            <a:extLst>
              <a:ext uri="{FF2B5EF4-FFF2-40B4-BE49-F238E27FC236}">
                <a16:creationId xmlns:a16="http://schemas.microsoft.com/office/drawing/2014/main" id="{53A4F27D-9766-438B-809D-9CFAA7EFFD7D}"/>
              </a:ext>
            </a:extLst>
          </p:cNvPr>
          <p:cNvSpPr>
            <a:spLocks noGrp="1"/>
          </p:cNvSpPr>
          <p:nvPr>
            <p:ph type="body" sz="quarter" idx="12"/>
          </p:nvPr>
        </p:nvSpPr>
        <p:spPr>
          <a:xfrm>
            <a:off x="582042" y="4574666"/>
            <a:ext cx="4164583" cy="677108"/>
          </a:xfrm>
        </p:spPr>
        <p:txBody>
          <a:bodyPr/>
          <a:lstStyle/>
          <a:p>
            <a:r>
              <a:rPr lang="en-US" dirty="0"/>
              <a:t>Cyrus Cheng</a:t>
            </a:r>
            <a:br>
              <a:rPr lang="en-US" dirty="0"/>
            </a:br>
            <a:r>
              <a:rPr lang="en-US" dirty="0"/>
              <a:t>ITSWS - FO </a:t>
            </a:r>
            <a:r>
              <a:rPr lang="en-US" dirty="0" err="1"/>
              <a:t>Cashout</a:t>
            </a:r>
            <a:r>
              <a:rPr lang="en-US" dirty="0"/>
              <a:t> Team</a:t>
            </a:r>
          </a:p>
        </p:txBody>
      </p:sp>
      <p:pic>
        <p:nvPicPr>
          <p:cNvPr id="4098" name="Picture 2" descr="HKJC are Being Sued for failing to Pay Out a Winning Bet - Gambling Herald">
            <a:extLst>
              <a:ext uri="{FF2B5EF4-FFF2-40B4-BE49-F238E27FC236}">
                <a16:creationId xmlns:a16="http://schemas.microsoft.com/office/drawing/2014/main" id="{C745B710-30C1-444C-BB96-744721E298E2}"/>
              </a:ext>
            </a:extLst>
          </p:cNvPr>
          <p:cNvPicPr>
            <a:picLocks noGrp="1" noChangeAspect="1" noChangeArrowheads="1"/>
          </p:cNvPicPr>
          <p:nvPr>
            <p:ph type="pic" sz="quarter" idx="13"/>
          </p:nvPr>
        </p:nvPicPr>
        <p:blipFill>
          <a:blip r:embed="rId2" cstate="email">
            <a:extLst>
              <a:ext uri="{28A0092B-C50C-407E-A947-70E740481C1C}">
                <a14:useLocalDpi xmlns:a14="http://schemas.microsoft.com/office/drawing/2010/main"/>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The Hong Kong Jockey Club">
            <a:extLst>
              <a:ext uri="{FF2B5EF4-FFF2-40B4-BE49-F238E27FC236}">
                <a16:creationId xmlns:a16="http://schemas.microsoft.com/office/drawing/2014/main" id="{072F594E-46DB-485B-9E22-71C0EAAF6B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4166624" y="228700"/>
            <a:ext cx="980708" cy="1133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8870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F388A-DA23-47B5-B1B4-5AA1C4F44269}"/>
              </a:ext>
            </a:extLst>
          </p:cNvPr>
          <p:cNvSpPr>
            <a:spLocks noGrp="1"/>
          </p:cNvSpPr>
          <p:nvPr>
            <p:ph type="title"/>
          </p:nvPr>
        </p:nvSpPr>
        <p:spPr/>
        <p:txBody>
          <a:bodyPr/>
          <a:lstStyle/>
          <a:p>
            <a:r>
              <a:rPr lang="en-US" dirty="0">
                <a:cs typeface="Segoe UI"/>
              </a:rPr>
              <a:t>Module Outline</a:t>
            </a:r>
          </a:p>
        </p:txBody>
      </p:sp>
      <p:pic>
        <p:nvPicPr>
          <p:cNvPr id="5" name="Graphic 4" descr="Scientific Thought">
            <a:extLst>
              <a:ext uri="{FF2B5EF4-FFF2-40B4-BE49-F238E27FC236}">
                <a16:creationId xmlns:a16="http://schemas.microsoft.com/office/drawing/2014/main" id="{844678FD-DF32-49A2-8D29-3E27D0C9FD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74060" y="2810069"/>
            <a:ext cx="1237861" cy="1237861"/>
          </a:xfrm>
          <a:prstGeom prst="rect">
            <a:avLst/>
          </a:prstGeom>
        </p:spPr>
      </p:pic>
    </p:spTree>
    <p:extLst>
      <p:ext uri="{BB962C8B-B14F-4D97-AF65-F5344CB8AC3E}">
        <p14:creationId xmlns:p14="http://schemas.microsoft.com/office/powerpoint/2010/main" val="8406051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440494"/>
            <a:ext cx="11341268" cy="680196"/>
          </a:xfrm>
        </p:spPr>
        <p:txBody>
          <a:bodyPr vert="horz" wrap="square" lIns="0" tIns="91440" rIns="146304" bIns="91440" rtlCol="0" anchor="t">
            <a:normAutofit/>
          </a:bodyPr>
          <a:lstStyle/>
          <a:p>
            <a:r>
              <a:rPr lang="en-US" b="0" kern="1200" cap="none" spc="-49" baseline="0" dirty="0">
                <a:ln w="3175">
                  <a:noFill/>
                </a:ln>
                <a:effectLst/>
                <a:latin typeface="+mj-lt"/>
                <a:ea typeface="+mn-ea"/>
                <a:cs typeface="Segoe UI"/>
              </a:rPr>
              <a:t>Module 03 – </a:t>
            </a:r>
            <a:r>
              <a:rPr lang="en-US" dirty="0">
                <a:cs typeface="Segoe UI"/>
              </a:rPr>
              <a:t>Outline</a:t>
            </a:r>
            <a:endParaRPr lang="en-US" b="0" kern="1200" cap="none" spc="-49" baseline="0" dirty="0">
              <a:ln w="3175">
                <a:noFill/>
              </a:ln>
              <a:effectLst/>
              <a:latin typeface="+mj-lt"/>
              <a:ea typeface="+mn-ea"/>
              <a:cs typeface="Segoe UI" pitchFamily="34" charset="0"/>
            </a:endParaRPr>
          </a:p>
        </p:txBody>
      </p:sp>
      <p:sp>
        <p:nvSpPr>
          <p:cNvPr id="10" name="Text Placeholder 14">
            <a:extLst>
              <a:ext uri="{FF2B5EF4-FFF2-40B4-BE49-F238E27FC236}">
                <a16:creationId xmlns:a16="http://schemas.microsoft.com/office/drawing/2014/main" id="{36877184-9CC1-4EBD-ACA1-BA6A2150651C}"/>
              </a:ext>
            </a:extLst>
          </p:cNvPr>
          <p:cNvSpPr>
            <a:spLocks noGrp="1"/>
          </p:cNvSpPr>
          <p:nvPr/>
        </p:nvSpPr>
        <p:spPr>
          <a:xfrm>
            <a:off x="418643" y="1456896"/>
            <a:ext cx="5394960" cy="4734629"/>
          </a:xfrm>
          <a:prstGeom prst="rect">
            <a:avLst/>
          </a:prstGeom>
        </p:spPr>
        <p:txBody>
          <a:bodyPr vert="horz" wrap="square" lIns="0" tIns="91440" rIns="146304" bIns="91440" rtlCol="0">
            <a:normAutofit lnSpcReduction="10000"/>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marR="0" indent="0" algn="l" defTabSz="914367" rtl="0" eaLnBrk="1" fontAlgn="auto" latinLnBrk="0" hangingPunct="1">
              <a:lnSpc>
                <a:spcPct val="100000"/>
              </a:lnSpc>
              <a:spcBef>
                <a:spcPts val="0"/>
              </a:spcBef>
              <a:spcAft>
                <a:spcPts val="0"/>
              </a:spcAft>
              <a:buClrTx/>
              <a:buSzPct val="90000"/>
              <a:buFontTx/>
              <a:buNone/>
              <a:tabLst/>
              <a:defRPr sz="1961" kern="1200" spc="0" baseline="0">
                <a:solidFill>
                  <a:srgbClr val="000000"/>
                </a:solidFill>
                <a:latin typeface="+mn-lt"/>
                <a:ea typeface="+mn-ea"/>
                <a:cs typeface="+mn-cs"/>
              </a:defRPr>
            </a:lvl2pPr>
            <a:lvl3pPr marL="448193"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chemeClr val="tx2"/>
                </a:solidFill>
                <a:latin typeface="+mj-lt"/>
                <a:ea typeface="+mn-ea"/>
                <a:cs typeface="+mn-cs"/>
              </a:defRPr>
            </a:lvl3pPr>
            <a:lvl4pPr marL="67229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rgbClr val="000000"/>
                </a:solidFill>
                <a:latin typeface="+mn-lt"/>
                <a:ea typeface="+mn-ea"/>
                <a:cs typeface="+mn-cs"/>
              </a:defRPr>
            </a:lvl4pPr>
            <a:lvl5pPr marL="896386"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indent="0">
              <a:lnSpc>
                <a:spcPct val="90000"/>
              </a:lnSpc>
              <a:spcBef>
                <a:spcPts val="392"/>
              </a:spcBef>
              <a:spcAft>
                <a:spcPts val="588"/>
              </a:spcAft>
              <a:buNone/>
            </a:pPr>
            <a:r>
              <a:rPr lang="en-US" sz="2000" dirty="0"/>
              <a:t>You will learn the following concepts:</a:t>
            </a:r>
          </a:p>
          <a:p>
            <a:pPr marL="0" indent="0">
              <a:lnSpc>
                <a:spcPct val="90000"/>
              </a:lnSpc>
              <a:spcBef>
                <a:spcPts val="392"/>
              </a:spcBef>
              <a:spcAft>
                <a:spcPts val="588"/>
              </a:spcAft>
              <a:buNone/>
            </a:pPr>
            <a:endParaRPr lang="en-US" sz="1000" dirty="0"/>
          </a:p>
          <a:p>
            <a:pPr>
              <a:lnSpc>
                <a:spcPct val="90000"/>
              </a:lnSpc>
              <a:spcBef>
                <a:spcPts val="392"/>
              </a:spcBef>
              <a:spcAft>
                <a:spcPts val="588"/>
              </a:spcAft>
              <a:buFont typeface="Wingdings" panose="05000000000000000000" pitchFamily="2" charset="2"/>
              <a:buChar char="§"/>
            </a:pPr>
            <a:r>
              <a:rPr lang="en-US" sz="2000" dirty="0">
                <a:latin typeface="+mj-lt"/>
              </a:rPr>
              <a:t>Azure Data integration solution</a:t>
            </a:r>
          </a:p>
          <a:p>
            <a:pPr marL="560241" lvl="1" indent="-336145">
              <a:lnSpc>
                <a:spcPct val="90000"/>
              </a:lnSpc>
              <a:spcBef>
                <a:spcPts val="392"/>
              </a:spcBef>
              <a:spcAft>
                <a:spcPts val="588"/>
              </a:spcAft>
              <a:buFont typeface="Arial" panose="020B0604020202020204" pitchFamily="34" charset="0"/>
              <a:buChar char="•"/>
            </a:pPr>
            <a:r>
              <a:rPr lang="en-US" sz="2000" dirty="0"/>
              <a:t>Azure Data Factory</a:t>
            </a:r>
          </a:p>
          <a:p>
            <a:pPr marL="560241" lvl="1" indent="-336145">
              <a:lnSpc>
                <a:spcPct val="90000"/>
              </a:lnSpc>
              <a:spcBef>
                <a:spcPts val="392"/>
              </a:spcBef>
              <a:spcAft>
                <a:spcPts val="588"/>
              </a:spcAft>
              <a:buFont typeface="Arial" panose="020B0604020202020204" pitchFamily="34" charset="0"/>
              <a:buChar char="•"/>
            </a:pPr>
            <a:r>
              <a:rPr lang="en-US" sz="2000" dirty="0"/>
              <a:t>Azure Data Lake</a:t>
            </a:r>
          </a:p>
          <a:p>
            <a:pPr>
              <a:lnSpc>
                <a:spcPct val="90000"/>
              </a:lnSpc>
              <a:spcBef>
                <a:spcPts val="392"/>
              </a:spcBef>
              <a:spcAft>
                <a:spcPts val="588"/>
              </a:spcAft>
              <a:buFont typeface="Wingdings" panose="05000000000000000000" pitchFamily="2" charset="2"/>
              <a:buChar char="§"/>
            </a:pPr>
            <a:r>
              <a:rPr lang="en-US" sz="2000" dirty="0">
                <a:latin typeface="+mj-lt"/>
              </a:rPr>
              <a:t>Azure Data analytics solution</a:t>
            </a:r>
          </a:p>
          <a:p>
            <a:pPr marL="560241" lvl="1" indent="-336145">
              <a:lnSpc>
                <a:spcPct val="90000"/>
              </a:lnSpc>
              <a:spcBef>
                <a:spcPts val="392"/>
              </a:spcBef>
              <a:spcAft>
                <a:spcPts val="588"/>
              </a:spcAft>
              <a:buFont typeface="Arial" panose="020B0604020202020204" pitchFamily="34" charset="0"/>
              <a:buChar char="•"/>
            </a:pPr>
            <a:r>
              <a:rPr lang="en-US" sz="1800" dirty="0"/>
              <a:t>Azure Databricks</a:t>
            </a:r>
          </a:p>
          <a:p>
            <a:pPr marL="560241" lvl="1" indent="-336145">
              <a:lnSpc>
                <a:spcPct val="90000"/>
              </a:lnSpc>
              <a:spcBef>
                <a:spcPts val="392"/>
              </a:spcBef>
              <a:spcAft>
                <a:spcPts val="588"/>
              </a:spcAft>
              <a:buFont typeface="Arial" panose="020B0604020202020204" pitchFamily="34" charset="0"/>
              <a:buChar char="•"/>
            </a:pPr>
            <a:r>
              <a:rPr lang="en-US" sz="1800" dirty="0"/>
              <a:t>Azure Synapse Analytics</a:t>
            </a:r>
            <a:endParaRPr lang="en-US" sz="2000" dirty="0"/>
          </a:p>
          <a:p>
            <a:pPr marL="560241" lvl="1" indent="-336145">
              <a:lnSpc>
                <a:spcPct val="90000"/>
              </a:lnSpc>
              <a:spcBef>
                <a:spcPts val="392"/>
              </a:spcBef>
              <a:spcAft>
                <a:spcPts val="588"/>
              </a:spcAft>
              <a:buFont typeface="Arial" panose="020B0604020202020204" pitchFamily="34" charset="0"/>
              <a:buChar char="•"/>
            </a:pPr>
            <a:r>
              <a:rPr lang="en-US" sz="1800" dirty="0"/>
              <a:t>Azure Stream Analytics</a:t>
            </a:r>
          </a:p>
          <a:p>
            <a:pPr>
              <a:lnSpc>
                <a:spcPct val="90000"/>
              </a:lnSpc>
              <a:spcBef>
                <a:spcPts val="392"/>
              </a:spcBef>
              <a:spcAft>
                <a:spcPts val="588"/>
              </a:spcAft>
              <a:buFont typeface="Wingdings" panose="05000000000000000000" pitchFamily="2" charset="2"/>
              <a:buChar char="§"/>
            </a:pPr>
            <a:r>
              <a:rPr lang="en-US" sz="2000" dirty="0">
                <a:latin typeface="+mj-lt"/>
              </a:rPr>
              <a:t>Other Azure Solutions</a:t>
            </a:r>
          </a:p>
          <a:p>
            <a:pPr marL="560241" lvl="1" indent="-336145">
              <a:lnSpc>
                <a:spcPct val="90000"/>
              </a:lnSpc>
              <a:spcBef>
                <a:spcPts val="392"/>
              </a:spcBef>
              <a:spcAft>
                <a:spcPts val="588"/>
              </a:spcAft>
              <a:buFont typeface="Arial" panose="020B0604020202020204" pitchFamily="34" charset="0"/>
              <a:buChar char="•"/>
            </a:pPr>
            <a:r>
              <a:rPr lang="en-US" sz="1800" dirty="0"/>
              <a:t>AI / ML</a:t>
            </a:r>
          </a:p>
          <a:p>
            <a:pPr marL="560241" lvl="1" indent="-336145">
              <a:lnSpc>
                <a:spcPct val="90000"/>
              </a:lnSpc>
              <a:spcBef>
                <a:spcPts val="392"/>
              </a:spcBef>
              <a:spcAft>
                <a:spcPts val="588"/>
              </a:spcAft>
              <a:buFont typeface="Arial" panose="020B0604020202020204" pitchFamily="34" charset="0"/>
              <a:buChar char="•"/>
            </a:pPr>
            <a:r>
              <a:rPr lang="en-US" sz="1800" dirty="0"/>
              <a:t>Serverless</a:t>
            </a:r>
          </a:p>
          <a:p>
            <a:pPr marL="560241" lvl="1" indent="-336145">
              <a:lnSpc>
                <a:spcPct val="90000"/>
              </a:lnSpc>
              <a:spcBef>
                <a:spcPts val="392"/>
              </a:spcBef>
              <a:spcAft>
                <a:spcPts val="588"/>
              </a:spcAft>
              <a:buFont typeface="Arial" panose="020B0604020202020204" pitchFamily="34" charset="0"/>
              <a:buChar char="•"/>
            </a:pPr>
            <a:r>
              <a:rPr lang="en-US" sz="1800" dirty="0"/>
              <a:t>CI / CD</a:t>
            </a:r>
          </a:p>
          <a:p>
            <a:pPr marL="560241" lvl="1" indent="-336145">
              <a:lnSpc>
                <a:spcPct val="90000"/>
              </a:lnSpc>
              <a:spcBef>
                <a:spcPts val="392"/>
              </a:spcBef>
              <a:spcAft>
                <a:spcPts val="588"/>
              </a:spcAft>
              <a:buFont typeface="Arial" panose="020B0604020202020204" pitchFamily="34" charset="0"/>
              <a:buChar char="•"/>
            </a:pPr>
            <a:endParaRPr lang="en-US" sz="1800" dirty="0"/>
          </a:p>
        </p:txBody>
      </p:sp>
      <p:pic>
        <p:nvPicPr>
          <p:cNvPr id="2" name="Graphic 3">
            <a:extLst>
              <a:ext uri="{FF2B5EF4-FFF2-40B4-BE49-F238E27FC236}">
                <a16:creationId xmlns:a16="http://schemas.microsoft.com/office/drawing/2014/main" id="{BEB952B3-5FDE-4C86-A3A5-51B185B9FE0D}"/>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464" b="-315"/>
          <a:stretch/>
        </p:blipFill>
        <p:spPr>
          <a:xfrm>
            <a:off x="6690248" y="1378281"/>
            <a:ext cx="4718458" cy="4711397"/>
          </a:xfrm>
          <a:prstGeom prst="rect">
            <a:avLst/>
          </a:prstGeom>
        </p:spPr>
      </p:pic>
    </p:spTree>
    <p:extLst>
      <p:ext uri="{BB962C8B-B14F-4D97-AF65-F5344CB8AC3E}">
        <p14:creationId xmlns:p14="http://schemas.microsoft.com/office/powerpoint/2010/main" val="3669250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28681" y="2532448"/>
            <a:ext cx="5807732" cy="1793104"/>
          </a:xfrm>
        </p:spPr>
        <p:txBody>
          <a:bodyPr wrap="square" anchor="b">
            <a:normAutofit/>
          </a:bodyPr>
          <a:lstStyle/>
          <a:p>
            <a:pPr>
              <a:lnSpc>
                <a:spcPct val="100000"/>
              </a:lnSpc>
            </a:pPr>
            <a:r>
              <a:rPr lang="en-US" sz="4400" b="1" dirty="0"/>
              <a:t>Azure Data integration solution</a:t>
            </a:r>
          </a:p>
        </p:txBody>
      </p:sp>
    </p:spTree>
    <p:extLst>
      <p:ext uri="{BB962C8B-B14F-4D97-AF65-F5344CB8AC3E}">
        <p14:creationId xmlns:p14="http://schemas.microsoft.com/office/powerpoint/2010/main" val="210475963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p:txBody>
          <a:bodyPr/>
          <a:lstStyle/>
          <a:p>
            <a:r>
              <a:rPr lang="en-US" dirty="0"/>
              <a:t>Azure Data Factory</a:t>
            </a:r>
          </a:p>
        </p:txBody>
      </p:sp>
      <p:pic>
        <p:nvPicPr>
          <p:cNvPr id="4" name="Picture Placeholder 3">
            <a:extLst>
              <a:ext uri="{FF2B5EF4-FFF2-40B4-BE49-F238E27FC236}">
                <a16:creationId xmlns:a16="http://schemas.microsoft.com/office/drawing/2014/main" id="{EE7A25FB-A825-4A56-933F-A60B41121EF4}"/>
              </a:ext>
              <a:ext uri="{C183D7F6-B498-43B3-948B-1728B52AA6E4}">
                <adec:decorative xmlns:adec="http://schemas.microsoft.com/office/drawing/2017/decorative" val="1"/>
              </a:ext>
            </a:extLst>
          </p:cNvPr>
          <p:cNvPicPr>
            <a:picLocks noGrp="1" noChangeAspect="1"/>
          </p:cNvPicPr>
          <p:nvPr>
            <p:ph type="pic" sz="quarter" idx="10"/>
          </p:nvPr>
        </p:nvPicPr>
        <p:blipFill>
          <a:blip r:embed="rId3">
            <a:extLst>
              <a:ext uri="{96DAC541-7B7A-43D3-8B79-37D633B846F1}">
                <asvg:svgBlip xmlns:asvg="http://schemas.microsoft.com/office/drawing/2016/SVG/main" r:embed="rId4"/>
              </a:ext>
            </a:extLst>
          </a:blip>
          <a:srcRect/>
          <a:stretch>
            <a:fillRect/>
          </a:stretch>
        </p:blipFill>
        <p:spPr/>
      </p:pic>
    </p:spTree>
    <p:extLst>
      <p:ext uri="{BB962C8B-B14F-4D97-AF65-F5344CB8AC3E}">
        <p14:creationId xmlns:p14="http://schemas.microsoft.com/office/powerpoint/2010/main" val="363294862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2542854-46B9-3C46-86ED-051FEA185446}"/>
              </a:ext>
            </a:extLst>
          </p:cNvPr>
          <p:cNvSpPr>
            <a:spLocks noGrp="1"/>
          </p:cNvSpPr>
          <p:nvPr>
            <p:ph type="title"/>
          </p:nvPr>
        </p:nvSpPr>
        <p:spPr/>
        <p:txBody>
          <a:bodyPr/>
          <a:lstStyle/>
          <a:p>
            <a:r>
              <a:rPr lang="en-US" dirty="0">
                <a:solidFill>
                  <a:schemeClr val="tx2">
                    <a:lumMod val="50000"/>
                  </a:schemeClr>
                </a:solidFill>
                <a:hlinkClick r:id="rId3">
                  <a:extLst>
                    <a:ext uri="{A12FA001-AC4F-418D-AE19-62706E023703}">
                      <ahyp:hlinkClr xmlns:ahyp="http://schemas.microsoft.com/office/drawing/2018/hyperlinkcolor" val="tx"/>
                    </a:ext>
                  </a:extLst>
                </a:hlinkClick>
              </a:rPr>
              <a:t>Data-driven workflows </a:t>
            </a:r>
            <a:endParaRPr lang="en-US" dirty="0">
              <a:solidFill>
                <a:schemeClr val="tx2">
                  <a:lumMod val="50000"/>
                </a:schemeClr>
              </a:solidFill>
            </a:endParaRPr>
          </a:p>
        </p:txBody>
      </p:sp>
      <p:sp>
        <p:nvSpPr>
          <p:cNvPr id="7" name="Text Placeholder 2">
            <a:extLst>
              <a:ext uri="{FF2B5EF4-FFF2-40B4-BE49-F238E27FC236}">
                <a16:creationId xmlns:a16="http://schemas.microsoft.com/office/drawing/2014/main" id="{7F3950B4-8AA3-E54A-A0FD-E9AF02B259D2}"/>
              </a:ext>
            </a:extLst>
          </p:cNvPr>
          <p:cNvSpPr>
            <a:spLocks noGrp="1"/>
          </p:cNvSpPr>
          <p:nvPr>
            <p:ph type="body" sz="quarter" idx="10"/>
          </p:nvPr>
        </p:nvSpPr>
        <p:spPr>
          <a:xfrm>
            <a:off x="432089" y="1083334"/>
            <a:ext cx="11341268" cy="1107996"/>
          </a:xfrm>
          <a:prstGeom prst="rect">
            <a:avLst/>
          </a:prstGeom>
        </p:spPr>
        <p:txBody>
          <a:bodyPr/>
          <a:lstStyle/>
          <a:p>
            <a:r>
              <a:rPr lang="en-US"/>
              <a:t>Azure Data Factory is a cloud-based ETL and data integration service that can help you create and schedule data-driven workflows (called pipelines) that can ingest data from disparate data stores. </a:t>
            </a:r>
          </a:p>
        </p:txBody>
      </p:sp>
      <p:sp>
        <p:nvSpPr>
          <p:cNvPr id="8" name="Text Placeholder 5">
            <a:extLst>
              <a:ext uri="{FF2B5EF4-FFF2-40B4-BE49-F238E27FC236}">
                <a16:creationId xmlns:a16="http://schemas.microsoft.com/office/drawing/2014/main" id="{02C2CE11-69B8-B642-A76F-134436A8702D}"/>
              </a:ext>
            </a:extLst>
          </p:cNvPr>
          <p:cNvSpPr>
            <a:spLocks noGrp="1"/>
          </p:cNvSpPr>
          <p:nvPr>
            <p:ph type="body" sz="quarter" idx="4294967295"/>
          </p:nvPr>
        </p:nvSpPr>
        <p:spPr>
          <a:xfrm>
            <a:off x="418642" y="2783022"/>
            <a:ext cx="4647771" cy="1661993"/>
          </a:xfrm>
          <a:prstGeom prst="rect">
            <a:avLst/>
          </a:prstGeom>
        </p:spPr>
        <p:txBody>
          <a:bodyPr/>
          <a:lstStyle/>
          <a:p>
            <a:r>
              <a:rPr lang="en-US" sz="2400">
                <a:latin typeface="+mn-lt"/>
              </a:rPr>
              <a:t>You can use Azure Data Factory to:</a:t>
            </a:r>
          </a:p>
          <a:p>
            <a:pPr marL="457200" indent="-457200">
              <a:buFont typeface="+mj-lt"/>
              <a:buAutoNum type="arabicPeriod"/>
            </a:pPr>
            <a:r>
              <a:rPr lang="en-US" sz="2400">
                <a:latin typeface="+mn-lt"/>
              </a:rPr>
              <a:t>Orchestrate data movement. </a:t>
            </a:r>
          </a:p>
          <a:p>
            <a:pPr marL="457200" indent="-457200">
              <a:buFont typeface="+mj-lt"/>
              <a:buAutoNum type="arabicPeriod"/>
            </a:pPr>
            <a:r>
              <a:rPr lang="en-US" sz="2400">
                <a:latin typeface="+mn-lt"/>
              </a:rPr>
              <a:t>Transform data at scale. </a:t>
            </a:r>
          </a:p>
        </p:txBody>
      </p:sp>
      <p:sp>
        <p:nvSpPr>
          <p:cNvPr id="9" name="Rectangle 31">
            <a:extLst>
              <a:ext uri="{FF2B5EF4-FFF2-40B4-BE49-F238E27FC236}">
                <a16:creationId xmlns:a16="http://schemas.microsoft.com/office/drawing/2014/main" id="{1E161012-C8E6-409C-8AC9-36B92F6ACF61}"/>
              </a:ext>
              <a:ext uri="{C183D7F6-B498-43B3-948B-1728B52AA6E4}">
                <adec:decorative xmlns:adec="http://schemas.microsoft.com/office/drawing/2017/decorative" val="1"/>
              </a:ext>
            </a:extLst>
          </p:cNvPr>
          <p:cNvSpPr/>
          <p:nvPr/>
        </p:nvSpPr>
        <p:spPr bwMode="auto">
          <a:xfrm>
            <a:off x="5618374" y="2191330"/>
            <a:ext cx="6249971" cy="3051866"/>
          </a:xfrm>
          <a:prstGeom prst="rect">
            <a:avLst/>
          </a:prstGeom>
          <a:noFill/>
          <a:ln w="190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89642" rIns="89642" bIns="89642" numCol="1" spcCol="0" rtlCol="0" fromWordArt="0" anchor="t" anchorCtr="0" forceAA="0" compatLnSpc="1">
            <a:prstTxWarp prst="textNoShape">
              <a:avLst/>
            </a:prstTxWarp>
            <a:noAutofit/>
          </a:bodyPr>
          <a:lstStyle/>
          <a:p>
            <a:pPr defTabSz="914102" fontAlgn="base">
              <a:spcBef>
                <a:spcPct val="0"/>
              </a:spcBef>
              <a:spcAft>
                <a:spcPts val="98"/>
              </a:spcAft>
            </a:pPr>
            <a:endParaRPr lang="en-US" sz="980">
              <a:solidFill>
                <a:schemeClr val="bg1"/>
              </a:solidFill>
              <a:ea typeface="Segoe UI" pitchFamily="34" charset="0"/>
              <a:cs typeface="Segoe UI" pitchFamily="34" charset="0"/>
            </a:endParaRPr>
          </a:p>
        </p:txBody>
      </p:sp>
      <p:pic>
        <p:nvPicPr>
          <p:cNvPr id="5" name="图片 4" descr="The Data Factory architecture."/>
          <p:cNvPicPr>
            <a:picLocks noChangeAspect="1"/>
          </p:cNvPicPr>
          <p:nvPr/>
        </p:nvPicPr>
        <p:blipFill>
          <a:blip r:embed="rId4"/>
          <a:stretch>
            <a:fillRect/>
          </a:stretch>
        </p:blipFill>
        <p:spPr>
          <a:xfrm>
            <a:off x="5744829" y="2382303"/>
            <a:ext cx="5944115" cy="2627604"/>
          </a:xfrm>
          <a:prstGeom prst="rect">
            <a:avLst/>
          </a:prstGeom>
        </p:spPr>
      </p:pic>
    </p:spTree>
    <p:extLst>
      <p:ext uri="{BB962C8B-B14F-4D97-AF65-F5344CB8AC3E}">
        <p14:creationId xmlns:p14="http://schemas.microsoft.com/office/powerpoint/2010/main" val="236182587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705267C-0659-9583-533C-2DB7202DE76C}"/>
              </a:ext>
            </a:extLst>
          </p:cNvPr>
          <p:cNvPicPr>
            <a:picLocks noChangeAspect="1"/>
          </p:cNvPicPr>
          <p:nvPr/>
        </p:nvPicPr>
        <p:blipFill>
          <a:blip r:embed="rId2"/>
          <a:stretch>
            <a:fillRect/>
          </a:stretch>
        </p:blipFill>
        <p:spPr>
          <a:xfrm>
            <a:off x="515005" y="552440"/>
            <a:ext cx="11477297" cy="5552329"/>
          </a:xfrm>
          <a:prstGeom prst="rect">
            <a:avLst/>
          </a:prstGeom>
        </p:spPr>
      </p:pic>
    </p:spTree>
    <p:extLst>
      <p:ext uri="{BB962C8B-B14F-4D97-AF65-F5344CB8AC3E}">
        <p14:creationId xmlns:p14="http://schemas.microsoft.com/office/powerpoint/2010/main" val="128624314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52A3410-0C04-F601-D7BE-7917BA238995}"/>
              </a:ext>
            </a:extLst>
          </p:cNvPr>
          <p:cNvPicPr>
            <a:picLocks noChangeAspect="1"/>
          </p:cNvPicPr>
          <p:nvPr/>
        </p:nvPicPr>
        <p:blipFill>
          <a:blip r:embed="rId2"/>
          <a:stretch>
            <a:fillRect/>
          </a:stretch>
        </p:blipFill>
        <p:spPr>
          <a:xfrm>
            <a:off x="0" y="539750"/>
            <a:ext cx="12192000" cy="5778500"/>
          </a:xfrm>
          <a:prstGeom prst="rect">
            <a:avLst/>
          </a:prstGeom>
        </p:spPr>
      </p:pic>
    </p:spTree>
    <p:extLst>
      <p:ext uri="{BB962C8B-B14F-4D97-AF65-F5344CB8AC3E}">
        <p14:creationId xmlns:p14="http://schemas.microsoft.com/office/powerpoint/2010/main" val="32835537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7F98DED-5546-DA3C-B108-C22552B44798}"/>
              </a:ext>
            </a:extLst>
          </p:cNvPr>
          <p:cNvPicPr>
            <a:picLocks noChangeAspect="1"/>
          </p:cNvPicPr>
          <p:nvPr/>
        </p:nvPicPr>
        <p:blipFill>
          <a:blip r:embed="rId2"/>
          <a:stretch>
            <a:fillRect/>
          </a:stretch>
        </p:blipFill>
        <p:spPr>
          <a:xfrm>
            <a:off x="450674" y="753351"/>
            <a:ext cx="11290651" cy="5351298"/>
          </a:xfrm>
          <a:prstGeom prst="rect">
            <a:avLst/>
          </a:prstGeom>
        </p:spPr>
      </p:pic>
    </p:spTree>
    <p:extLst>
      <p:ext uri="{BB962C8B-B14F-4D97-AF65-F5344CB8AC3E}">
        <p14:creationId xmlns:p14="http://schemas.microsoft.com/office/powerpoint/2010/main" val="308530362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418644" y="2526646"/>
            <a:ext cx="9189910" cy="1784048"/>
          </a:xfrm>
        </p:spPr>
        <p:txBody>
          <a:bodyPr/>
          <a:lstStyle/>
          <a:p>
            <a:r>
              <a:rPr lang="en-US" altLang="zh-CN" dirty="0"/>
              <a:t>Azure Data Lake </a:t>
            </a:r>
            <a:endParaRPr lang="en-US" dirty="0"/>
          </a:p>
        </p:txBody>
      </p:sp>
      <p:pic>
        <p:nvPicPr>
          <p:cNvPr id="11" name="Picture Placeholder 10">
            <a:extLst>
              <a:ext uri="{FF2B5EF4-FFF2-40B4-BE49-F238E27FC236}">
                <a16:creationId xmlns:a16="http://schemas.microsoft.com/office/drawing/2014/main" id="{3D017713-5F36-4B4E-A0AC-8B939E2D1595}"/>
              </a:ext>
              <a:ext uri="{C183D7F6-B498-43B3-948B-1728B52AA6E4}">
                <adec:decorative xmlns:adec="http://schemas.microsoft.com/office/drawing/2017/decorative" val="1"/>
              </a:ext>
            </a:extLst>
          </p:cNvPr>
          <p:cNvPicPr>
            <a:picLocks noGrp="1" noChangeAspect="1"/>
          </p:cNvPicPr>
          <p:nvPr>
            <p:ph type="pic" sz="quarter" idx="10"/>
          </p:nvPr>
        </p:nvPicPr>
        <p:blipFill>
          <a:blip r:embed="rId3">
            <a:extLst>
              <a:ext uri="{96DAC541-7B7A-43D3-8B79-37D633B846F1}">
                <asvg:svgBlip xmlns:asvg="http://schemas.microsoft.com/office/drawing/2016/SVG/main" r:embed="rId4"/>
              </a:ext>
            </a:extLst>
          </a:blip>
          <a:srcRect/>
          <a:stretch>
            <a:fillRect/>
          </a:stretch>
        </p:blipFill>
        <p:spPr/>
      </p:pic>
    </p:spTree>
    <p:extLst>
      <p:ext uri="{BB962C8B-B14F-4D97-AF65-F5344CB8AC3E}">
        <p14:creationId xmlns:p14="http://schemas.microsoft.com/office/powerpoint/2010/main" val="285568713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2542854-46B9-3C46-86ED-051FEA185446}"/>
              </a:ext>
            </a:extLst>
          </p:cNvPr>
          <p:cNvSpPr>
            <a:spLocks noGrp="1"/>
          </p:cNvSpPr>
          <p:nvPr>
            <p:ph type="title"/>
          </p:nvPr>
        </p:nvSpPr>
        <p:spPr>
          <a:xfrm>
            <a:off x="418643" y="440494"/>
            <a:ext cx="11341268" cy="642840"/>
          </a:xfrm>
        </p:spPr>
        <p:txBody>
          <a:bodyPr/>
          <a:lstStyle/>
          <a:p>
            <a:r>
              <a:rPr lang="en-US" dirty="0">
                <a:solidFill>
                  <a:schemeClr val="tx2">
                    <a:lumMod val="50000"/>
                  </a:schemeClr>
                </a:solidFill>
                <a:hlinkClick r:id="rId3">
                  <a:extLst>
                    <a:ext uri="{A12FA001-AC4F-418D-AE19-62706E023703}">
                      <ahyp:hlinkClr xmlns:ahyp="http://schemas.microsoft.com/office/drawing/2018/hyperlinkcolor" val="tx"/>
                    </a:ext>
                  </a:extLst>
                </a:hlinkClick>
              </a:rPr>
              <a:t>Azure Data Lake </a:t>
            </a:r>
            <a:endParaRPr lang="en-US" dirty="0">
              <a:solidFill>
                <a:schemeClr val="tx2">
                  <a:lumMod val="50000"/>
                </a:schemeClr>
              </a:solidFill>
            </a:endParaRPr>
          </a:p>
        </p:txBody>
      </p:sp>
      <p:sp>
        <p:nvSpPr>
          <p:cNvPr id="7" name="Text Placeholder 2">
            <a:extLst>
              <a:ext uri="{FF2B5EF4-FFF2-40B4-BE49-F238E27FC236}">
                <a16:creationId xmlns:a16="http://schemas.microsoft.com/office/drawing/2014/main" id="{7F3950B4-8AA3-E54A-A0FD-E9AF02B259D2}"/>
              </a:ext>
            </a:extLst>
          </p:cNvPr>
          <p:cNvSpPr>
            <a:spLocks noGrp="1"/>
          </p:cNvSpPr>
          <p:nvPr>
            <p:ph type="body" sz="quarter" idx="10"/>
          </p:nvPr>
        </p:nvSpPr>
        <p:spPr>
          <a:xfrm>
            <a:off x="432089" y="1083334"/>
            <a:ext cx="11341268" cy="430887"/>
          </a:xfrm>
        </p:spPr>
        <p:txBody>
          <a:bodyPr/>
          <a:lstStyle/>
          <a:p>
            <a:r>
              <a:rPr lang="en-US"/>
              <a:t>Azure Data Lake Storage is a comprehensive, scalable, and cost-effective data lake solution for big data analytics built into Azure. </a:t>
            </a:r>
          </a:p>
        </p:txBody>
      </p:sp>
      <p:sp>
        <p:nvSpPr>
          <p:cNvPr id="8" name="Text Placeholder 5">
            <a:extLst>
              <a:ext uri="{FF2B5EF4-FFF2-40B4-BE49-F238E27FC236}">
                <a16:creationId xmlns:a16="http://schemas.microsoft.com/office/drawing/2014/main" id="{02C2CE11-69B8-B642-A76F-134436A8702D}"/>
              </a:ext>
            </a:extLst>
          </p:cNvPr>
          <p:cNvSpPr>
            <a:spLocks noGrp="1"/>
          </p:cNvSpPr>
          <p:nvPr>
            <p:ph type="body" sz="quarter" idx="4294967295"/>
          </p:nvPr>
        </p:nvSpPr>
        <p:spPr>
          <a:xfrm>
            <a:off x="376294" y="2416312"/>
            <a:ext cx="4640263" cy="2800767"/>
          </a:xfrm>
          <a:prstGeom prst="rect">
            <a:avLst/>
          </a:prstGeom>
        </p:spPr>
        <p:txBody>
          <a:bodyPr/>
          <a:lstStyle/>
          <a:p>
            <a:pPr>
              <a:spcAft>
                <a:spcPts val="1200"/>
              </a:spcAft>
            </a:pPr>
            <a:r>
              <a:rPr lang="en-US" sz="2000">
                <a:latin typeface="+mn-lt"/>
              </a:rPr>
              <a:t>Use Azure Data Lake when you need:</a:t>
            </a:r>
          </a:p>
          <a:p>
            <a:pPr marL="285750" indent="-285750">
              <a:spcAft>
                <a:spcPts val="1200"/>
              </a:spcAft>
              <a:buFont typeface="Arial" panose="020B0604020202020204" pitchFamily="34" charset="0"/>
              <a:buChar char="•"/>
            </a:pPr>
            <a:r>
              <a:rPr lang="en-US" sz="2000">
                <a:solidFill>
                  <a:schemeClr val="tx1"/>
                </a:solidFill>
                <a:latin typeface="+mn-lt"/>
              </a:rPr>
              <a:t>a data repository on the cloud for managing large volumes of data </a:t>
            </a:r>
          </a:p>
          <a:p>
            <a:pPr marL="285750" indent="-285750">
              <a:spcAft>
                <a:spcPts val="1200"/>
              </a:spcAft>
              <a:buFont typeface="Arial" panose="020B0604020202020204" pitchFamily="34" charset="0"/>
              <a:buChar char="•"/>
            </a:pPr>
            <a:r>
              <a:rPr lang="en-US" sz="2000" spc="0">
                <a:latin typeface="+mn-lt"/>
              </a:rPr>
              <a:t>T</a:t>
            </a:r>
            <a:r>
              <a:rPr kumimoji="0" lang="en-US" sz="2000" b="0" i="0" u="none" strike="noStrike" kern="1200" cap="none" spc="0" normalizeH="0" baseline="0" noProof="0">
                <a:ln>
                  <a:noFill/>
                </a:ln>
                <a:solidFill>
                  <a:srgbClr val="000000"/>
                </a:solidFill>
                <a:effectLst/>
                <a:uLnTx/>
                <a:uFillTx/>
                <a:latin typeface="+mn-lt"/>
                <a:ea typeface="+mn-ea"/>
                <a:cs typeface="+mn-cs"/>
              </a:rPr>
              <a:t>o manage a diverse collection of data types such as JSON files, CSV, log files or other diverse formats</a:t>
            </a:r>
          </a:p>
          <a:p>
            <a:pPr marL="285750" indent="-285750">
              <a:spcAft>
                <a:spcPts val="1200"/>
              </a:spcAft>
              <a:buFont typeface="Arial" panose="020B0604020202020204" pitchFamily="34" charset="0"/>
              <a:buChar char="•"/>
            </a:pPr>
            <a:r>
              <a:rPr lang="en-US" sz="2000" spc="0">
                <a:latin typeface="+mn-lt"/>
              </a:rPr>
              <a:t>R</a:t>
            </a:r>
            <a:r>
              <a:rPr kumimoji="0" lang="en-US" sz="2000" b="0" i="0" u="none" strike="noStrike" kern="1200" cap="none" spc="0" normalizeH="0" baseline="0" noProof="0" err="1">
                <a:ln>
                  <a:noFill/>
                </a:ln>
                <a:solidFill>
                  <a:srgbClr val="000000"/>
                </a:solidFill>
                <a:effectLst/>
                <a:uLnTx/>
                <a:uFillTx/>
                <a:latin typeface="+mn-lt"/>
                <a:ea typeface="+mn-ea"/>
                <a:cs typeface="+mn-cs"/>
              </a:rPr>
              <a:t>eal</a:t>
            </a:r>
            <a:r>
              <a:rPr lang="en-US" sz="2000" spc="0">
                <a:latin typeface="+mn-lt"/>
              </a:rPr>
              <a:t>-</a:t>
            </a:r>
            <a:r>
              <a:rPr kumimoji="0" lang="en-US" sz="2000" b="0" i="0" u="none" strike="noStrike" kern="1200" cap="none" spc="0" normalizeH="0" baseline="0" noProof="0">
                <a:ln>
                  <a:noFill/>
                </a:ln>
                <a:solidFill>
                  <a:srgbClr val="000000"/>
                </a:solidFill>
                <a:effectLst/>
                <a:uLnTx/>
                <a:uFillTx/>
                <a:latin typeface="+mn-lt"/>
                <a:ea typeface="+mn-ea"/>
                <a:cs typeface="+mn-cs"/>
              </a:rPr>
              <a:t>time data ingestion and storage </a:t>
            </a:r>
            <a:endParaRPr lang="en-US" sz="2000">
              <a:latin typeface="+mn-lt"/>
            </a:endParaRPr>
          </a:p>
        </p:txBody>
      </p:sp>
      <p:sp>
        <p:nvSpPr>
          <p:cNvPr id="11" name="Rectangle 31">
            <a:extLst>
              <a:ext uri="{FF2B5EF4-FFF2-40B4-BE49-F238E27FC236}">
                <a16:creationId xmlns:a16="http://schemas.microsoft.com/office/drawing/2014/main" id="{1E161012-C8E6-409C-8AC9-36B92F6ACF61}"/>
              </a:ext>
              <a:ext uri="{C183D7F6-B498-43B3-948B-1728B52AA6E4}">
                <adec:decorative xmlns:adec="http://schemas.microsoft.com/office/drawing/2017/decorative" val="1"/>
              </a:ext>
            </a:extLst>
          </p:cNvPr>
          <p:cNvSpPr/>
          <p:nvPr/>
        </p:nvSpPr>
        <p:spPr bwMode="auto">
          <a:xfrm>
            <a:off x="5016557" y="2249623"/>
            <a:ext cx="6853116" cy="4114458"/>
          </a:xfrm>
          <a:prstGeom prst="rect">
            <a:avLst/>
          </a:prstGeom>
          <a:noFill/>
          <a:ln w="190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89642" rIns="89642" bIns="89642" numCol="1" spcCol="0" rtlCol="0" fromWordArt="0" anchor="t" anchorCtr="0" forceAA="0" compatLnSpc="1">
            <a:prstTxWarp prst="textNoShape">
              <a:avLst/>
            </a:prstTxWarp>
            <a:noAutofit/>
          </a:bodyPr>
          <a:lstStyle/>
          <a:p>
            <a:pPr defTabSz="914102" fontAlgn="base">
              <a:spcBef>
                <a:spcPct val="0"/>
              </a:spcBef>
              <a:spcAft>
                <a:spcPts val="98"/>
              </a:spcAft>
            </a:pPr>
            <a:endParaRPr lang="en-US" sz="980">
              <a:solidFill>
                <a:schemeClr val="bg1"/>
              </a:solidFill>
              <a:ea typeface="Segoe UI" pitchFamily="34" charset="0"/>
              <a:cs typeface="Segoe UI" pitchFamily="34" charset="0"/>
            </a:endParaRPr>
          </a:p>
        </p:txBody>
      </p:sp>
      <p:pic>
        <p:nvPicPr>
          <p:cNvPr id="1026" name="Picture 2" descr="Diagram showing ad hoc data and streaming data are either bulk ingested or ad hoc ingested in Azure Data Lake Storage.">
            <a:extLst>
              <a:ext uri="{FF2B5EF4-FFF2-40B4-BE49-F238E27FC236}">
                <a16:creationId xmlns:a16="http://schemas.microsoft.com/office/drawing/2014/main" id="{7CDF019A-4232-410A-B469-6A5DFE263F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8755" y="2416312"/>
            <a:ext cx="6388720" cy="3781079"/>
          </a:xfrm>
          <a:prstGeom prst="rect">
            <a:avLst/>
          </a:prstGeom>
          <a:noFill/>
        </p:spPr>
      </p:pic>
    </p:spTree>
    <p:extLst>
      <p:ext uri="{BB962C8B-B14F-4D97-AF65-F5344CB8AC3E}">
        <p14:creationId xmlns:p14="http://schemas.microsoft.com/office/powerpoint/2010/main" val="231486398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EBDD6-414C-454C-9FE7-20496BF5D795}"/>
              </a:ext>
            </a:extLst>
          </p:cNvPr>
          <p:cNvSpPr>
            <a:spLocks noGrp="1"/>
          </p:cNvSpPr>
          <p:nvPr>
            <p:ph type="title"/>
          </p:nvPr>
        </p:nvSpPr>
        <p:spPr>
          <a:xfrm>
            <a:off x="412595" y="394195"/>
            <a:ext cx="11341268" cy="680196"/>
          </a:xfrm>
        </p:spPr>
        <p:txBody>
          <a:bodyPr/>
          <a:lstStyle/>
          <a:p>
            <a:r>
              <a:rPr lang="en-US" dirty="0"/>
              <a:t>Compare Azure Data Lake to Azure Blob storage</a:t>
            </a:r>
          </a:p>
        </p:txBody>
      </p:sp>
      <p:graphicFrame>
        <p:nvGraphicFramePr>
          <p:cNvPr id="12" name="Table 12">
            <a:extLst>
              <a:ext uri="{FF2B5EF4-FFF2-40B4-BE49-F238E27FC236}">
                <a16:creationId xmlns:a16="http://schemas.microsoft.com/office/drawing/2014/main" id="{8C2914AC-C00F-4ABC-99BF-3EA1E0922CF6}"/>
              </a:ext>
            </a:extLst>
          </p:cNvPr>
          <p:cNvGraphicFramePr>
            <a:graphicFrameLocks noGrp="1"/>
          </p:cNvGraphicFramePr>
          <p:nvPr>
            <p:extLst>
              <p:ext uri="{D42A27DB-BD31-4B8C-83A1-F6EECF244321}">
                <p14:modId xmlns:p14="http://schemas.microsoft.com/office/powerpoint/2010/main" val="268799633"/>
              </p:ext>
            </p:extLst>
          </p:nvPr>
        </p:nvGraphicFramePr>
        <p:xfrm>
          <a:off x="412595" y="1271652"/>
          <a:ext cx="11441152" cy="4139442"/>
        </p:xfrm>
        <a:graphic>
          <a:graphicData uri="http://schemas.openxmlformats.org/drawingml/2006/table">
            <a:tbl>
              <a:tblPr firstRow="1" bandRow="1">
                <a:tableStyleId>{5C22544A-7EE6-4342-B048-85BDC9FD1C3A}</a:tableStyleId>
              </a:tblPr>
              <a:tblGrid>
                <a:gridCol w="2843561">
                  <a:extLst>
                    <a:ext uri="{9D8B030D-6E8A-4147-A177-3AD203B41FA5}">
                      <a16:colId xmlns:a16="http://schemas.microsoft.com/office/drawing/2014/main" val="3419358315"/>
                    </a:ext>
                  </a:extLst>
                </a:gridCol>
                <a:gridCol w="4231166">
                  <a:extLst>
                    <a:ext uri="{9D8B030D-6E8A-4147-A177-3AD203B41FA5}">
                      <a16:colId xmlns:a16="http://schemas.microsoft.com/office/drawing/2014/main" val="2428792440"/>
                    </a:ext>
                  </a:extLst>
                </a:gridCol>
                <a:gridCol w="4366425">
                  <a:extLst>
                    <a:ext uri="{9D8B030D-6E8A-4147-A177-3AD203B41FA5}">
                      <a16:colId xmlns:a16="http://schemas.microsoft.com/office/drawing/2014/main" val="16129369"/>
                    </a:ext>
                  </a:extLst>
                </a:gridCol>
              </a:tblGrid>
              <a:tr h="615673">
                <a:tc>
                  <a:txBody>
                    <a:bodyPr/>
                    <a:lstStyle/>
                    <a:p>
                      <a:pPr algn="ctr"/>
                      <a:r>
                        <a:rPr lang="en-US" sz="2000">
                          <a:solidFill>
                            <a:schemeClr val="bg1"/>
                          </a:solidFill>
                          <a:latin typeface="+mn-lt"/>
                        </a:rPr>
                        <a:t>Criteria </a:t>
                      </a:r>
                    </a:p>
                  </a:txBody>
                  <a:tcPr marL="89642" marR="89642" marT="89642" marB="8964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tc>
                  <a:txBody>
                    <a:bodyPr/>
                    <a:lstStyle/>
                    <a:p>
                      <a:pPr algn="ctr" rtl="0" fontAlgn="base"/>
                      <a:r>
                        <a:rPr kumimoji="0" lang="en-US" sz="2000" b="1" i="0" u="none" strike="noStrike" kern="1200" cap="none" spc="0" normalizeH="0" baseline="0">
                          <a:ln>
                            <a:noFill/>
                          </a:ln>
                          <a:solidFill>
                            <a:schemeClr val="bg1"/>
                          </a:solidFill>
                          <a:effectLst/>
                          <a:uLnTx/>
                          <a:uFillTx/>
                          <a:latin typeface="+mn-lt"/>
                          <a:ea typeface="+mn-ea"/>
                          <a:cs typeface="+mn-cs"/>
                        </a:rPr>
                        <a:t>Azure Data Lake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tc>
                  <a:txBody>
                    <a:bodyPr/>
                    <a:lstStyle/>
                    <a:p>
                      <a:pPr algn="ctr" rtl="0" fontAlgn="base"/>
                      <a:r>
                        <a:rPr kumimoji="0" lang="en-US" sz="2000" b="1" i="0" u="none" strike="noStrike" kern="1200" cap="none" spc="0" normalizeH="0" baseline="0">
                          <a:ln>
                            <a:noFill/>
                          </a:ln>
                          <a:solidFill>
                            <a:schemeClr val="bg1"/>
                          </a:solidFill>
                          <a:effectLst/>
                          <a:uLnTx/>
                          <a:uFillTx/>
                          <a:latin typeface="+mn-lt"/>
                          <a:ea typeface="+mn-ea"/>
                          <a:cs typeface="+mn-cs"/>
                        </a:rPr>
                        <a:t>Azure Blob Storage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4185272790"/>
                  </a:ext>
                </a:extLst>
              </a:tr>
              <a:tr h="1279259">
                <a:tc>
                  <a:txBody>
                    <a:bodyPr/>
                    <a:lstStyle/>
                    <a:p>
                      <a:pPr algn="l" rtl="0" fontAlgn="base"/>
                      <a:r>
                        <a:rPr lang="en-US" sz="2000" b="0" kern="1200" dirty="0">
                          <a:solidFill>
                            <a:schemeClr val="tx1"/>
                          </a:solidFill>
                          <a:latin typeface="+mn-lt"/>
                          <a:ea typeface="+mn-ea"/>
                          <a:cs typeface="+mn-cs"/>
                        </a:rPr>
                        <a:t>Data type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l" rtl="0" fontAlgn="base"/>
                      <a:r>
                        <a:rPr lang="en-US" sz="2000" kern="1200" dirty="0">
                          <a:solidFill>
                            <a:schemeClr val="tx1"/>
                          </a:solidFill>
                          <a:latin typeface="+mn-lt"/>
                          <a:ea typeface="+mn-ea"/>
                          <a:cs typeface="+mn-cs"/>
                        </a:rPr>
                        <a:t>Good for storing large volumes of text data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l" rtl="0" fontAlgn="base"/>
                      <a:r>
                        <a:rPr lang="en-US" sz="2000" kern="1200" dirty="0">
                          <a:solidFill>
                            <a:schemeClr val="tx1"/>
                          </a:solidFill>
                          <a:latin typeface="+mn-lt"/>
                          <a:ea typeface="+mn-ea"/>
                          <a:cs typeface="+mn-cs"/>
                        </a:rPr>
                        <a:t>Good for storing unstructured non- text-based data such as photos, videos, backup etc.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27020401"/>
                  </a:ext>
                </a:extLst>
              </a:tr>
              <a:tr h="570050">
                <a:tc>
                  <a:txBody>
                    <a:bodyPr/>
                    <a:lstStyle/>
                    <a:p>
                      <a:pPr algn="l" rtl="0" fontAlgn="base"/>
                      <a:r>
                        <a:rPr lang="en-US" sz="2000" b="0" kern="1200" dirty="0">
                          <a:solidFill>
                            <a:schemeClr val="tx1"/>
                          </a:solidFill>
                          <a:latin typeface="+mn-lt"/>
                          <a:ea typeface="+mn-ea"/>
                          <a:cs typeface="+mn-cs"/>
                        </a:rPr>
                        <a:t>Namespace support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rtl="0" fontAlgn="base"/>
                      <a:r>
                        <a:rPr lang="en-US" sz="2000" kern="1200" dirty="0">
                          <a:solidFill>
                            <a:schemeClr val="tx1"/>
                          </a:solidFill>
                          <a:latin typeface="+mn-lt"/>
                          <a:ea typeface="+mn-ea"/>
                          <a:cs typeface="+mn-cs"/>
                        </a:rPr>
                        <a:t>Supports hierarchical namespaces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rtl="0" fontAlgn="base"/>
                      <a:r>
                        <a:rPr lang="en-US" sz="2000" kern="1200" dirty="0">
                          <a:solidFill>
                            <a:schemeClr val="tx1"/>
                          </a:solidFill>
                          <a:latin typeface="+mn-lt"/>
                          <a:ea typeface="+mn-ea"/>
                          <a:cs typeface="+mn-cs"/>
                        </a:rPr>
                        <a:t>Supports flat namespaces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33554734"/>
                  </a:ext>
                </a:extLst>
              </a:tr>
              <a:tr h="891605">
                <a:tc>
                  <a:txBody>
                    <a:bodyPr/>
                    <a:lstStyle/>
                    <a:p>
                      <a:pPr algn="l" rtl="0" fontAlgn="base"/>
                      <a:r>
                        <a:rPr lang="en-US" sz="2000" b="0" kern="1200">
                          <a:solidFill>
                            <a:schemeClr val="tx1"/>
                          </a:solidFill>
                          <a:latin typeface="+mn-lt"/>
                          <a:ea typeface="+mn-ea"/>
                          <a:cs typeface="+mn-cs"/>
                        </a:rPr>
                        <a:t>Hadoop compatibility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l" rtl="0" fontAlgn="base"/>
                      <a:r>
                        <a:rPr lang="en-US" sz="2000" kern="1200" dirty="0">
                          <a:solidFill>
                            <a:schemeClr val="tx1"/>
                          </a:solidFill>
                          <a:latin typeface="+mn-lt"/>
                          <a:ea typeface="+mn-ea"/>
                          <a:cs typeface="+mn-cs"/>
                        </a:rPr>
                        <a:t>Optimized for big data, like Hadoop</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l" rtl="0" fontAlgn="base"/>
                      <a:r>
                        <a:rPr lang="en-US" sz="2000" kern="1200" dirty="0">
                          <a:solidFill>
                            <a:schemeClr val="tx1"/>
                          </a:solidFill>
                          <a:latin typeface="+mn-lt"/>
                          <a:ea typeface="+mn-ea"/>
                          <a:cs typeface="+mn-cs"/>
                        </a:rPr>
                        <a:t>Is not Hadoop compatible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66028110"/>
                  </a:ext>
                </a:extLst>
              </a:tr>
              <a:tr h="782855">
                <a:tc>
                  <a:txBody>
                    <a:bodyPr/>
                    <a:lstStyle/>
                    <a:p>
                      <a:pPr algn="l" rtl="0" fontAlgn="base"/>
                      <a:r>
                        <a:rPr lang="en-US" sz="2000" b="0" kern="1200">
                          <a:solidFill>
                            <a:schemeClr val="tx1"/>
                          </a:solidFill>
                          <a:latin typeface="+mn-lt"/>
                          <a:ea typeface="+mn-ea"/>
                          <a:cs typeface="+mn-cs"/>
                        </a:rPr>
                        <a:t>Security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rtl="0" fontAlgn="base"/>
                      <a:r>
                        <a:rPr lang="en-US" sz="2000" kern="1200" dirty="0">
                          <a:solidFill>
                            <a:schemeClr val="tx1"/>
                          </a:solidFill>
                          <a:latin typeface="+mn-lt"/>
                          <a:ea typeface="+mn-ea"/>
                          <a:cs typeface="+mn-cs"/>
                        </a:rPr>
                        <a:t>Access Control Lists (ACLs), shared keys, SAS and RBAC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rtl="0" fontAlgn="base"/>
                      <a:r>
                        <a:rPr lang="en-US" sz="2000" kern="1200" dirty="0">
                          <a:solidFill>
                            <a:schemeClr val="tx1"/>
                          </a:solidFill>
                          <a:latin typeface="+mn-lt"/>
                          <a:ea typeface="+mn-ea"/>
                          <a:cs typeface="+mn-cs"/>
                        </a:rPr>
                        <a:t>Shared keys, SAS, and RBAC</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03984107"/>
                  </a:ext>
                </a:extLst>
              </a:tr>
            </a:tbl>
          </a:graphicData>
        </a:graphic>
      </p:graphicFrame>
      <p:sp>
        <p:nvSpPr>
          <p:cNvPr id="5" name="TextBox 4">
            <a:extLst>
              <a:ext uri="{FF2B5EF4-FFF2-40B4-BE49-F238E27FC236}">
                <a16:creationId xmlns:a16="http://schemas.microsoft.com/office/drawing/2014/main" id="{7A247A83-6812-4CC0-B802-B4F9B32F779D}"/>
              </a:ext>
            </a:extLst>
          </p:cNvPr>
          <p:cNvSpPr txBox="1"/>
          <p:nvPr/>
        </p:nvSpPr>
        <p:spPr>
          <a:xfrm>
            <a:off x="412595" y="5510591"/>
            <a:ext cx="11199542" cy="363946"/>
          </a:xfrm>
          <a:prstGeom prst="rect">
            <a:avLst/>
          </a:prstGeom>
          <a:noFill/>
        </p:spPr>
        <p:txBody>
          <a:bodyPr wrap="square">
            <a:spAutoFit/>
          </a:bodyPr>
          <a:lstStyle/>
          <a:p>
            <a:r>
              <a:rPr lang="en-US" dirty="0">
                <a:solidFill>
                  <a:schemeClr val="tx2">
                    <a:lumMod val="50000"/>
                  </a:schemeClr>
                </a:solidFill>
                <a:hlinkClick r:id="rId3">
                  <a:extLst>
                    <a:ext uri="{A12FA001-AC4F-418D-AE19-62706E023703}">
                      <ahyp:hlinkClr xmlns:ahyp="http://schemas.microsoft.com/office/drawing/2018/hyperlinkcolor" val="tx"/>
                    </a:ext>
                  </a:extLst>
                </a:hlinkClick>
              </a:rPr>
              <a:t>Blob Storage feature support in Azure storage accounts | Microsoft Docs</a:t>
            </a:r>
            <a:endParaRPr lang="en-US" dirty="0">
              <a:solidFill>
                <a:schemeClr val="tx2">
                  <a:lumMod val="50000"/>
                </a:schemeClr>
              </a:solidFill>
            </a:endParaRPr>
          </a:p>
        </p:txBody>
      </p:sp>
    </p:spTree>
    <p:extLst>
      <p:ext uri="{BB962C8B-B14F-4D97-AF65-F5344CB8AC3E}">
        <p14:creationId xmlns:p14="http://schemas.microsoft.com/office/powerpoint/2010/main" val="121100257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28681" y="2532448"/>
            <a:ext cx="5807732" cy="1793104"/>
          </a:xfrm>
        </p:spPr>
        <p:txBody>
          <a:bodyPr wrap="square" anchor="b">
            <a:normAutofit/>
          </a:bodyPr>
          <a:lstStyle/>
          <a:p>
            <a:pPr>
              <a:lnSpc>
                <a:spcPct val="100000"/>
              </a:lnSpc>
            </a:pPr>
            <a:r>
              <a:rPr lang="en-US" sz="4400" b="1" dirty="0"/>
              <a:t>Azure Data analytics solution</a:t>
            </a:r>
          </a:p>
        </p:txBody>
      </p:sp>
    </p:spTree>
    <p:extLst>
      <p:ext uri="{BB962C8B-B14F-4D97-AF65-F5344CB8AC3E}">
        <p14:creationId xmlns:p14="http://schemas.microsoft.com/office/powerpoint/2010/main" val="382841430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p:txBody>
          <a:bodyPr/>
          <a:lstStyle/>
          <a:p>
            <a:r>
              <a:rPr lang="en-US" altLang="zh-CN" dirty="0"/>
              <a:t>Azure Databricks </a:t>
            </a:r>
            <a:endParaRPr lang="en-US" dirty="0"/>
          </a:p>
        </p:txBody>
      </p:sp>
      <p:pic>
        <p:nvPicPr>
          <p:cNvPr id="6" name="Picture Placeholder 5">
            <a:extLst>
              <a:ext uri="{FF2B5EF4-FFF2-40B4-BE49-F238E27FC236}">
                <a16:creationId xmlns:a16="http://schemas.microsoft.com/office/drawing/2014/main" id="{72AA43E3-AF1B-492E-88F0-3F48434B6F91}"/>
              </a:ext>
              <a:ext uri="{C183D7F6-B498-43B3-948B-1728B52AA6E4}">
                <adec:decorative xmlns:adec="http://schemas.microsoft.com/office/drawing/2017/decorative" val="1"/>
              </a:ext>
            </a:extLst>
          </p:cNvPr>
          <p:cNvPicPr>
            <a:picLocks noGrp="1" noChangeAspect="1"/>
          </p:cNvPicPr>
          <p:nvPr>
            <p:ph type="pic" sz="quarter" idx="10"/>
          </p:nvPr>
        </p:nvPicPr>
        <p:blipFill>
          <a:blip r:embed="rId3">
            <a:duotone>
              <a:prstClr val="black"/>
              <a:schemeClr val="accent4">
                <a:tint val="45000"/>
                <a:satMod val="400000"/>
              </a:schemeClr>
            </a:duotone>
            <a:extLst>
              <a:ext uri="{96DAC541-7B7A-43D3-8B79-37D633B846F1}">
                <asvg:svgBlip xmlns:asvg="http://schemas.microsoft.com/office/drawing/2016/SVG/main" r:embed="rId4"/>
              </a:ext>
            </a:extLst>
          </a:blip>
          <a:srcRect/>
          <a:stretch>
            <a:fillRect/>
          </a:stretch>
        </p:blipFill>
        <p:spPr/>
      </p:pic>
    </p:spTree>
    <p:extLst>
      <p:ext uri="{BB962C8B-B14F-4D97-AF65-F5344CB8AC3E}">
        <p14:creationId xmlns:p14="http://schemas.microsoft.com/office/powerpoint/2010/main" val="416109349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2542854-46B9-3C46-86ED-051FEA185446}"/>
              </a:ext>
            </a:extLst>
          </p:cNvPr>
          <p:cNvSpPr>
            <a:spLocks noGrp="1"/>
          </p:cNvSpPr>
          <p:nvPr>
            <p:ph type="title"/>
          </p:nvPr>
        </p:nvSpPr>
        <p:spPr>
          <a:xfrm>
            <a:off x="418643" y="440494"/>
            <a:ext cx="7914651" cy="728448"/>
          </a:xfrm>
        </p:spPr>
        <p:txBody>
          <a:bodyPr/>
          <a:lstStyle/>
          <a:p>
            <a:r>
              <a:rPr lang="en-US" dirty="0">
                <a:solidFill>
                  <a:schemeClr val="tx2">
                    <a:lumMod val="50000"/>
                  </a:schemeClr>
                </a:solidFill>
                <a:hlinkClick r:id="rId3">
                  <a:extLst>
                    <a:ext uri="{A12FA001-AC4F-418D-AE19-62706E023703}">
                      <ahyp:hlinkClr xmlns:ahyp="http://schemas.microsoft.com/office/drawing/2018/hyperlinkcolor" val="tx"/>
                    </a:ext>
                  </a:extLst>
                </a:hlinkClick>
              </a:rPr>
              <a:t>Azure Databricks</a:t>
            </a:r>
            <a:endParaRPr lang="en-US" dirty="0">
              <a:solidFill>
                <a:schemeClr val="tx2">
                  <a:lumMod val="50000"/>
                </a:schemeClr>
              </a:solidFill>
            </a:endParaRPr>
          </a:p>
        </p:txBody>
      </p:sp>
      <p:sp>
        <p:nvSpPr>
          <p:cNvPr id="7" name="Text Placeholder 2">
            <a:extLst>
              <a:ext uri="{FF2B5EF4-FFF2-40B4-BE49-F238E27FC236}">
                <a16:creationId xmlns:a16="http://schemas.microsoft.com/office/drawing/2014/main" id="{7F3950B4-8AA3-E54A-A0FD-E9AF02B259D2}"/>
              </a:ext>
            </a:extLst>
          </p:cNvPr>
          <p:cNvSpPr>
            <a:spLocks noGrp="1"/>
          </p:cNvSpPr>
          <p:nvPr>
            <p:ph type="body" sz="quarter" idx="4294967295"/>
          </p:nvPr>
        </p:nvSpPr>
        <p:spPr>
          <a:xfrm>
            <a:off x="438150" y="1087439"/>
            <a:ext cx="10913473" cy="615542"/>
          </a:xfrm>
          <a:prstGeom prst="rect">
            <a:avLst/>
          </a:prstGeom>
        </p:spPr>
        <p:txBody>
          <a:bodyPr/>
          <a:lstStyle/>
          <a:p>
            <a:r>
              <a:rPr lang="en-US" sz="2400">
                <a:solidFill>
                  <a:schemeClr val="tx2">
                    <a:lumMod val="50000"/>
                  </a:schemeClr>
                </a:solidFill>
              </a:rPr>
              <a:t>Azure Databricks is a fully managed, cloud-based Big Data and Machine Learning platform, which empowers developers to accelerate AI and innovation. </a:t>
            </a:r>
          </a:p>
          <a:p>
            <a:endParaRPr lang="en-US" sz="2400">
              <a:solidFill>
                <a:schemeClr val="tx2">
                  <a:lumMod val="50000"/>
                </a:schemeClr>
              </a:solidFill>
            </a:endParaRPr>
          </a:p>
        </p:txBody>
      </p:sp>
      <p:sp>
        <p:nvSpPr>
          <p:cNvPr id="8" name="Text Placeholder 5">
            <a:extLst>
              <a:ext uri="{FF2B5EF4-FFF2-40B4-BE49-F238E27FC236}">
                <a16:creationId xmlns:a16="http://schemas.microsoft.com/office/drawing/2014/main" id="{02C2CE11-69B8-B642-A76F-134436A8702D}"/>
              </a:ext>
            </a:extLst>
          </p:cNvPr>
          <p:cNvSpPr>
            <a:spLocks noGrp="1"/>
          </p:cNvSpPr>
          <p:nvPr>
            <p:ph type="body" sz="quarter" idx="4294967295"/>
          </p:nvPr>
        </p:nvSpPr>
        <p:spPr>
          <a:xfrm>
            <a:off x="446202" y="2524535"/>
            <a:ext cx="4639759" cy="3262432"/>
          </a:xfrm>
          <a:prstGeom prst="rect">
            <a:avLst/>
          </a:prstGeom>
        </p:spPr>
        <p:txBody>
          <a:bodyPr/>
          <a:lstStyle/>
          <a:p>
            <a:pPr>
              <a:spcAft>
                <a:spcPts val="1200"/>
              </a:spcAft>
            </a:pPr>
            <a:r>
              <a:rPr lang="en-US" sz="2000" dirty="0">
                <a:latin typeface="+mn-lt"/>
              </a:rPr>
              <a:t>Provides data science and engineering teams with a single platform for Big Data processing and Machine Learning. </a:t>
            </a:r>
          </a:p>
          <a:p>
            <a:pPr>
              <a:spcAft>
                <a:spcPts val="1200"/>
              </a:spcAft>
            </a:pPr>
            <a:r>
              <a:rPr lang="en-US" sz="2000" dirty="0">
                <a:latin typeface="+mn-lt"/>
              </a:rPr>
              <a:t>Offers three environments for developing data intensive applications: </a:t>
            </a:r>
          </a:p>
          <a:p>
            <a:pPr marL="342900" indent="-342900">
              <a:spcAft>
                <a:spcPts val="1200"/>
              </a:spcAft>
              <a:buFont typeface="Arial" panose="020B0604020202020204" pitchFamily="34" charset="0"/>
              <a:buChar char="•"/>
            </a:pPr>
            <a:r>
              <a:rPr lang="en-US" sz="2000" dirty="0">
                <a:latin typeface="+mn-lt"/>
              </a:rPr>
              <a:t>Databricks SQL </a:t>
            </a:r>
          </a:p>
          <a:p>
            <a:pPr marL="342900" indent="-342900">
              <a:spcAft>
                <a:spcPts val="1200"/>
              </a:spcAft>
              <a:buFont typeface="Arial" panose="020B0604020202020204" pitchFamily="34" charset="0"/>
              <a:buChar char="•"/>
            </a:pPr>
            <a:r>
              <a:rPr lang="en-US" sz="2000" dirty="0">
                <a:latin typeface="+mn-lt"/>
              </a:rPr>
              <a:t>Databricks Data Science &amp; Engineering</a:t>
            </a:r>
          </a:p>
          <a:p>
            <a:pPr marL="342900" indent="-342900">
              <a:spcAft>
                <a:spcPts val="1200"/>
              </a:spcAft>
              <a:buFont typeface="Arial" panose="020B0604020202020204" pitchFamily="34" charset="0"/>
              <a:buChar char="•"/>
            </a:pPr>
            <a:r>
              <a:rPr lang="en-US" sz="2000" dirty="0">
                <a:latin typeface="+mn-lt"/>
              </a:rPr>
              <a:t>Databricks Machine Learning.</a:t>
            </a:r>
          </a:p>
        </p:txBody>
      </p:sp>
      <p:sp>
        <p:nvSpPr>
          <p:cNvPr id="11" name="Rectangle 31">
            <a:extLst>
              <a:ext uri="{FF2B5EF4-FFF2-40B4-BE49-F238E27FC236}">
                <a16:creationId xmlns:a16="http://schemas.microsoft.com/office/drawing/2014/main" id="{1E161012-C8E6-409C-8AC9-36B92F6ACF61}"/>
              </a:ext>
              <a:ext uri="{C183D7F6-B498-43B3-948B-1728B52AA6E4}">
                <adec:decorative xmlns:adec="http://schemas.microsoft.com/office/drawing/2017/decorative" val="1"/>
              </a:ext>
            </a:extLst>
          </p:cNvPr>
          <p:cNvSpPr/>
          <p:nvPr/>
        </p:nvSpPr>
        <p:spPr bwMode="auto">
          <a:xfrm>
            <a:off x="5524107" y="2343693"/>
            <a:ext cx="6221691" cy="3929832"/>
          </a:xfrm>
          <a:prstGeom prst="rect">
            <a:avLst/>
          </a:prstGeom>
          <a:noFill/>
          <a:ln w="190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89642" rIns="89642" bIns="89642" numCol="1" spcCol="0" rtlCol="0" fromWordArt="0" anchor="t" anchorCtr="0" forceAA="0" compatLnSpc="1">
            <a:prstTxWarp prst="textNoShape">
              <a:avLst/>
            </a:prstTxWarp>
            <a:noAutofit/>
          </a:bodyPr>
          <a:lstStyle/>
          <a:p>
            <a:pPr defTabSz="914102" fontAlgn="base">
              <a:spcBef>
                <a:spcPct val="0"/>
              </a:spcBef>
              <a:spcAft>
                <a:spcPts val="98"/>
              </a:spcAft>
            </a:pPr>
            <a:endParaRPr lang="en-US" sz="980">
              <a:solidFill>
                <a:schemeClr val="bg1"/>
              </a:solidFill>
              <a:ea typeface="Segoe UI" pitchFamily="34" charset="0"/>
              <a:cs typeface="Segoe UI" pitchFamily="34" charset="0"/>
            </a:endParaRPr>
          </a:p>
        </p:txBody>
      </p:sp>
      <p:pic>
        <p:nvPicPr>
          <p:cNvPr id="5" name="Picture 4">
            <a:extLst>
              <a:ext uri="{FF2B5EF4-FFF2-40B4-BE49-F238E27FC236}">
                <a16:creationId xmlns:a16="http://schemas.microsoft.com/office/drawing/2014/main" id="{E408E09D-79A2-4569-69F4-BB3D238836F8}"/>
              </a:ext>
            </a:extLst>
          </p:cNvPr>
          <p:cNvPicPr>
            <a:picLocks noChangeAspect="1"/>
          </p:cNvPicPr>
          <p:nvPr/>
        </p:nvPicPr>
        <p:blipFill>
          <a:blip r:embed="rId4"/>
          <a:stretch>
            <a:fillRect/>
          </a:stretch>
        </p:blipFill>
        <p:spPr>
          <a:xfrm>
            <a:off x="5524107" y="2655207"/>
            <a:ext cx="6221691" cy="3306804"/>
          </a:xfrm>
          <a:prstGeom prst="rect">
            <a:avLst/>
          </a:prstGeom>
        </p:spPr>
      </p:pic>
    </p:spTree>
    <p:extLst>
      <p:ext uri="{BB962C8B-B14F-4D97-AF65-F5344CB8AC3E}">
        <p14:creationId xmlns:p14="http://schemas.microsoft.com/office/powerpoint/2010/main" val="306952212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C1BDA0-858E-2E1C-A614-40EDD8FDB3A1}"/>
              </a:ext>
            </a:extLst>
          </p:cNvPr>
          <p:cNvPicPr>
            <a:picLocks noChangeAspect="1"/>
          </p:cNvPicPr>
          <p:nvPr/>
        </p:nvPicPr>
        <p:blipFill>
          <a:blip r:embed="rId2"/>
          <a:stretch>
            <a:fillRect/>
          </a:stretch>
        </p:blipFill>
        <p:spPr>
          <a:xfrm>
            <a:off x="0" y="573487"/>
            <a:ext cx="12192000" cy="5711025"/>
          </a:xfrm>
          <a:prstGeom prst="rect">
            <a:avLst/>
          </a:prstGeom>
        </p:spPr>
      </p:pic>
    </p:spTree>
    <p:extLst>
      <p:ext uri="{BB962C8B-B14F-4D97-AF65-F5344CB8AC3E}">
        <p14:creationId xmlns:p14="http://schemas.microsoft.com/office/powerpoint/2010/main" val="300071958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418644" y="2526646"/>
            <a:ext cx="9189910" cy="1784048"/>
          </a:xfrm>
        </p:spPr>
        <p:txBody>
          <a:bodyPr/>
          <a:lstStyle/>
          <a:p>
            <a:r>
              <a:rPr lang="en-US" altLang="zh-CN" dirty="0"/>
              <a:t>Azure Synapse Analytics </a:t>
            </a:r>
            <a:endParaRPr lang="en-US" dirty="0"/>
          </a:p>
        </p:txBody>
      </p:sp>
      <p:pic>
        <p:nvPicPr>
          <p:cNvPr id="11" name="Picture Placeholder 10">
            <a:extLst>
              <a:ext uri="{FF2B5EF4-FFF2-40B4-BE49-F238E27FC236}">
                <a16:creationId xmlns:a16="http://schemas.microsoft.com/office/drawing/2014/main" id="{954754E5-A0D1-41E5-80BD-37AE909B26F7}"/>
              </a:ext>
              <a:ext uri="{C183D7F6-B498-43B3-948B-1728B52AA6E4}">
                <adec:decorative xmlns:adec="http://schemas.microsoft.com/office/drawing/2017/decorative" val="1"/>
              </a:ext>
            </a:extLst>
          </p:cNvPr>
          <p:cNvPicPr>
            <a:picLocks noGrp="1" noChangeAspect="1"/>
          </p:cNvPicPr>
          <p:nvPr>
            <p:ph type="pic" sz="quarter" idx="10"/>
          </p:nvPr>
        </p:nvPicPr>
        <p:blipFill>
          <a:blip r:embed="rId3">
            <a:extLst>
              <a:ext uri="{96DAC541-7B7A-43D3-8B79-37D633B846F1}">
                <asvg:svgBlip xmlns:asvg="http://schemas.microsoft.com/office/drawing/2016/SVG/main" r:embed="rId4"/>
              </a:ext>
            </a:extLst>
          </a:blip>
          <a:srcRect/>
          <a:stretch>
            <a:fillRect/>
          </a:stretch>
        </p:blipFill>
        <p:spPr/>
      </p:pic>
    </p:spTree>
    <p:extLst>
      <p:ext uri="{BB962C8B-B14F-4D97-AF65-F5344CB8AC3E}">
        <p14:creationId xmlns:p14="http://schemas.microsoft.com/office/powerpoint/2010/main" val="312987157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2542854-46B9-3C46-86ED-051FEA185446}"/>
              </a:ext>
            </a:extLst>
          </p:cNvPr>
          <p:cNvSpPr>
            <a:spLocks noGrp="1"/>
          </p:cNvSpPr>
          <p:nvPr>
            <p:ph type="title"/>
          </p:nvPr>
        </p:nvSpPr>
        <p:spPr/>
        <p:txBody>
          <a:bodyPr/>
          <a:lstStyle/>
          <a:p>
            <a:r>
              <a:rPr lang="en-US" dirty="0">
                <a:solidFill>
                  <a:schemeClr val="tx2">
                    <a:lumMod val="50000"/>
                  </a:schemeClr>
                </a:solidFill>
                <a:hlinkClick r:id="rId3">
                  <a:extLst>
                    <a:ext uri="{A12FA001-AC4F-418D-AE19-62706E023703}">
                      <ahyp:hlinkClr xmlns:ahyp="http://schemas.microsoft.com/office/drawing/2018/hyperlinkcolor" val="tx"/>
                    </a:ext>
                  </a:extLst>
                </a:hlinkClick>
              </a:rPr>
              <a:t>Azure Synapse Analytics</a:t>
            </a:r>
            <a:endParaRPr lang="en-US" dirty="0">
              <a:solidFill>
                <a:schemeClr val="tx2">
                  <a:lumMod val="50000"/>
                </a:schemeClr>
              </a:solidFill>
            </a:endParaRPr>
          </a:p>
        </p:txBody>
      </p:sp>
      <p:sp>
        <p:nvSpPr>
          <p:cNvPr id="7" name="Text Placeholder 2">
            <a:extLst>
              <a:ext uri="{FF2B5EF4-FFF2-40B4-BE49-F238E27FC236}">
                <a16:creationId xmlns:a16="http://schemas.microsoft.com/office/drawing/2014/main" id="{7F3950B4-8AA3-E54A-A0FD-E9AF02B259D2}"/>
              </a:ext>
            </a:extLst>
          </p:cNvPr>
          <p:cNvSpPr>
            <a:spLocks noGrp="1"/>
          </p:cNvSpPr>
          <p:nvPr>
            <p:ph type="body" sz="quarter" idx="10"/>
          </p:nvPr>
        </p:nvSpPr>
        <p:spPr>
          <a:xfrm>
            <a:off x="432089" y="1083334"/>
            <a:ext cx="11341268" cy="1446550"/>
          </a:xfrm>
          <a:prstGeom prst="rect">
            <a:avLst/>
          </a:prstGeom>
        </p:spPr>
        <p:txBody>
          <a:bodyPr/>
          <a:lstStyle/>
          <a:p>
            <a:r>
              <a:rPr lang="en-US"/>
              <a:t>Azure Synapse Analytics is an integrated analytics platform that brings together data integration, enterprise data warehousing, big data analytics and visualization into a single service. Azure Synapse Analytics is an evolution of Azure SQL Data Warehouse.  </a:t>
            </a:r>
          </a:p>
          <a:p>
            <a:endParaRPr lang="en-US"/>
          </a:p>
        </p:txBody>
      </p:sp>
      <p:sp>
        <p:nvSpPr>
          <p:cNvPr id="8" name="Text Placeholder 5">
            <a:extLst>
              <a:ext uri="{FF2B5EF4-FFF2-40B4-BE49-F238E27FC236}">
                <a16:creationId xmlns:a16="http://schemas.microsoft.com/office/drawing/2014/main" id="{02C2CE11-69B8-B642-A76F-134436A8702D}"/>
              </a:ext>
            </a:extLst>
          </p:cNvPr>
          <p:cNvSpPr>
            <a:spLocks noGrp="1"/>
          </p:cNvSpPr>
          <p:nvPr>
            <p:ph type="body" sz="quarter" idx="4294967295"/>
          </p:nvPr>
        </p:nvSpPr>
        <p:spPr>
          <a:xfrm>
            <a:off x="471224" y="2529884"/>
            <a:ext cx="4462463" cy="3262432"/>
          </a:xfrm>
          <a:prstGeom prst="rect">
            <a:avLst/>
          </a:prstGeom>
        </p:spPr>
        <p:txBody>
          <a:bodyPr/>
          <a:lstStyle/>
          <a:p>
            <a:pPr marL="342900" indent="-342900">
              <a:spcAft>
                <a:spcPts val="1200"/>
              </a:spcAft>
              <a:buFont typeface="Arial" panose="020B0604020202020204" pitchFamily="34" charset="0"/>
              <a:buChar char="•"/>
            </a:pPr>
            <a:r>
              <a:rPr lang="en-US" sz="2000">
                <a:latin typeface="+mn-lt"/>
              </a:rPr>
              <a:t>Modern data warehousing </a:t>
            </a:r>
          </a:p>
          <a:p>
            <a:pPr marL="342900" indent="-342900">
              <a:spcAft>
                <a:spcPts val="1200"/>
              </a:spcAft>
              <a:buFont typeface="Arial" panose="020B0604020202020204" pitchFamily="34" charset="0"/>
              <a:buChar char="•"/>
            </a:pPr>
            <a:r>
              <a:rPr lang="en-US" sz="2000">
                <a:latin typeface="+mn-lt"/>
              </a:rPr>
              <a:t>Advanced analytics </a:t>
            </a:r>
          </a:p>
          <a:p>
            <a:pPr marL="342900" indent="-342900">
              <a:spcAft>
                <a:spcPts val="1200"/>
              </a:spcAft>
              <a:buFont typeface="Arial" panose="020B0604020202020204" pitchFamily="34" charset="0"/>
              <a:buChar char="•"/>
            </a:pPr>
            <a:r>
              <a:rPr lang="en-US" sz="2000">
                <a:latin typeface="+mn-lt"/>
              </a:rPr>
              <a:t>Data exploration and discovery </a:t>
            </a:r>
          </a:p>
          <a:p>
            <a:pPr marL="342900" indent="-342900">
              <a:spcAft>
                <a:spcPts val="1200"/>
              </a:spcAft>
              <a:buFont typeface="Arial" panose="020B0604020202020204" pitchFamily="34" charset="0"/>
              <a:buChar char="•"/>
            </a:pPr>
            <a:r>
              <a:rPr lang="en-US" sz="2000">
                <a:latin typeface="+mn-lt"/>
              </a:rPr>
              <a:t>Real time analytics </a:t>
            </a:r>
          </a:p>
          <a:p>
            <a:pPr marL="342900" indent="-342900">
              <a:spcAft>
                <a:spcPts val="1200"/>
              </a:spcAft>
              <a:buFont typeface="Arial" panose="020B0604020202020204" pitchFamily="34" charset="0"/>
              <a:buChar char="•"/>
            </a:pPr>
            <a:r>
              <a:rPr lang="en-US" sz="2000">
                <a:latin typeface="+mn-lt"/>
              </a:rPr>
              <a:t>Data integration </a:t>
            </a:r>
          </a:p>
          <a:p>
            <a:pPr marL="342900" indent="-342900">
              <a:spcAft>
                <a:spcPts val="1200"/>
              </a:spcAft>
              <a:buFont typeface="Arial" panose="020B0604020202020204" pitchFamily="34" charset="0"/>
              <a:buChar char="•"/>
            </a:pPr>
            <a:r>
              <a:rPr lang="en-US" sz="2000">
                <a:latin typeface="+mn-lt"/>
              </a:rPr>
              <a:t>Integrated analytics </a:t>
            </a:r>
          </a:p>
          <a:p>
            <a:pPr marL="342900" indent="-342900">
              <a:spcAft>
                <a:spcPts val="1200"/>
              </a:spcAft>
              <a:buFont typeface="Arial" panose="020B0604020202020204" pitchFamily="34" charset="0"/>
              <a:buChar char="•"/>
            </a:pPr>
            <a:r>
              <a:rPr lang="en-US" sz="2000">
                <a:latin typeface="+mn-lt"/>
              </a:rPr>
              <a:t>Machine Learning </a:t>
            </a:r>
          </a:p>
        </p:txBody>
      </p:sp>
      <p:sp>
        <p:nvSpPr>
          <p:cNvPr id="11" name="Rectangle 31">
            <a:extLst>
              <a:ext uri="{FF2B5EF4-FFF2-40B4-BE49-F238E27FC236}">
                <a16:creationId xmlns:a16="http://schemas.microsoft.com/office/drawing/2014/main" id="{1E161012-C8E6-409C-8AC9-36B92F6ACF61}"/>
              </a:ext>
              <a:ext uri="{C183D7F6-B498-43B3-948B-1728B52AA6E4}">
                <adec:decorative xmlns:adec="http://schemas.microsoft.com/office/drawing/2017/decorative" val="1"/>
              </a:ext>
            </a:extLst>
          </p:cNvPr>
          <p:cNvSpPr/>
          <p:nvPr/>
        </p:nvSpPr>
        <p:spPr bwMode="auto">
          <a:xfrm>
            <a:off x="4199860" y="2529884"/>
            <a:ext cx="7586943" cy="3403083"/>
          </a:xfrm>
          <a:prstGeom prst="rect">
            <a:avLst/>
          </a:prstGeom>
          <a:noFill/>
          <a:ln w="190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89642" rIns="89642" bIns="89642" numCol="1" spcCol="0" rtlCol="0" fromWordArt="0" anchor="t" anchorCtr="0" forceAA="0" compatLnSpc="1">
            <a:prstTxWarp prst="textNoShape">
              <a:avLst/>
            </a:prstTxWarp>
            <a:noAutofit/>
          </a:bodyPr>
          <a:lstStyle/>
          <a:p>
            <a:pPr defTabSz="914102" fontAlgn="base">
              <a:spcBef>
                <a:spcPct val="0"/>
              </a:spcBef>
              <a:spcAft>
                <a:spcPts val="98"/>
              </a:spcAft>
            </a:pPr>
            <a:endParaRPr lang="en-US" sz="980">
              <a:solidFill>
                <a:schemeClr val="bg1"/>
              </a:solidFill>
              <a:ea typeface="Segoe UI" pitchFamily="34" charset="0"/>
              <a:cs typeface="Segoe UI" pitchFamily="34" charset="0"/>
            </a:endParaRPr>
          </a:p>
        </p:txBody>
      </p:sp>
      <p:pic>
        <p:nvPicPr>
          <p:cNvPr id="1026" name="Picture 2" descr="Diagram of modern Data warehouse process with Synapse.">
            <a:extLst>
              <a:ext uri="{FF2B5EF4-FFF2-40B4-BE49-F238E27FC236}">
                <a16:creationId xmlns:a16="http://schemas.microsoft.com/office/drawing/2014/main" id="{F10AB6C9-4871-40F8-BE12-BDC02D9A99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5676" y="2993426"/>
            <a:ext cx="7485100" cy="2503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446959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EBDD6-414C-454C-9FE7-20496BF5D795}"/>
              </a:ext>
            </a:extLst>
          </p:cNvPr>
          <p:cNvSpPr>
            <a:spLocks noGrp="1"/>
          </p:cNvSpPr>
          <p:nvPr>
            <p:ph type="title"/>
          </p:nvPr>
        </p:nvSpPr>
        <p:spPr>
          <a:xfrm>
            <a:off x="548639" y="342958"/>
            <a:ext cx="11167873" cy="1059122"/>
          </a:xfrm>
        </p:spPr>
        <p:txBody>
          <a:bodyPr/>
          <a:lstStyle/>
          <a:p>
            <a:r>
              <a:rPr lang="en-US" dirty="0"/>
              <a:t>Compare Azure Data Factory to Azure Synapse Analytics</a:t>
            </a:r>
          </a:p>
        </p:txBody>
      </p:sp>
      <p:graphicFrame>
        <p:nvGraphicFramePr>
          <p:cNvPr id="12" name="Table 12">
            <a:extLst>
              <a:ext uri="{FF2B5EF4-FFF2-40B4-BE49-F238E27FC236}">
                <a16:creationId xmlns:a16="http://schemas.microsoft.com/office/drawing/2014/main" id="{8C2914AC-C00F-4ABC-99BF-3EA1E0922CF6}"/>
              </a:ext>
            </a:extLst>
          </p:cNvPr>
          <p:cNvGraphicFramePr>
            <a:graphicFrameLocks noGrp="1"/>
          </p:cNvGraphicFramePr>
          <p:nvPr>
            <p:extLst>
              <p:ext uri="{D42A27DB-BD31-4B8C-83A1-F6EECF244321}">
                <p14:modId xmlns:p14="http://schemas.microsoft.com/office/powerpoint/2010/main" val="3185796516"/>
              </p:ext>
            </p:extLst>
          </p:nvPr>
        </p:nvGraphicFramePr>
        <p:xfrm>
          <a:off x="548639" y="1402080"/>
          <a:ext cx="11167873" cy="3580318"/>
        </p:xfrm>
        <a:graphic>
          <a:graphicData uri="http://schemas.openxmlformats.org/drawingml/2006/table">
            <a:tbl>
              <a:tblPr firstRow="1" bandRow="1">
                <a:tableStyleId>{5C22544A-7EE6-4342-B048-85BDC9FD1C3A}</a:tableStyleId>
              </a:tblPr>
              <a:tblGrid>
                <a:gridCol w="2775641">
                  <a:extLst>
                    <a:ext uri="{9D8B030D-6E8A-4147-A177-3AD203B41FA5}">
                      <a16:colId xmlns:a16="http://schemas.microsoft.com/office/drawing/2014/main" val="3419358315"/>
                    </a:ext>
                  </a:extLst>
                </a:gridCol>
                <a:gridCol w="4111752">
                  <a:extLst>
                    <a:ext uri="{9D8B030D-6E8A-4147-A177-3AD203B41FA5}">
                      <a16:colId xmlns:a16="http://schemas.microsoft.com/office/drawing/2014/main" val="2428792440"/>
                    </a:ext>
                  </a:extLst>
                </a:gridCol>
                <a:gridCol w="4280480">
                  <a:extLst>
                    <a:ext uri="{9D8B030D-6E8A-4147-A177-3AD203B41FA5}">
                      <a16:colId xmlns:a16="http://schemas.microsoft.com/office/drawing/2014/main" val="16129369"/>
                    </a:ext>
                  </a:extLst>
                </a:gridCol>
              </a:tblGrid>
              <a:tr h="527082">
                <a:tc>
                  <a:txBody>
                    <a:bodyPr/>
                    <a:lstStyle/>
                    <a:p>
                      <a:pPr algn="ctr"/>
                      <a:r>
                        <a:rPr lang="en-US" sz="2000">
                          <a:solidFill>
                            <a:schemeClr val="bg1"/>
                          </a:solidFill>
                          <a:latin typeface="+mn-lt"/>
                        </a:rPr>
                        <a:t>Criteria </a:t>
                      </a:r>
                    </a:p>
                  </a:txBody>
                  <a:tcPr marL="89642" marR="89642" marT="89642" marB="8964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tc>
                  <a:txBody>
                    <a:bodyPr/>
                    <a:lstStyle/>
                    <a:p>
                      <a:pPr algn="ctr" rtl="0" fontAlgn="base"/>
                      <a:r>
                        <a:rPr kumimoji="0" lang="en-US" sz="2000" b="1" i="0" u="none" strike="noStrike" kern="1200" cap="none" spc="0" normalizeH="0" baseline="0">
                          <a:ln>
                            <a:noFill/>
                          </a:ln>
                          <a:solidFill>
                            <a:schemeClr val="bg1"/>
                          </a:solidFill>
                          <a:effectLst/>
                          <a:uLnTx/>
                          <a:uFillTx/>
                          <a:latin typeface="+mn-lt"/>
                          <a:ea typeface="+mn-ea"/>
                          <a:cs typeface="+mn-cs"/>
                        </a:rPr>
                        <a:t>Azure Data Factory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tc>
                  <a:txBody>
                    <a:bodyPr/>
                    <a:lstStyle/>
                    <a:p>
                      <a:pPr algn="ctr" rtl="0" fontAlgn="base"/>
                      <a:r>
                        <a:rPr kumimoji="0" lang="en-US" sz="2000" b="1" i="0" u="none" strike="noStrike" kern="1200" cap="none" spc="0" normalizeH="0" baseline="0">
                          <a:ln>
                            <a:noFill/>
                          </a:ln>
                          <a:solidFill>
                            <a:schemeClr val="bg1"/>
                          </a:solidFill>
                          <a:effectLst/>
                          <a:uLnTx/>
                          <a:uFillTx/>
                          <a:latin typeface="+mn-lt"/>
                          <a:ea typeface="+mn-ea"/>
                          <a:cs typeface="+mn-cs"/>
                        </a:rPr>
                        <a:t>Azure Synapse Analytics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4185272790"/>
                  </a:ext>
                </a:extLst>
              </a:tr>
              <a:tr h="763309">
                <a:tc>
                  <a:txBody>
                    <a:bodyPr/>
                    <a:lstStyle/>
                    <a:p>
                      <a:pPr algn="l" rtl="0" fontAlgn="base"/>
                      <a:r>
                        <a:rPr lang="en-US" sz="2000" b="0" kern="1200" dirty="0">
                          <a:solidFill>
                            <a:schemeClr val="tx1"/>
                          </a:solidFill>
                          <a:latin typeface="+mn-lt"/>
                          <a:ea typeface="+mn-ea"/>
                          <a:cs typeface="+mn-cs"/>
                        </a:rPr>
                        <a:t>Integration runtime sharing</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rtl="0" fontAlgn="base"/>
                      <a:r>
                        <a:rPr lang="en-US" sz="2000" kern="1200">
                          <a:solidFill>
                            <a:schemeClr val="tx1"/>
                          </a:solidFill>
                          <a:latin typeface="+mn-lt"/>
                          <a:ea typeface="+mn-ea"/>
                          <a:cs typeface="+mn-cs"/>
                        </a:rPr>
                        <a:t>Can be shared across different data factories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rtl="0" fontAlgn="base"/>
                      <a:r>
                        <a:rPr lang="en-US" sz="2000" kern="1200" dirty="0">
                          <a:solidFill>
                            <a:schemeClr val="tx1"/>
                          </a:solidFill>
                          <a:latin typeface="+mn-lt"/>
                          <a:ea typeface="+mn-ea"/>
                          <a:cs typeface="+mn-cs"/>
                        </a:rPr>
                        <a:t>No sharing</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27020401"/>
                  </a:ext>
                </a:extLst>
              </a:tr>
              <a:tr h="763309">
                <a:tc>
                  <a:txBody>
                    <a:bodyPr/>
                    <a:lstStyle/>
                    <a:p>
                      <a:pPr algn="l" rtl="0" fontAlgn="base"/>
                      <a:r>
                        <a:rPr lang="en-US" sz="2000" b="0" kern="1200">
                          <a:solidFill>
                            <a:schemeClr val="tx1"/>
                          </a:solidFill>
                          <a:latin typeface="+mn-lt"/>
                          <a:ea typeface="+mn-ea"/>
                          <a:cs typeface="+mn-cs"/>
                        </a:rPr>
                        <a:t>Solution templates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l" rtl="0" fontAlgn="base"/>
                      <a:r>
                        <a:rPr lang="en-US" sz="2000" kern="1200">
                          <a:solidFill>
                            <a:schemeClr val="tx1"/>
                          </a:solidFill>
                          <a:latin typeface="+mn-lt"/>
                          <a:ea typeface="+mn-ea"/>
                          <a:cs typeface="+mn-cs"/>
                        </a:rPr>
                        <a:t>Provided with Azure Data Factory template gallery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l" rtl="0" fontAlgn="base"/>
                      <a:r>
                        <a:rPr lang="en-US" sz="2000" kern="1200">
                          <a:solidFill>
                            <a:schemeClr val="tx1"/>
                          </a:solidFill>
                          <a:latin typeface="+mn-lt"/>
                          <a:ea typeface="+mn-ea"/>
                          <a:cs typeface="+mn-cs"/>
                        </a:rPr>
                        <a:t>Provided with Synapse Workspace Knowledge center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60495186"/>
                  </a:ext>
                </a:extLst>
              </a:tr>
              <a:tr h="763309">
                <a:tc>
                  <a:txBody>
                    <a:bodyPr/>
                    <a:lstStyle/>
                    <a:p>
                      <a:pPr algn="l" rtl="0" fontAlgn="base"/>
                      <a:r>
                        <a:rPr lang="en-US" sz="2000" b="0" kern="1200">
                          <a:solidFill>
                            <a:schemeClr val="tx1"/>
                          </a:solidFill>
                          <a:latin typeface="+mn-lt"/>
                          <a:ea typeface="+mn-ea"/>
                          <a:cs typeface="+mn-cs"/>
                        </a:rPr>
                        <a:t>Integration Runtime cross region support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rtl="0" fontAlgn="base"/>
                      <a:r>
                        <a:rPr lang="en-US" sz="2000" kern="1200">
                          <a:solidFill>
                            <a:schemeClr val="tx1"/>
                          </a:solidFill>
                          <a:latin typeface="+mn-lt"/>
                          <a:ea typeface="+mn-ea"/>
                          <a:cs typeface="+mn-cs"/>
                        </a:rPr>
                        <a:t>Support Cross region data flows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rtl="0" fontAlgn="base"/>
                      <a:r>
                        <a:rPr lang="en-US" sz="2000" kern="1200">
                          <a:solidFill>
                            <a:schemeClr val="tx1"/>
                          </a:solidFill>
                          <a:latin typeface="+mn-lt"/>
                          <a:ea typeface="+mn-ea"/>
                          <a:cs typeface="+mn-cs"/>
                        </a:rPr>
                        <a:t>Does not support cross region data flows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33554734"/>
                  </a:ext>
                </a:extLst>
              </a:tr>
              <a:tr h="763309">
                <a:tc>
                  <a:txBody>
                    <a:bodyPr/>
                    <a:lstStyle/>
                    <a:p>
                      <a:pPr algn="l" rtl="0" fontAlgn="base"/>
                      <a:r>
                        <a:rPr lang="en-US" sz="2000" b="0" kern="1200">
                          <a:solidFill>
                            <a:schemeClr val="tx1"/>
                          </a:solidFill>
                          <a:latin typeface="+mn-lt"/>
                          <a:ea typeface="+mn-ea"/>
                          <a:cs typeface="+mn-cs"/>
                        </a:rPr>
                        <a:t>Monitoring of Spark Jobs for Data Flow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rtl="0" fontAlgn="base"/>
                      <a:r>
                        <a:rPr lang="en-US" sz="2000" kern="1200">
                          <a:solidFill>
                            <a:schemeClr val="tx1"/>
                          </a:solidFill>
                          <a:latin typeface="+mn-lt"/>
                          <a:ea typeface="+mn-ea"/>
                          <a:cs typeface="+mn-cs"/>
                        </a:rPr>
                        <a:t>Not supported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rtl="0" fontAlgn="base"/>
                      <a:r>
                        <a:rPr lang="en-US" sz="2000" kern="1200" dirty="0">
                          <a:solidFill>
                            <a:schemeClr val="tx1"/>
                          </a:solidFill>
                          <a:latin typeface="+mn-lt"/>
                          <a:ea typeface="+mn-ea"/>
                          <a:cs typeface="+mn-cs"/>
                        </a:rPr>
                        <a:t>Supported by the Synapse Spark pools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03984107"/>
                  </a:ext>
                </a:extLst>
              </a:tr>
            </a:tbl>
          </a:graphicData>
        </a:graphic>
      </p:graphicFrame>
    </p:spTree>
    <p:extLst>
      <p:ext uri="{BB962C8B-B14F-4D97-AF65-F5344CB8AC3E}">
        <p14:creationId xmlns:p14="http://schemas.microsoft.com/office/powerpoint/2010/main" val="406741923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37517-4597-4448-BB61-F3877586BE63}"/>
              </a:ext>
            </a:extLst>
          </p:cNvPr>
          <p:cNvSpPr>
            <a:spLocks noGrp="1"/>
          </p:cNvSpPr>
          <p:nvPr>
            <p:ph type="title"/>
          </p:nvPr>
        </p:nvSpPr>
        <p:spPr/>
        <p:txBody>
          <a:bodyPr/>
          <a:lstStyle/>
          <a:p>
            <a:r>
              <a:rPr lang="en-US"/>
              <a:t>Compare Synapse to Databricks</a:t>
            </a:r>
          </a:p>
        </p:txBody>
      </p:sp>
      <p:sp>
        <p:nvSpPr>
          <p:cNvPr id="3" name="Text Placeholder 2">
            <a:extLst>
              <a:ext uri="{FF2B5EF4-FFF2-40B4-BE49-F238E27FC236}">
                <a16:creationId xmlns:a16="http://schemas.microsoft.com/office/drawing/2014/main" id="{31025AEA-A807-449E-B8A9-A73A8D1DF9C0}"/>
              </a:ext>
            </a:extLst>
          </p:cNvPr>
          <p:cNvSpPr>
            <a:spLocks noGrp="1"/>
          </p:cNvSpPr>
          <p:nvPr>
            <p:ph type="body" sz="quarter" idx="10"/>
          </p:nvPr>
        </p:nvSpPr>
        <p:spPr>
          <a:xfrm>
            <a:off x="432089" y="1083334"/>
            <a:ext cx="11341268" cy="769441"/>
          </a:xfrm>
        </p:spPr>
        <p:txBody>
          <a:bodyPr/>
          <a:lstStyle/>
          <a:p>
            <a:r>
              <a:rPr lang="en-US" dirty="0"/>
              <a:t>Azure Synapse Analytics and Azure Databricks offer different capabilities which may be combined if required</a:t>
            </a:r>
            <a:endParaRPr lang="en-US"/>
          </a:p>
        </p:txBody>
      </p:sp>
      <p:graphicFrame>
        <p:nvGraphicFramePr>
          <p:cNvPr id="6" name="Table 6">
            <a:extLst>
              <a:ext uri="{FF2B5EF4-FFF2-40B4-BE49-F238E27FC236}">
                <a16:creationId xmlns:a16="http://schemas.microsoft.com/office/drawing/2014/main" id="{04A98C17-8E90-4DA3-B644-7E202B0135FA}"/>
              </a:ext>
            </a:extLst>
          </p:cNvPr>
          <p:cNvGraphicFramePr>
            <a:graphicFrameLocks noGrp="1"/>
          </p:cNvGraphicFramePr>
          <p:nvPr>
            <p:extLst>
              <p:ext uri="{D42A27DB-BD31-4B8C-83A1-F6EECF244321}">
                <p14:modId xmlns:p14="http://schemas.microsoft.com/office/powerpoint/2010/main" val="2940691799"/>
              </p:ext>
            </p:extLst>
          </p:nvPr>
        </p:nvGraphicFramePr>
        <p:xfrm>
          <a:off x="418643" y="1941087"/>
          <a:ext cx="11166354" cy="3664397"/>
        </p:xfrm>
        <a:graphic>
          <a:graphicData uri="http://schemas.openxmlformats.org/drawingml/2006/table">
            <a:tbl>
              <a:tblPr firstRow="1" bandRow="1">
                <a:tableStyleId>{5C22544A-7EE6-4342-B048-85BDC9FD1C3A}</a:tableStyleId>
              </a:tblPr>
              <a:tblGrid>
                <a:gridCol w="2359238">
                  <a:extLst>
                    <a:ext uri="{9D8B030D-6E8A-4147-A177-3AD203B41FA5}">
                      <a16:colId xmlns:a16="http://schemas.microsoft.com/office/drawing/2014/main" val="3769734891"/>
                    </a:ext>
                  </a:extLst>
                </a:gridCol>
                <a:gridCol w="4218171">
                  <a:extLst>
                    <a:ext uri="{9D8B030D-6E8A-4147-A177-3AD203B41FA5}">
                      <a16:colId xmlns:a16="http://schemas.microsoft.com/office/drawing/2014/main" val="447200777"/>
                    </a:ext>
                  </a:extLst>
                </a:gridCol>
                <a:gridCol w="4588945">
                  <a:extLst>
                    <a:ext uri="{9D8B030D-6E8A-4147-A177-3AD203B41FA5}">
                      <a16:colId xmlns:a16="http://schemas.microsoft.com/office/drawing/2014/main" val="1434033861"/>
                    </a:ext>
                  </a:extLst>
                </a:gridCol>
              </a:tblGrid>
              <a:tr h="423128">
                <a:tc>
                  <a:txBody>
                    <a:bodyPr/>
                    <a:lstStyle/>
                    <a:p>
                      <a:r>
                        <a:rPr lang="en-US" sz="1800" dirty="0"/>
                        <a:t>Capabilities </a:t>
                      </a:r>
                    </a:p>
                  </a:txBody>
                  <a:tcPr/>
                </a:tc>
                <a:tc>
                  <a:txBody>
                    <a:bodyPr/>
                    <a:lstStyle/>
                    <a:p>
                      <a:pPr algn="ctr"/>
                      <a:r>
                        <a:rPr lang="en-US" sz="1800" dirty="0"/>
                        <a:t>Databricks</a:t>
                      </a:r>
                    </a:p>
                  </a:txBody>
                  <a:tcPr/>
                </a:tc>
                <a:tc>
                  <a:txBody>
                    <a:bodyPr/>
                    <a:lstStyle/>
                    <a:p>
                      <a:pPr algn="ctr"/>
                      <a:r>
                        <a:rPr lang="en-US" sz="1800" dirty="0"/>
                        <a:t>Synapse</a:t>
                      </a:r>
                    </a:p>
                  </a:txBody>
                  <a:tcPr/>
                </a:tc>
                <a:extLst>
                  <a:ext uri="{0D108BD9-81ED-4DB2-BD59-A6C34878D82A}">
                    <a16:rowId xmlns:a16="http://schemas.microsoft.com/office/drawing/2014/main" val="3180151155"/>
                  </a:ext>
                </a:extLst>
              </a:tr>
              <a:tr h="1295214">
                <a:tc>
                  <a:txBody>
                    <a:bodyPr/>
                    <a:lstStyle/>
                    <a:p>
                      <a:r>
                        <a:rPr lang="en-US" sz="1800" b="0" dirty="0"/>
                        <a:t>Machine Learning</a:t>
                      </a:r>
                    </a:p>
                  </a:txBody>
                  <a:tcPr/>
                </a:tc>
                <a:tc>
                  <a:txBody>
                    <a:bodyPr/>
                    <a:lstStyle/>
                    <a:p>
                      <a:pPr marL="285750" indent="-285750">
                        <a:buFont typeface="Arial" panose="020B0604020202020204" pitchFamily="34" charset="0"/>
                        <a:buChar char="•"/>
                      </a:pPr>
                      <a:r>
                        <a:rPr lang="en-US" sz="1800" dirty="0"/>
                        <a:t>Optimized runtimes with support for TensorFlow, </a:t>
                      </a:r>
                      <a:r>
                        <a:rPr lang="en-US" sz="1800" dirty="0" err="1"/>
                        <a:t>PyTorch</a:t>
                      </a:r>
                      <a:r>
                        <a:rPr lang="en-US" sz="1800" dirty="0"/>
                        <a:t>, and </a:t>
                      </a:r>
                      <a:r>
                        <a:rPr lang="en-US" sz="1800" dirty="0" err="1"/>
                        <a:t>Keras</a:t>
                      </a:r>
                      <a:r>
                        <a:rPr lang="en-US" sz="1800" dirty="0"/>
                        <a:t>.  </a:t>
                      </a:r>
                    </a:p>
                    <a:p>
                      <a:pPr marL="285750" indent="-285750">
                        <a:buFont typeface="Arial" panose="020B0604020202020204" pitchFamily="34" charset="0"/>
                        <a:buChar char="•"/>
                      </a:pPr>
                      <a:r>
                        <a:rPr lang="en-US" sz="1800" dirty="0"/>
                        <a:t>GPU support</a:t>
                      </a:r>
                    </a:p>
                  </a:txBody>
                  <a:tcPr>
                    <a:solidFill>
                      <a:schemeClr val="bg1">
                        <a:lumMod val="95000"/>
                      </a:schemeClr>
                    </a:solidFill>
                  </a:tcPr>
                </a:tc>
                <a:tc>
                  <a:txBody>
                    <a:bodyPr/>
                    <a:lstStyle/>
                    <a:p>
                      <a:pPr marL="285750" indent="-285750">
                        <a:buFont typeface="Arial" panose="020B0604020202020204" pitchFamily="34" charset="0"/>
                        <a:buChar char="•"/>
                      </a:pPr>
                      <a:r>
                        <a:rPr lang="en-US" sz="1800" dirty="0"/>
                        <a:t>Built-in support Azure ML</a:t>
                      </a:r>
                    </a:p>
                    <a:p>
                      <a:pPr marL="285750" indent="-285750">
                        <a:buFont typeface="Arial" panose="020B0604020202020204" pitchFamily="34" charset="0"/>
                        <a:buChar char="•"/>
                      </a:pPr>
                      <a:r>
                        <a:rPr lang="en-US" sz="1765" b="0" i="0" kern="1200" dirty="0">
                          <a:solidFill>
                            <a:schemeClr val="dk1"/>
                          </a:solidFill>
                          <a:effectLst/>
                          <a:latin typeface="+mn-lt"/>
                          <a:ea typeface="+mn-ea"/>
                          <a:cs typeface="+mn-cs"/>
                        </a:rPr>
                        <a:t>Train models using </a:t>
                      </a:r>
                      <a:r>
                        <a:rPr lang="en-US" sz="1765" b="0" i="0" kern="1200" dirty="0" err="1">
                          <a:solidFill>
                            <a:schemeClr val="dk1"/>
                          </a:solidFill>
                          <a:effectLst/>
                          <a:latin typeface="+mn-lt"/>
                          <a:ea typeface="+mn-ea"/>
                          <a:cs typeface="+mn-cs"/>
                        </a:rPr>
                        <a:t>SparkML</a:t>
                      </a:r>
                      <a:r>
                        <a:rPr lang="en-US" sz="1765" b="0" i="0" kern="1200" dirty="0">
                          <a:solidFill>
                            <a:schemeClr val="dk1"/>
                          </a:solidFill>
                          <a:effectLst/>
                          <a:latin typeface="+mn-lt"/>
                          <a:ea typeface="+mn-ea"/>
                          <a:cs typeface="+mn-cs"/>
                        </a:rPr>
                        <a:t>, </a:t>
                      </a:r>
                      <a:r>
                        <a:rPr lang="en-US" sz="1765" b="0" i="0" kern="1200" dirty="0" err="1">
                          <a:solidFill>
                            <a:schemeClr val="dk1"/>
                          </a:solidFill>
                          <a:effectLst/>
                          <a:latin typeface="+mn-lt"/>
                          <a:ea typeface="+mn-ea"/>
                          <a:cs typeface="+mn-cs"/>
                        </a:rPr>
                        <a:t>MLlib</a:t>
                      </a:r>
                      <a:r>
                        <a:rPr lang="en-US" sz="1765" b="0" i="0" kern="1200" dirty="0">
                          <a:solidFill>
                            <a:schemeClr val="dk1"/>
                          </a:solidFill>
                          <a:effectLst/>
                          <a:latin typeface="+mn-lt"/>
                          <a:ea typeface="+mn-ea"/>
                          <a:cs typeface="+mn-cs"/>
                        </a:rPr>
                        <a:t> and other open-source libraries</a:t>
                      </a:r>
                    </a:p>
                    <a:p>
                      <a:pPr marL="285750" indent="-285750">
                        <a:buFont typeface="Arial" panose="020B0604020202020204" pitchFamily="34" charset="0"/>
                        <a:buChar char="•"/>
                      </a:pPr>
                      <a:r>
                        <a:rPr lang="en-US" sz="1765" b="0" i="0" kern="1200" dirty="0">
                          <a:solidFill>
                            <a:schemeClr val="dk1"/>
                          </a:solidFill>
                          <a:effectLst/>
                          <a:latin typeface="+mn-lt"/>
                          <a:ea typeface="+mn-ea"/>
                          <a:cs typeface="+mn-cs"/>
                        </a:rPr>
                        <a:t>GPU-accelerated pools</a:t>
                      </a:r>
                      <a:endParaRPr lang="en-US" sz="1800" dirty="0"/>
                    </a:p>
                  </a:txBody>
                  <a:tcPr>
                    <a:solidFill>
                      <a:schemeClr val="bg1">
                        <a:lumMod val="95000"/>
                      </a:schemeClr>
                    </a:solidFill>
                  </a:tcPr>
                </a:tc>
                <a:extLst>
                  <a:ext uri="{0D108BD9-81ED-4DB2-BD59-A6C34878D82A}">
                    <a16:rowId xmlns:a16="http://schemas.microsoft.com/office/drawing/2014/main" val="1829200400"/>
                  </a:ext>
                </a:extLst>
              </a:tr>
              <a:tr h="1305975">
                <a:tc>
                  <a:txBody>
                    <a:bodyPr/>
                    <a:lstStyle/>
                    <a:p>
                      <a:r>
                        <a:rPr lang="en-US" sz="1800" b="0"/>
                        <a:t>Feature Set</a:t>
                      </a:r>
                      <a:endParaRPr lang="en-US" sz="1800" b="0" dirty="0"/>
                    </a:p>
                  </a:txBody>
                  <a:tcPr/>
                </a:tc>
                <a:tc>
                  <a:txBody>
                    <a:bodyPr/>
                    <a:lstStyle/>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Optimized Apache Spark environment</a:t>
                      </a:r>
                      <a:endParaRPr lang="en-US" sz="1800" dirty="0"/>
                    </a:p>
                  </a:txBody>
                  <a:tcPr>
                    <a:solidFill>
                      <a:schemeClr val="bg1"/>
                    </a:solidFill>
                  </a:tcPr>
                </a:tc>
                <a:tc>
                  <a:txBody>
                    <a:bodyPr/>
                    <a:lstStyle/>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Distributed T-SQL system</a:t>
                      </a:r>
                    </a:p>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Spark environment</a:t>
                      </a:r>
                    </a:p>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Data Integration</a:t>
                      </a:r>
                    </a:p>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Unified experience with Synapse Studio</a:t>
                      </a:r>
                    </a:p>
                  </a:txBody>
                  <a:tcPr>
                    <a:solidFill>
                      <a:schemeClr val="bg1"/>
                    </a:solidFill>
                  </a:tcPr>
                </a:tc>
                <a:extLst>
                  <a:ext uri="{0D108BD9-81ED-4DB2-BD59-A6C34878D82A}">
                    <a16:rowId xmlns:a16="http://schemas.microsoft.com/office/drawing/2014/main" val="1399326254"/>
                  </a:ext>
                </a:extLst>
              </a:tr>
              <a:tr h="423128">
                <a:tc>
                  <a:txBody>
                    <a:bodyPr/>
                    <a:lstStyle/>
                    <a:p>
                      <a:r>
                        <a:rPr lang="en-US" sz="1800" b="0" dirty="0"/>
                        <a:t>Reporting</a:t>
                      </a:r>
                    </a:p>
                  </a:txBody>
                  <a:tcPr>
                    <a:solidFill>
                      <a:schemeClr val="bg1">
                        <a:lumMod val="95000"/>
                      </a:schemeClr>
                    </a:solidFill>
                  </a:tcPr>
                </a:tc>
                <a:tc>
                  <a:txBody>
                    <a:bodyPr/>
                    <a:lstStyle/>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kern="1200" dirty="0">
                          <a:solidFill>
                            <a:schemeClr val="dk1"/>
                          </a:solidFill>
                          <a:effectLst/>
                          <a:latin typeface="+mn-lt"/>
                          <a:ea typeface="+mn-ea"/>
                          <a:cs typeface="+mn-cs"/>
                        </a:rPr>
                        <a:t>Azure Databricks connection available in </a:t>
                      </a:r>
                      <a:r>
                        <a:rPr lang="en-US" sz="1800" b="0" i="0" kern="1200" dirty="0" err="1">
                          <a:solidFill>
                            <a:schemeClr val="dk1"/>
                          </a:solidFill>
                          <a:effectLst/>
                          <a:latin typeface="+mn-lt"/>
                          <a:ea typeface="+mn-ea"/>
                          <a:cs typeface="+mn-cs"/>
                        </a:rPr>
                        <a:t>PowerBI</a:t>
                      </a:r>
                      <a:endParaRPr lang="en-US" sz="1800" b="0" i="0" kern="1200" dirty="0">
                        <a:solidFill>
                          <a:schemeClr val="dk1"/>
                        </a:solidFill>
                        <a:effectLst/>
                        <a:latin typeface="+mn-lt"/>
                        <a:ea typeface="+mn-ea"/>
                        <a:cs typeface="+mn-cs"/>
                      </a:endParaRPr>
                    </a:p>
                  </a:txBody>
                  <a:tcPr>
                    <a:solidFill>
                      <a:schemeClr val="bg1">
                        <a:lumMod val="95000"/>
                      </a:schemeClr>
                    </a:solidFill>
                  </a:tcPr>
                </a:tc>
                <a:tc>
                  <a:txBody>
                    <a:bodyPr/>
                    <a:lstStyle/>
                    <a:p>
                      <a:pPr marL="285750" indent="-285750">
                        <a:buFont typeface="Arial" panose="020B0604020202020204" pitchFamily="34" charset="0"/>
                        <a:buChar char="•"/>
                      </a:pPr>
                      <a:r>
                        <a:rPr lang="en-US" sz="1800" dirty="0"/>
                        <a:t>PowerBI available directly from Synapse Studio</a:t>
                      </a:r>
                    </a:p>
                  </a:txBody>
                  <a:tcPr>
                    <a:solidFill>
                      <a:schemeClr val="bg1">
                        <a:lumMod val="95000"/>
                      </a:schemeClr>
                    </a:solidFill>
                  </a:tcPr>
                </a:tc>
                <a:extLst>
                  <a:ext uri="{0D108BD9-81ED-4DB2-BD59-A6C34878D82A}">
                    <a16:rowId xmlns:a16="http://schemas.microsoft.com/office/drawing/2014/main" val="2356180359"/>
                  </a:ext>
                </a:extLst>
              </a:tr>
            </a:tbl>
          </a:graphicData>
        </a:graphic>
      </p:graphicFrame>
    </p:spTree>
    <p:extLst>
      <p:ext uri="{BB962C8B-B14F-4D97-AF65-F5344CB8AC3E}">
        <p14:creationId xmlns:p14="http://schemas.microsoft.com/office/powerpoint/2010/main" val="176170702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418644" y="2526646"/>
            <a:ext cx="9189910" cy="1784048"/>
          </a:xfrm>
        </p:spPr>
        <p:txBody>
          <a:bodyPr/>
          <a:lstStyle/>
          <a:p>
            <a:r>
              <a:rPr lang="en-US" altLang="zh-CN" dirty="0"/>
              <a:t>Azure Stream Analytics</a:t>
            </a:r>
            <a:endParaRPr lang="en-US" dirty="0"/>
          </a:p>
        </p:txBody>
      </p:sp>
      <p:pic>
        <p:nvPicPr>
          <p:cNvPr id="11" name="Picture Placeholder 10">
            <a:extLst>
              <a:ext uri="{FF2B5EF4-FFF2-40B4-BE49-F238E27FC236}">
                <a16:creationId xmlns:a16="http://schemas.microsoft.com/office/drawing/2014/main" id="{DD2B5126-54DE-4B04-85C6-7AF213E61495}"/>
              </a:ext>
              <a:ext uri="{C183D7F6-B498-43B3-948B-1728B52AA6E4}">
                <adec:decorative xmlns:adec="http://schemas.microsoft.com/office/drawing/2017/decorative" val="1"/>
              </a:ext>
            </a:extLst>
          </p:cNvPr>
          <p:cNvPicPr>
            <a:picLocks noGrp="1" noChangeAspect="1"/>
          </p:cNvPicPr>
          <p:nvPr>
            <p:ph type="pic" sz="quarter" idx="10"/>
          </p:nvPr>
        </p:nvPicPr>
        <p:blipFill>
          <a:blip r:embed="rId3">
            <a:extLst>
              <a:ext uri="{96DAC541-7B7A-43D3-8B79-37D633B846F1}">
                <asvg:svgBlip xmlns:asvg="http://schemas.microsoft.com/office/drawing/2016/SVG/main" r:embed="rId4"/>
              </a:ext>
            </a:extLst>
          </a:blip>
          <a:srcRect/>
          <a:stretch>
            <a:fillRect/>
          </a:stretch>
        </p:blipFill>
        <p:spPr/>
      </p:pic>
    </p:spTree>
    <p:extLst>
      <p:ext uri="{BB962C8B-B14F-4D97-AF65-F5344CB8AC3E}">
        <p14:creationId xmlns:p14="http://schemas.microsoft.com/office/powerpoint/2010/main" val="40434231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2542854-46B9-3C46-86ED-051FEA185446}"/>
              </a:ext>
            </a:extLst>
          </p:cNvPr>
          <p:cNvSpPr>
            <a:spLocks noGrp="1"/>
          </p:cNvSpPr>
          <p:nvPr>
            <p:ph type="title"/>
          </p:nvPr>
        </p:nvSpPr>
        <p:spPr/>
        <p:txBody>
          <a:bodyPr/>
          <a:lstStyle/>
          <a:p>
            <a:r>
              <a:rPr lang="en-US" dirty="0">
                <a:solidFill>
                  <a:schemeClr val="tx2">
                    <a:lumMod val="50000"/>
                  </a:schemeClr>
                </a:solidFill>
                <a:hlinkClick r:id="rId3">
                  <a:extLst>
                    <a:ext uri="{A12FA001-AC4F-418D-AE19-62706E023703}">
                      <ahyp:hlinkClr xmlns:ahyp="http://schemas.microsoft.com/office/drawing/2018/hyperlinkcolor" val="tx"/>
                    </a:ext>
                  </a:extLst>
                </a:hlinkClick>
              </a:rPr>
              <a:t>Azure Stream Analytics </a:t>
            </a:r>
            <a:endParaRPr lang="en-US" dirty="0">
              <a:solidFill>
                <a:schemeClr val="tx2">
                  <a:lumMod val="50000"/>
                </a:schemeClr>
              </a:solidFill>
            </a:endParaRPr>
          </a:p>
        </p:txBody>
      </p:sp>
      <p:sp>
        <p:nvSpPr>
          <p:cNvPr id="7" name="Text Placeholder 2">
            <a:extLst>
              <a:ext uri="{FF2B5EF4-FFF2-40B4-BE49-F238E27FC236}">
                <a16:creationId xmlns:a16="http://schemas.microsoft.com/office/drawing/2014/main" id="{7F3950B4-8AA3-E54A-A0FD-E9AF02B259D2}"/>
              </a:ext>
            </a:extLst>
          </p:cNvPr>
          <p:cNvSpPr>
            <a:spLocks noGrp="1"/>
          </p:cNvSpPr>
          <p:nvPr>
            <p:ph type="body" sz="quarter" idx="10"/>
          </p:nvPr>
        </p:nvSpPr>
        <p:spPr>
          <a:xfrm>
            <a:off x="432089" y="1002844"/>
            <a:ext cx="11341268" cy="1107996"/>
          </a:xfrm>
          <a:prstGeom prst="rect">
            <a:avLst/>
          </a:prstGeom>
          <a:ln>
            <a:noFill/>
          </a:ln>
        </p:spPr>
        <p:txBody>
          <a:bodyPr/>
          <a:lstStyle/>
          <a:p>
            <a:r>
              <a:rPr lang="en-US"/>
              <a:t>Azure Stream Analytics is a real-time analytics and complex event-processing engine that is designed to analyze and process high volumes of fast streaming data from multiple sources simultaneously.</a:t>
            </a:r>
          </a:p>
        </p:txBody>
      </p:sp>
      <p:sp>
        <p:nvSpPr>
          <p:cNvPr id="11" name="Rectangle 31">
            <a:extLst>
              <a:ext uri="{FF2B5EF4-FFF2-40B4-BE49-F238E27FC236}">
                <a16:creationId xmlns:a16="http://schemas.microsoft.com/office/drawing/2014/main" id="{1E161012-C8E6-409C-8AC9-36B92F6ACF61}"/>
              </a:ext>
              <a:ext uri="{C183D7F6-B498-43B3-948B-1728B52AA6E4}">
                <adec:decorative xmlns:adec="http://schemas.microsoft.com/office/drawing/2017/decorative" val="1"/>
              </a:ext>
            </a:extLst>
          </p:cNvPr>
          <p:cNvSpPr/>
          <p:nvPr/>
        </p:nvSpPr>
        <p:spPr bwMode="auto">
          <a:xfrm>
            <a:off x="5617029" y="2271820"/>
            <a:ext cx="6321618" cy="3583336"/>
          </a:xfrm>
          <a:prstGeom prst="rect">
            <a:avLst/>
          </a:prstGeom>
          <a:noFill/>
          <a:ln w="190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89642" rIns="89642" bIns="89642" numCol="1" spcCol="0" rtlCol="0" fromWordArt="0" anchor="t" anchorCtr="0" forceAA="0" compatLnSpc="1">
            <a:prstTxWarp prst="textNoShape">
              <a:avLst/>
            </a:prstTxWarp>
            <a:noAutofit/>
          </a:bodyPr>
          <a:lstStyle/>
          <a:p>
            <a:pPr defTabSz="914102" fontAlgn="base">
              <a:spcBef>
                <a:spcPct val="0"/>
              </a:spcBef>
              <a:spcAft>
                <a:spcPts val="98"/>
              </a:spcAft>
            </a:pPr>
            <a:endParaRPr lang="en-US" sz="980">
              <a:solidFill>
                <a:schemeClr val="bg1"/>
              </a:solidFill>
              <a:ea typeface="Segoe UI" pitchFamily="34" charset="0"/>
              <a:cs typeface="Segoe UI" pitchFamily="34" charset="0"/>
            </a:endParaRPr>
          </a:p>
        </p:txBody>
      </p:sp>
      <p:sp>
        <p:nvSpPr>
          <p:cNvPr id="9" name="TextBox 8">
            <a:extLst>
              <a:ext uri="{FF2B5EF4-FFF2-40B4-BE49-F238E27FC236}">
                <a16:creationId xmlns:a16="http://schemas.microsoft.com/office/drawing/2014/main" id="{71905FC4-8E54-4F04-88E9-325C3510A941}"/>
              </a:ext>
            </a:extLst>
          </p:cNvPr>
          <p:cNvSpPr txBox="1"/>
          <p:nvPr/>
        </p:nvSpPr>
        <p:spPr>
          <a:xfrm>
            <a:off x="432089" y="2351314"/>
            <a:ext cx="5028185" cy="3785652"/>
          </a:xfrm>
          <a:prstGeom prst="rect">
            <a:avLst/>
          </a:prstGeom>
          <a:noFill/>
        </p:spPr>
        <p:txBody>
          <a:bodyPr wrap="square">
            <a:spAutoFit/>
          </a:bodyPr>
          <a:lstStyle/>
          <a:p>
            <a:pPr marL="285750" indent="-285750" algn="l">
              <a:spcAft>
                <a:spcPts val="1200"/>
              </a:spcAft>
              <a:buFont typeface="Arial" panose="020B0604020202020204" pitchFamily="34" charset="0"/>
              <a:buChar char="•"/>
            </a:pPr>
            <a:r>
              <a:rPr lang="en-US" sz="2000" b="0" i="0">
                <a:solidFill>
                  <a:srgbClr val="171717"/>
                </a:solidFill>
                <a:effectLst/>
                <a:latin typeface="Segoe UI" panose="020B0502040204020203" pitchFamily="34" charset="0"/>
              </a:rPr>
              <a:t>Analyze real-time telemetry streams from IoT devices</a:t>
            </a:r>
          </a:p>
          <a:p>
            <a:pPr marL="285750" indent="-285750" algn="l">
              <a:spcAft>
                <a:spcPts val="1200"/>
              </a:spcAft>
              <a:buFont typeface="Arial" panose="020B0604020202020204" pitchFamily="34" charset="0"/>
              <a:buChar char="•"/>
            </a:pPr>
            <a:r>
              <a:rPr lang="en-US" sz="2000" b="0" i="0">
                <a:solidFill>
                  <a:srgbClr val="171717"/>
                </a:solidFill>
                <a:effectLst/>
                <a:latin typeface="Segoe UI" panose="020B0502040204020203" pitchFamily="34" charset="0"/>
              </a:rPr>
              <a:t>Web logs/clickstream analytics</a:t>
            </a:r>
          </a:p>
          <a:p>
            <a:pPr marL="285750" indent="-285750" algn="l">
              <a:spcAft>
                <a:spcPts val="1200"/>
              </a:spcAft>
              <a:buFont typeface="Arial" panose="020B0604020202020204" pitchFamily="34" charset="0"/>
              <a:buChar char="•"/>
            </a:pPr>
            <a:r>
              <a:rPr lang="en-US" sz="2000" b="0" i="0">
                <a:solidFill>
                  <a:srgbClr val="171717"/>
                </a:solidFill>
                <a:effectLst/>
                <a:latin typeface="Segoe UI" panose="020B0502040204020203" pitchFamily="34" charset="0"/>
              </a:rPr>
              <a:t>Geospatial analytics for fleet management and driverless vehicles</a:t>
            </a:r>
          </a:p>
          <a:p>
            <a:pPr marL="285750" indent="-285750" algn="l">
              <a:spcAft>
                <a:spcPts val="1200"/>
              </a:spcAft>
              <a:buFont typeface="Arial" panose="020B0604020202020204" pitchFamily="34" charset="0"/>
              <a:buChar char="•"/>
            </a:pPr>
            <a:r>
              <a:rPr lang="en-US" sz="2000" b="0" i="0">
                <a:solidFill>
                  <a:srgbClr val="171717"/>
                </a:solidFill>
                <a:effectLst/>
                <a:latin typeface="Segoe UI" panose="020B0502040204020203" pitchFamily="34" charset="0"/>
              </a:rPr>
              <a:t>Remote monitoring and predictive maintenance of high value assets</a:t>
            </a:r>
          </a:p>
          <a:p>
            <a:pPr marL="285750" indent="-285750" algn="l">
              <a:spcAft>
                <a:spcPts val="1200"/>
              </a:spcAft>
              <a:buFont typeface="Arial" panose="020B0604020202020204" pitchFamily="34" charset="0"/>
              <a:buChar char="•"/>
            </a:pPr>
            <a:r>
              <a:rPr lang="en-US" sz="2000" b="0" i="0">
                <a:solidFill>
                  <a:srgbClr val="171717"/>
                </a:solidFill>
                <a:effectLst/>
                <a:latin typeface="Segoe UI" panose="020B0502040204020203" pitchFamily="34" charset="0"/>
              </a:rPr>
              <a:t>Real-time analytics on point-of-sale data for inventory control and anomaly detection</a:t>
            </a:r>
          </a:p>
        </p:txBody>
      </p:sp>
      <p:pic>
        <p:nvPicPr>
          <p:cNvPr id="5122" name="Picture 2" descr="Diagram shows the Stream Analytics pipeline, and how data is ingested, analyzed, and then sent for presentation or action.">
            <a:extLst>
              <a:ext uri="{FF2B5EF4-FFF2-40B4-BE49-F238E27FC236}">
                <a16:creationId xmlns:a16="http://schemas.microsoft.com/office/drawing/2014/main" id="{5A9146F7-3086-43BC-926C-CD380F4BB0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6147" y="2752769"/>
            <a:ext cx="6223381" cy="2621437"/>
          </a:xfrm>
          <a:prstGeom prst="rect">
            <a:avLst/>
          </a:prstGeom>
          <a:noFill/>
        </p:spPr>
      </p:pic>
    </p:spTree>
    <p:extLst>
      <p:ext uri="{BB962C8B-B14F-4D97-AF65-F5344CB8AC3E}">
        <p14:creationId xmlns:p14="http://schemas.microsoft.com/office/powerpoint/2010/main" val="22366365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0212" y="2980724"/>
            <a:ext cx="5807732" cy="896552"/>
          </a:xfrm>
        </p:spPr>
        <p:txBody>
          <a:bodyPr wrap="square" anchor="b">
            <a:normAutofit/>
          </a:bodyPr>
          <a:lstStyle/>
          <a:p>
            <a:pPr>
              <a:lnSpc>
                <a:spcPct val="100000"/>
              </a:lnSpc>
            </a:pPr>
            <a:r>
              <a:rPr lang="en-US" sz="4400" b="1" dirty="0"/>
              <a:t>Other Azure Solutions</a:t>
            </a:r>
          </a:p>
        </p:txBody>
      </p:sp>
    </p:spTree>
    <p:extLst>
      <p:ext uri="{BB962C8B-B14F-4D97-AF65-F5344CB8AC3E}">
        <p14:creationId xmlns:p14="http://schemas.microsoft.com/office/powerpoint/2010/main" val="57902916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cs typeface="Segoe UI"/>
              </a:rPr>
              <a:t>Artificial Intelligence &amp; Machine Learning</a:t>
            </a:r>
          </a:p>
        </p:txBody>
      </p:sp>
      <p:grpSp>
        <p:nvGrpSpPr>
          <p:cNvPr id="8" name="Group 7" descr="Azure Machine Learning icon - lab beaker for experimenting with.">
            <a:extLst>
              <a:ext uri="{FF2B5EF4-FFF2-40B4-BE49-F238E27FC236}">
                <a16:creationId xmlns:a16="http://schemas.microsoft.com/office/drawing/2014/main" id="{5F235B2A-66DF-49FC-BEB7-08A89BE98DD6}"/>
              </a:ext>
            </a:extLst>
          </p:cNvPr>
          <p:cNvGrpSpPr/>
          <p:nvPr/>
        </p:nvGrpSpPr>
        <p:grpSpPr>
          <a:xfrm>
            <a:off x="844812" y="1243628"/>
            <a:ext cx="9887148" cy="1182743"/>
            <a:chOff x="844812" y="1492207"/>
            <a:chExt cx="9887148" cy="1182743"/>
          </a:xfrm>
        </p:grpSpPr>
        <p:pic>
          <p:nvPicPr>
            <p:cNvPr id="9" name="Graphic 8">
              <a:extLst>
                <a:ext uri="{FF2B5EF4-FFF2-40B4-BE49-F238E27FC236}">
                  <a16:creationId xmlns:a16="http://schemas.microsoft.com/office/drawing/2014/main" id="{030000BE-9E4B-4460-A63F-3F5AC760412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844812" y="1492207"/>
              <a:ext cx="1182743" cy="1182743"/>
            </a:xfrm>
            <a:prstGeom prst="rect">
              <a:avLst/>
            </a:prstGeom>
          </p:spPr>
        </p:pic>
        <p:sp>
          <p:nvSpPr>
            <p:cNvPr id="10" name="TextBox 9">
              <a:extLst>
                <a:ext uri="{FF2B5EF4-FFF2-40B4-BE49-F238E27FC236}">
                  <a16:creationId xmlns:a16="http://schemas.microsoft.com/office/drawing/2014/main" id="{012A2B8D-C9D7-45F6-87D7-8B1D33903474}"/>
                </a:ext>
              </a:extLst>
            </p:cNvPr>
            <p:cNvSpPr txBox="1"/>
            <p:nvPr/>
          </p:nvSpPr>
          <p:spPr>
            <a:xfrm>
              <a:off x="2246517" y="1603447"/>
              <a:ext cx="8485443" cy="960263"/>
            </a:xfrm>
            <a:prstGeom prst="rect">
              <a:avLst/>
            </a:prstGeom>
            <a:noFill/>
          </p:spPr>
          <p:txBody>
            <a:bodyPr wrap="square" lIns="182880" tIns="146304" rIns="182880" bIns="146304" rtlCol="0">
              <a:spAutoFit/>
            </a:bodyPr>
            <a:lstStyle/>
            <a:p>
              <a:pPr>
                <a:lnSpc>
                  <a:spcPct val="90000"/>
                </a:lnSpc>
                <a:spcAft>
                  <a:spcPts val="600"/>
                </a:spcAft>
              </a:pPr>
              <a:r>
                <a:rPr lang="en-US" sz="2400" b="1">
                  <a:solidFill>
                    <a:schemeClr val="tx1"/>
                  </a:solidFill>
                  <a:latin typeface="+mn-lt"/>
                  <a:cs typeface="Segoe UI Semilight"/>
                </a:rPr>
                <a:t>Azure Machine Learning: </a:t>
              </a:r>
              <a:r>
                <a:rPr lang="en-US" sz="2400">
                  <a:solidFill>
                    <a:schemeClr val="tx1"/>
                  </a:solidFill>
                  <a:latin typeface="+mn-lt"/>
                  <a:cs typeface="Segoe UI Semilight"/>
                </a:rPr>
                <a:t>c</a:t>
              </a:r>
              <a:r>
                <a:rPr lang="en-US" sz="2400">
                  <a:gradFill>
                    <a:gsLst>
                      <a:gs pos="2917">
                        <a:schemeClr val="tx1"/>
                      </a:gs>
                      <a:gs pos="30000">
                        <a:schemeClr val="tx1"/>
                      </a:gs>
                    </a:gsLst>
                    <a:lin ang="5400000" scaled="0"/>
                  </a:gradFill>
                </a:rPr>
                <a:t>loud-based to develop, train,  and deploy machine learning models.</a:t>
              </a:r>
            </a:p>
          </p:txBody>
        </p:sp>
      </p:grpSp>
      <p:grpSp>
        <p:nvGrpSpPr>
          <p:cNvPr id="11" name="Group 10" descr="Cognitive Services icon - digital brain in the share of a cloud.">
            <a:extLst>
              <a:ext uri="{FF2B5EF4-FFF2-40B4-BE49-F238E27FC236}">
                <a16:creationId xmlns:a16="http://schemas.microsoft.com/office/drawing/2014/main" id="{54DAB787-8206-4DCC-BC7C-A56A26517A28}"/>
              </a:ext>
            </a:extLst>
          </p:cNvPr>
          <p:cNvGrpSpPr/>
          <p:nvPr/>
        </p:nvGrpSpPr>
        <p:grpSpPr>
          <a:xfrm>
            <a:off x="844813" y="2781036"/>
            <a:ext cx="9887147" cy="1182743"/>
            <a:chOff x="844813" y="2959434"/>
            <a:chExt cx="9887147" cy="1182743"/>
          </a:xfrm>
        </p:grpSpPr>
        <p:pic>
          <p:nvPicPr>
            <p:cNvPr id="12" name="Graphic 11">
              <a:extLst>
                <a:ext uri="{FF2B5EF4-FFF2-40B4-BE49-F238E27FC236}">
                  <a16:creationId xmlns:a16="http://schemas.microsoft.com/office/drawing/2014/main" id="{425AB829-753E-4196-8BD6-C11F0EDD287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844813" y="2959434"/>
              <a:ext cx="1182743" cy="1182743"/>
            </a:xfrm>
            <a:prstGeom prst="rect">
              <a:avLst/>
            </a:prstGeom>
          </p:spPr>
        </p:pic>
        <p:sp>
          <p:nvSpPr>
            <p:cNvPr id="13" name="TextBox 12">
              <a:extLst>
                <a:ext uri="{FF2B5EF4-FFF2-40B4-BE49-F238E27FC236}">
                  <a16:creationId xmlns:a16="http://schemas.microsoft.com/office/drawing/2014/main" id="{82C23AAF-9E75-4DDD-B067-B7848A0220DC}"/>
                </a:ext>
              </a:extLst>
            </p:cNvPr>
            <p:cNvSpPr txBox="1"/>
            <p:nvPr/>
          </p:nvSpPr>
          <p:spPr>
            <a:xfrm>
              <a:off x="2246517" y="3070674"/>
              <a:ext cx="8485443" cy="960263"/>
            </a:xfrm>
            <a:prstGeom prst="rect">
              <a:avLst/>
            </a:prstGeom>
            <a:noFill/>
          </p:spPr>
          <p:txBody>
            <a:bodyPr wrap="square" lIns="182880" tIns="146304" rIns="182880" bIns="146304" rtlCol="0">
              <a:spAutoFit/>
            </a:bodyPr>
            <a:lstStyle/>
            <a:p>
              <a:pPr>
                <a:lnSpc>
                  <a:spcPct val="90000"/>
                </a:lnSpc>
                <a:spcAft>
                  <a:spcPts val="600"/>
                </a:spcAft>
              </a:pPr>
              <a:r>
                <a:rPr lang="en-US" sz="2400" b="1">
                  <a:gradFill>
                    <a:gsLst>
                      <a:gs pos="2917">
                        <a:schemeClr val="tx1"/>
                      </a:gs>
                      <a:gs pos="30000">
                        <a:schemeClr val="tx1"/>
                      </a:gs>
                    </a:gsLst>
                    <a:lin ang="5400000" scaled="0"/>
                  </a:gradFill>
                </a:rPr>
                <a:t>Cognitive Services: </a:t>
              </a:r>
              <a:r>
                <a:rPr lang="en-US" sz="2400">
                  <a:gradFill>
                    <a:gsLst>
                      <a:gs pos="2917">
                        <a:schemeClr val="tx1"/>
                      </a:gs>
                      <a:gs pos="30000">
                        <a:schemeClr val="tx1"/>
                      </a:gs>
                    </a:gsLst>
                    <a:lin ang="5400000" scaled="0"/>
                  </a:gradFill>
                </a:rPr>
                <a:t>q</a:t>
              </a:r>
              <a:r>
                <a:rPr lang="en-US" sz="2400" b="0">
                  <a:solidFill>
                    <a:schemeClr val="tx1"/>
                  </a:solidFill>
                  <a:latin typeface="+mn-lt"/>
                  <a:cs typeface="Segoe UI Semilight"/>
                </a:rPr>
                <a:t>uickly enable apps to see, hear, speak, understand, and interpret a user’s needs. </a:t>
              </a:r>
              <a:endParaRPr lang="en-US" sz="3200">
                <a:solidFill>
                  <a:schemeClr val="tx1"/>
                </a:solidFill>
                <a:latin typeface="+mn-lt"/>
              </a:endParaRPr>
            </a:p>
          </p:txBody>
        </p:sp>
      </p:grpSp>
      <p:grpSp>
        <p:nvGrpSpPr>
          <p:cNvPr id="14" name="Group 13" descr="Azure Bot Service icon - Circle with a simple robot image inside.">
            <a:extLst>
              <a:ext uri="{FF2B5EF4-FFF2-40B4-BE49-F238E27FC236}">
                <a16:creationId xmlns:a16="http://schemas.microsoft.com/office/drawing/2014/main" id="{F7EF8FD5-B495-4EB9-B4ED-941BDF4B8961}"/>
              </a:ext>
            </a:extLst>
          </p:cNvPr>
          <p:cNvGrpSpPr/>
          <p:nvPr/>
        </p:nvGrpSpPr>
        <p:grpSpPr>
          <a:xfrm>
            <a:off x="844812" y="4318443"/>
            <a:ext cx="10111999" cy="1182743"/>
            <a:chOff x="844812" y="4567022"/>
            <a:chExt cx="10111999" cy="1182743"/>
          </a:xfrm>
        </p:grpSpPr>
        <p:pic>
          <p:nvPicPr>
            <p:cNvPr id="15" name="Graphic 14">
              <a:extLst>
                <a:ext uri="{FF2B5EF4-FFF2-40B4-BE49-F238E27FC236}">
                  <a16:creationId xmlns:a16="http://schemas.microsoft.com/office/drawing/2014/main" id="{F2FDB5EA-C923-4858-9D19-042FD18083E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844812" y="4567022"/>
              <a:ext cx="1182743" cy="1182743"/>
            </a:xfrm>
            <a:prstGeom prst="rect">
              <a:avLst/>
            </a:prstGeom>
          </p:spPr>
        </p:pic>
        <p:sp>
          <p:nvSpPr>
            <p:cNvPr id="16" name="TextBox 15">
              <a:extLst>
                <a:ext uri="{FF2B5EF4-FFF2-40B4-BE49-F238E27FC236}">
                  <a16:creationId xmlns:a16="http://schemas.microsoft.com/office/drawing/2014/main" id="{6595CE81-C8C9-4E21-8597-37E38ADE3A8A}"/>
                </a:ext>
              </a:extLst>
            </p:cNvPr>
            <p:cNvSpPr txBox="1"/>
            <p:nvPr/>
          </p:nvSpPr>
          <p:spPr>
            <a:xfrm>
              <a:off x="2246517" y="4678262"/>
              <a:ext cx="8710294" cy="627864"/>
            </a:xfrm>
            <a:prstGeom prst="rect">
              <a:avLst/>
            </a:prstGeom>
            <a:noFill/>
          </p:spPr>
          <p:txBody>
            <a:bodyPr wrap="square" lIns="182880" tIns="146304" rIns="182880" bIns="146304" rtlCol="0">
              <a:spAutoFit/>
            </a:bodyPr>
            <a:lstStyle/>
            <a:p>
              <a:pPr>
                <a:lnSpc>
                  <a:spcPct val="90000"/>
                </a:lnSpc>
                <a:spcAft>
                  <a:spcPts val="600"/>
                </a:spcAft>
              </a:pPr>
              <a:r>
                <a:rPr lang="en-US" sz="2400" b="1">
                  <a:gradFill>
                    <a:gsLst>
                      <a:gs pos="2917">
                        <a:schemeClr val="tx1"/>
                      </a:gs>
                      <a:gs pos="30000">
                        <a:schemeClr val="tx1"/>
                      </a:gs>
                    </a:gsLst>
                    <a:lin ang="5400000" scaled="0"/>
                  </a:gradFill>
                </a:rPr>
                <a:t>Azure Bot Service: </a:t>
              </a:r>
              <a:r>
                <a:rPr lang="en-US" sz="2400">
                  <a:gradFill>
                    <a:gsLst>
                      <a:gs pos="2917">
                        <a:schemeClr val="tx1"/>
                      </a:gs>
                      <a:gs pos="30000">
                        <a:schemeClr val="tx1"/>
                      </a:gs>
                    </a:gsLst>
                    <a:lin ang="5400000" scaled="0"/>
                  </a:gradFill>
                </a:rPr>
                <a:t>develop intelligent, enterprise-grade bots.</a:t>
              </a:r>
            </a:p>
          </p:txBody>
        </p:sp>
      </p:grpSp>
      <p:pic>
        <p:nvPicPr>
          <p:cNvPr id="2" name="Picture 1">
            <a:extLst>
              <a:ext uri="{FF2B5EF4-FFF2-40B4-BE49-F238E27FC236}">
                <a16:creationId xmlns:a16="http://schemas.microsoft.com/office/drawing/2014/main" id="{A0FB79CA-8F73-44D7-B306-640C85B7621D}"/>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4591050" y="6486525"/>
            <a:ext cx="3009900" cy="371475"/>
          </a:xfrm>
          <a:prstGeom prst="rect">
            <a:avLst/>
          </a:prstGeom>
        </p:spPr>
      </p:pic>
    </p:spTree>
    <p:extLst>
      <p:ext uri="{BB962C8B-B14F-4D97-AF65-F5344CB8AC3E}">
        <p14:creationId xmlns:p14="http://schemas.microsoft.com/office/powerpoint/2010/main" val="2642138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cs typeface="Segoe UI"/>
              </a:rPr>
              <a:t>Serverless Computing</a:t>
            </a:r>
            <a:endParaRPr lang="en-US"/>
          </a:p>
        </p:txBody>
      </p:sp>
      <p:grpSp>
        <p:nvGrpSpPr>
          <p:cNvPr id="10" name="Group 9" descr="Azure Functions icon - lightning bolt inside coding brackets.">
            <a:extLst>
              <a:ext uri="{FF2B5EF4-FFF2-40B4-BE49-F238E27FC236}">
                <a16:creationId xmlns:a16="http://schemas.microsoft.com/office/drawing/2014/main" id="{E1AD1EA8-2A22-41A7-989F-D1905D424BE4}"/>
              </a:ext>
            </a:extLst>
          </p:cNvPr>
          <p:cNvGrpSpPr/>
          <p:nvPr/>
        </p:nvGrpSpPr>
        <p:grpSpPr>
          <a:xfrm>
            <a:off x="422175" y="1802443"/>
            <a:ext cx="5486400" cy="3844320"/>
            <a:chOff x="-227913" y="2230606"/>
            <a:chExt cx="5486400" cy="3844320"/>
          </a:xfrm>
        </p:grpSpPr>
        <p:pic>
          <p:nvPicPr>
            <p:cNvPr id="11" name="Graphic 10">
              <a:extLst>
                <a:ext uri="{FF2B5EF4-FFF2-40B4-BE49-F238E27FC236}">
                  <a16:creationId xmlns:a16="http://schemas.microsoft.com/office/drawing/2014/main" id="{493B6F76-CD65-40B7-87EA-29AC4733E7C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580743" y="2885823"/>
              <a:ext cx="1869088" cy="1869088"/>
            </a:xfrm>
            <a:prstGeom prst="rect">
              <a:avLst/>
            </a:prstGeom>
          </p:spPr>
        </p:pic>
        <p:sp>
          <p:nvSpPr>
            <p:cNvPr id="13" name="TextBox 12">
              <a:extLst>
                <a:ext uri="{FF2B5EF4-FFF2-40B4-BE49-F238E27FC236}">
                  <a16:creationId xmlns:a16="http://schemas.microsoft.com/office/drawing/2014/main" id="{EE0F5E29-079F-43EF-9E35-7AD935132F4F}"/>
                </a:ext>
              </a:extLst>
            </p:cNvPr>
            <p:cNvSpPr txBox="1"/>
            <p:nvPr/>
          </p:nvSpPr>
          <p:spPr>
            <a:xfrm>
              <a:off x="617337" y="2230606"/>
              <a:ext cx="3795900"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latin typeface="+mj-lt"/>
                </a:rPr>
                <a:t>Azure Functions</a:t>
              </a:r>
            </a:p>
          </p:txBody>
        </p:sp>
        <p:sp>
          <p:nvSpPr>
            <p:cNvPr id="14" name="TextBox 13">
              <a:extLst>
                <a:ext uri="{FF2B5EF4-FFF2-40B4-BE49-F238E27FC236}">
                  <a16:creationId xmlns:a16="http://schemas.microsoft.com/office/drawing/2014/main" id="{7220FC46-2B31-43E5-9F5E-294ACE7FF742}"/>
                </a:ext>
              </a:extLst>
            </p:cNvPr>
            <p:cNvSpPr txBox="1"/>
            <p:nvPr/>
          </p:nvSpPr>
          <p:spPr>
            <a:xfrm>
              <a:off x="-227913" y="4782264"/>
              <a:ext cx="5486400" cy="1292662"/>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Event based code running your service and not the underlying infrastructure.</a:t>
              </a:r>
            </a:p>
          </p:txBody>
        </p:sp>
      </p:grpSp>
      <p:grpSp>
        <p:nvGrpSpPr>
          <p:cNvPr id="15" name="Group 14" descr="Azure Logic Apps icon - flowchart inside of coding brackets.">
            <a:extLst>
              <a:ext uri="{FF2B5EF4-FFF2-40B4-BE49-F238E27FC236}">
                <a16:creationId xmlns:a16="http://schemas.microsoft.com/office/drawing/2014/main" id="{33F9FD76-5287-4A5D-9CAA-E5B8A1183FCD}"/>
              </a:ext>
            </a:extLst>
          </p:cNvPr>
          <p:cNvGrpSpPr/>
          <p:nvPr/>
        </p:nvGrpSpPr>
        <p:grpSpPr>
          <a:xfrm>
            <a:off x="6283427" y="1804820"/>
            <a:ext cx="5572181" cy="3841943"/>
            <a:chOff x="3804273" y="2343782"/>
            <a:chExt cx="5572181" cy="3841943"/>
          </a:xfrm>
        </p:grpSpPr>
        <p:pic>
          <p:nvPicPr>
            <p:cNvPr id="16" name="Graphic 15">
              <a:extLst>
                <a:ext uri="{FF2B5EF4-FFF2-40B4-BE49-F238E27FC236}">
                  <a16:creationId xmlns:a16="http://schemas.microsoft.com/office/drawing/2014/main" id="{DAC005F8-E385-467C-AF95-F593077F4C6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5655819" y="2885823"/>
              <a:ext cx="1869088" cy="1869088"/>
            </a:xfrm>
            <a:prstGeom prst="rect">
              <a:avLst/>
            </a:prstGeom>
          </p:spPr>
        </p:pic>
        <p:sp>
          <p:nvSpPr>
            <p:cNvPr id="18" name="TextBox 17">
              <a:extLst>
                <a:ext uri="{FF2B5EF4-FFF2-40B4-BE49-F238E27FC236}">
                  <a16:creationId xmlns:a16="http://schemas.microsoft.com/office/drawing/2014/main" id="{FA0F78F5-5B15-433E-A293-047A763A7659}"/>
                </a:ext>
              </a:extLst>
            </p:cNvPr>
            <p:cNvSpPr txBox="1"/>
            <p:nvPr/>
          </p:nvSpPr>
          <p:spPr>
            <a:xfrm>
              <a:off x="5141692" y="2343782"/>
              <a:ext cx="2897342"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latin typeface="+mj-lt"/>
                </a:rPr>
                <a:t>Azure Logic Apps</a:t>
              </a:r>
            </a:p>
          </p:txBody>
        </p:sp>
        <p:sp>
          <p:nvSpPr>
            <p:cNvPr id="19" name="TextBox 18">
              <a:extLst>
                <a:ext uri="{FF2B5EF4-FFF2-40B4-BE49-F238E27FC236}">
                  <a16:creationId xmlns:a16="http://schemas.microsoft.com/office/drawing/2014/main" id="{6B12A3EF-3661-425E-BB65-DF83912F9E33}"/>
                </a:ext>
              </a:extLst>
            </p:cNvPr>
            <p:cNvSpPr txBox="1"/>
            <p:nvPr/>
          </p:nvSpPr>
          <p:spPr>
            <a:xfrm>
              <a:off x="3804273" y="4782264"/>
              <a:ext cx="5572181" cy="1403461"/>
            </a:xfrm>
            <a:prstGeom prst="rect">
              <a:avLst/>
            </a:prstGeom>
            <a:noFill/>
          </p:spPr>
          <p:txBody>
            <a:bodyPr wrap="square" lIns="182880" tIns="146304" rIns="182880" bIns="146304"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lang="en-IE" sz="2400"/>
                <a:t>A</a:t>
              </a:r>
              <a:r>
                <a:rPr lang="en-IE" sz="2400" b="0">
                  <a:solidFill>
                    <a:schemeClr val="tx1"/>
                  </a:solidFill>
                </a:rPr>
                <a:t>utomate and orchestrate tasks, business processes, and workflows to integrate apps.</a:t>
              </a:r>
              <a:endParaRPr lang="en-US" sz="2400" b="0">
                <a:solidFill>
                  <a:schemeClr val="tx1"/>
                </a:solidFill>
              </a:endParaRPr>
            </a:p>
          </p:txBody>
        </p:sp>
      </p:grpSp>
      <p:pic>
        <p:nvPicPr>
          <p:cNvPr id="2" name="Picture 1">
            <a:extLst>
              <a:ext uri="{FF2B5EF4-FFF2-40B4-BE49-F238E27FC236}">
                <a16:creationId xmlns:a16="http://schemas.microsoft.com/office/drawing/2014/main" id="{0CD51D14-8138-46B6-A9D3-732DEDD665C9}"/>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591050" y="6496050"/>
            <a:ext cx="3009900" cy="371475"/>
          </a:xfrm>
          <a:prstGeom prst="rect">
            <a:avLst/>
          </a:prstGeom>
        </p:spPr>
      </p:pic>
    </p:spTree>
    <p:extLst>
      <p:ext uri="{BB962C8B-B14F-4D97-AF65-F5344CB8AC3E}">
        <p14:creationId xmlns:p14="http://schemas.microsoft.com/office/powerpoint/2010/main" val="3691073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218551"/>
            <a:ext cx="11341268" cy="680196"/>
          </a:xfrm>
        </p:spPr>
        <p:txBody>
          <a:bodyPr/>
          <a:lstStyle/>
          <a:p>
            <a:r>
              <a:rPr lang="en-US"/>
              <a:t>Develop your apps with DevOps and GitHub</a:t>
            </a:r>
          </a:p>
        </p:txBody>
      </p:sp>
      <p:grpSp>
        <p:nvGrpSpPr>
          <p:cNvPr id="16" name="Group 15" descr="Azure DevOps icon - Azure logo around a operations box.">
            <a:extLst>
              <a:ext uri="{FF2B5EF4-FFF2-40B4-BE49-F238E27FC236}">
                <a16:creationId xmlns:a16="http://schemas.microsoft.com/office/drawing/2014/main" id="{BB5B7098-DCC9-43F2-B9E8-B772BF455BE5}"/>
              </a:ext>
            </a:extLst>
          </p:cNvPr>
          <p:cNvGrpSpPr/>
          <p:nvPr/>
        </p:nvGrpSpPr>
        <p:grpSpPr>
          <a:xfrm>
            <a:off x="314325" y="1029161"/>
            <a:ext cx="11445586" cy="1083654"/>
            <a:chOff x="661065" y="1251104"/>
            <a:chExt cx="10770860" cy="1083654"/>
          </a:xfrm>
        </p:grpSpPr>
        <p:pic>
          <p:nvPicPr>
            <p:cNvPr id="8" name="Graphic 7">
              <a:extLst>
                <a:ext uri="{FF2B5EF4-FFF2-40B4-BE49-F238E27FC236}">
                  <a16:creationId xmlns:a16="http://schemas.microsoft.com/office/drawing/2014/main" id="{D76AC99C-AE1C-410E-9BE4-03E32684A10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61065" y="1251104"/>
              <a:ext cx="1083945" cy="1083654"/>
            </a:xfrm>
            <a:prstGeom prst="rect">
              <a:avLst/>
            </a:prstGeom>
          </p:spPr>
        </p:pic>
        <p:sp>
          <p:nvSpPr>
            <p:cNvPr id="15" name="TextBox 14">
              <a:extLst>
                <a:ext uri="{FF2B5EF4-FFF2-40B4-BE49-F238E27FC236}">
                  <a16:creationId xmlns:a16="http://schemas.microsoft.com/office/drawing/2014/main" id="{0A81734B-C9E3-4851-A79A-67AE44CF576E}"/>
                </a:ext>
              </a:extLst>
            </p:cNvPr>
            <p:cNvSpPr txBox="1"/>
            <p:nvPr/>
          </p:nvSpPr>
          <p:spPr>
            <a:xfrm>
              <a:off x="1899305" y="1312800"/>
              <a:ext cx="9532620" cy="960263"/>
            </a:xfrm>
            <a:prstGeom prst="rect">
              <a:avLst/>
            </a:prstGeom>
            <a:noFill/>
          </p:spPr>
          <p:txBody>
            <a:bodyPr wrap="square" lIns="182880" tIns="146304" rIns="182880" bIns="146304" rtlCol="0">
              <a:spAutoFit/>
            </a:bodyPr>
            <a:lstStyle/>
            <a:p>
              <a:pPr>
                <a:lnSpc>
                  <a:spcPct val="90000"/>
                </a:lnSpc>
                <a:spcAft>
                  <a:spcPts val="600"/>
                </a:spcAft>
              </a:pPr>
              <a:r>
                <a:rPr lang="en-US" sz="2400" b="1">
                  <a:gradFill>
                    <a:gsLst>
                      <a:gs pos="2917">
                        <a:schemeClr val="tx1"/>
                      </a:gs>
                      <a:gs pos="30000">
                        <a:schemeClr val="tx1"/>
                      </a:gs>
                    </a:gsLst>
                    <a:lin ang="5400000" scaled="0"/>
                  </a:gradFill>
                </a:rPr>
                <a:t>Azure DevOps: </a:t>
              </a:r>
              <a:r>
                <a:rPr lang="en-US" sz="2400">
                  <a:gradFill>
                    <a:gsLst>
                      <a:gs pos="2917">
                        <a:schemeClr val="tx1"/>
                      </a:gs>
                      <a:gs pos="30000">
                        <a:schemeClr val="tx1"/>
                      </a:gs>
                    </a:gsLst>
                    <a:lin ang="5400000" scaled="0"/>
                  </a:gradFill>
                </a:rPr>
                <a:t>development collaboration tools including pipelines, Kanban boards, and automated cloud-based load testing.</a:t>
              </a:r>
            </a:p>
          </p:txBody>
        </p:sp>
      </p:grpSp>
      <p:grpSp>
        <p:nvGrpSpPr>
          <p:cNvPr id="21" name="Group 20" descr="GitHub logo - set of folders with a flowchart on them.">
            <a:extLst>
              <a:ext uri="{FF2B5EF4-FFF2-40B4-BE49-F238E27FC236}">
                <a16:creationId xmlns:a16="http://schemas.microsoft.com/office/drawing/2014/main" id="{2348C96D-B55F-4FD5-A584-16F21DD75CA7}"/>
              </a:ext>
            </a:extLst>
          </p:cNvPr>
          <p:cNvGrpSpPr/>
          <p:nvPr/>
        </p:nvGrpSpPr>
        <p:grpSpPr>
          <a:xfrm>
            <a:off x="314325" y="2196806"/>
            <a:ext cx="11445586" cy="1083654"/>
            <a:chOff x="661065" y="2679095"/>
            <a:chExt cx="10770860" cy="1083654"/>
          </a:xfrm>
        </p:grpSpPr>
        <p:pic>
          <p:nvPicPr>
            <p:cNvPr id="10" name="Graphic 9">
              <a:extLst>
                <a:ext uri="{FF2B5EF4-FFF2-40B4-BE49-F238E27FC236}">
                  <a16:creationId xmlns:a16="http://schemas.microsoft.com/office/drawing/2014/main" id="{11260FD4-CCDA-4AE8-B5B4-363E84C3E4E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661065" y="2679095"/>
              <a:ext cx="1083945" cy="1083654"/>
            </a:xfrm>
            <a:prstGeom prst="rect">
              <a:avLst/>
            </a:prstGeom>
          </p:spPr>
        </p:pic>
        <p:sp>
          <p:nvSpPr>
            <p:cNvPr id="18" name="TextBox 17">
              <a:extLst>
                <a:ext uri="{FF2B5EF4-FFF2-40B4-BE49-F238E27FC236}">
                  <a16:creationId xmlns:a16="http://schemas.microsoft.com/office/drawing/2014/main" id="{9CE26080-F17B-4A06-8E57-47B04F7DC8FC}"/>
                </a:ext>
              </a:extLst>
            </p:cNvPr>
            <p:cNvSpPr txBox="1"/>
            <p:nvPr/>
          </p:nvSpPr>
          <p:spPr>
            <a:xfrm>
              <a:off x="1899305" y="2740791"/>
              <a:ext cx="9532620" cy="960263"/>
            </a:xfrm>
            <a:prstGeom prst="rect">
              <a:avLst/>
            </a:prstGeom>
            <a:noFill/>
          </p:spPr>
          <p:txBody>
            <a:bodyPr wrap="square" lIns="182880" tIns="146304" rIns="182880" bIns="146304" rtlCol="0">
              <a:spAutoFit/>
            </a:bodyPr>
            <a:lstStyle/>
            <a:p>
              <a:pPr>
                <a:lnSpc>
                  <a:spcPct val="90000"/>
                </a:lnSpc>
                <a:spcAft>
                  <a:spcPts val="600"/>
                </a:spcAft>
              </a:pPr>
              <a:r>
                <a:rPr lang="en-US" sz="2400" b="1">
                  <a:gradFill>
                    <a:gsLst>
                      <a:gs pos="2917">
                        <a:schemeClr val="tx1"/>
                      </a:gs>
                      <a:gs pos="30000">
                        <a:schemeClr val="tx1"/>
                      </a:gs>
                    </a:gsLst>
                    <a:lin ang="5400000" scaled="0"/>
                  </a:gradFill>
                </a:rPr>
                <a:t>GitHub: </a:t>
              </a:r>
              <a:r>
                <a:rPr lang="en-US" sz="2400">
                  <a:gradFill>
                    <a:gsLst>
                      <a:gs pos="2917">
                        <a:schemeClr val="tx1"/>
                      </a:gs>
                      <a:gs pos="30000">
                        <a:schemeClr val="tx1"/>
                      </a:gs>
                    </a:gsLst>
                    <a:lin ang="5400000" scaled="0"/>
                  </a:gradFill>
                </a:rPr>
                <a:t>software development hosting with version control, source code management, and bug/task management.</a:t>
              </a:r>
            </a:p>
          </p:txBody>
        </p:sp>
      </p:grpSp>
      <p:grpSp>
        <p:nvGrpSpPr>
          <p:cNvPr id="22" name="Group 21" descr="GitHub Actions icon - set of tasks in a flowchart with some checked off.">
            <a:extLst>
              <a:ext uri="{FF2B5EF4-FFF2-40B4-BE49-F238E27FC236}">
                <a16:creationId xmlns:a16="http://schemas.microsoft.com/office/drawing/2014/main" id="{D08733A0-E944-4170-A6C5-08CCB372876F}"/>
              </a:ext>
            </a:extLst>
          </p:cNvPr>
          <p:cNvGrpSpPr/>
          <p:nvPr/>
        </p:nvGrpSpPr>
        <p:grpSpPr>
          <a:xfrm>
            <a:off x="314325" y="3335876"/>
            <a:ext cx="11445586" cy="1083654"/>
            <a:chOff x="661065" y="4238738"/>
            <a:chExt cx="10770860" cy="1083654"/>
          </a:xfrm>
        </p:grpSpPr>
        <p:pic>
          <p:nvPicPr>
            <p:cNvPr id="12" name="Graphic 11">
              <a:extLst>
                <a:ext uri="{FF2B5EF4-FFF2-40B4-BE49-F238E27FC236}">
                  <a16:creationId xmlns:a16="http://schemas.microsoft.com/office/drawing/2014/main" id="{2FF28343-9BB9-4C71-91C1-D0CED20AA99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661065" y="4238738"/>
              <a:ext cx="1083945" cy="1083654"/>
            </a:xfrm>
            <a:prstGeom prst="rect">
              <a:avLst/>
            </a:prstGeom>
          </p:spPr>
        </p:pic>
        <p:sp>
          <p:nvSpPr>
            <p:cNvPr id="19" name="TextBox 18">
              <a:extLst>
                <a:ext uri="{FF2B5EF4-FFF2-40B4-BE49-F238E27FC236}">
                  <a16:creationId xmlns:a16="http://schemas.microsoft.com/office/drawing/2014/main" id="{D77DF5E7-14E7-423E-B840-688ADF6CA324}"/>
                </a:ext>
              </a:extLst>
            </p:cNvPr>
            <p:cNvSpPr txBox="1"/>
            <p:nvPr/>
          </p:nvSpPr>
          <p:spPr>
            <a:xfrm>
              <a:off x="1899305" y="4300434"/>
              <a:ext cx="9532620" cy="960263"/>
            </a:xfrm>
            <a:prstGeom prst="rect">
              <a:avLst/>
            </a:prstGeom>
            <a:noFill/>
          </p:spPr>
          <p:txBody>
            <a:bodyPr wrap="square" lIns="182880" tIns="146304" rIns="182880" bIns="146304" rtlCol="0">
              <a:spAutoFit/>
            </a:bodyPr>
            <a:lstStyle/>
            <a:p>
              <a:pPr>
                <a:lnSpc>
                  <a:spcPct val="90000"/>
                </a:lnSpc>
                <a:spcAft>
                  <a:spcPts val="600"/>
                </a:spcAft>
              </a:pPr>
              <a:r>
                <a:rPr lang="en-US" sz="2400" b="1">
                  <a:gradFill>
                    <a:gsLst>
                      <a:gs pos="2917">
                        <a:schemeClr val="tx1"/>
                      </a:gs>
                      <a:gs pos="30000">
                        <a:schemeClr val="tx1"/>
                      </a:gs>
                    </a:gsLst>
                    <a:lin ang="5400000" scaled="0"/>
                  </a:gradFill>
                </a:rPr>
                <a:t>GitHub Actions for Azure: </a:t>
              </a:r>
              <a:r>
                <a:rPr lang="en-US" sz="2400">
                  <a:gradFill>
                    <a:gsLst>
                      <a:gs pos="2917">
                        <a:schemeClr val="tx1"/>
                      </a:gs>
                      <a:gs pos="30000">
                        <a:schemeClr val="tx1"/>
                      </a:gs>
                    </a:gsLst>
                    <a:lin ang="5400000" scaled="0"/>
                  </a:gradFill>
                </a:rPr>
                <a:t>a</a:t>
              </a:r>
              <a:r>
                <a:rPr lang="en-US" sz="2400" b="0"/>
                <a:t>utomate software workflow to build, test, and deploy from withing GitHub.</a:t>
              </a:r>
            </a:p>
          </p:txBody>
        </p:sp>
      </p:grpSp>
      <p:grpSp>
        <p:nvGrpSpPr>
          <p:cNvPr id="23" name="Group 22" descr="Azure DevTest Labs icon - experiment beaker sitting on the cloud.">
            <a:extLst>
              <a:ext uri="{FF2B5EF4-FFF2-40B4-BE49-F238E27FC236}">
                <a16:creationId xmlns:a16="http://schemas.microsoft.com/office/drawing/2014/main" id="{82D090D9-AC1B-4C70-98D1-5F92943D81C1}"/>
              </a:ext>
            </a:extLst>
          </p:cNvPr>
          <p:cNvGrpSpPr/>
          <p:nvPr/>
        </p:nvGrpSpPr>
        <p:grpSpPr>
          <a:xfrm>
            <a:off x="314325" y="4493996"/>
            <a:ext cx="11445585" cy="1083655"/>
            <a:chOff x="661064" y="5558521"/>
            <a:chExt cx="10770861" cy="1083655"/>
          </a:xfrm>
        </p:grpSpPr>
        <p:pic>
          <p:nvPicPr>
            <p:cNvPr id="14" name="Graphic 13">
              <a:extLst>
                <a:ext uri="{FF2B5EF4-FFF2-40B4-BE49-F238E27FC236}">
                  <a16:creationId xmlns:a16="http://schemas.microsoft.com/office/drawing/2014/main" id="{606B8AFD-CBE4-4100-AB4F-A1E669C1106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661064" y="5558521"/>
              <a:ext cx="1083946" cy="1083655"/>
            </a:xfrm>
            <a:prstGeom prst="rect">
              <a:avLst/>
            </a:prstGeom>
          </p:spPr>
        </p:pic>
        <p:sp>
          <p:nvSpPr>
            <p:cNvPr id="20" name="TextBox 19">
              <a:extLst>
                <a:ext uri="{FF2B5EF4-FFF2-40B4-BE49-F238E27FC236}">
                  <a16:creationId xmlns:a16="http://schemas.microsoft.com/office/drawing/2014/main" id="{2C07F6C7-AC66-4577-A476-E82543BA8AAD}"/>
                </a:ext>
              </a:extLst>
            </p:cNvPr>
            <p:cNvSpPr txBox="1"/>
            <p:nvPr/>
          </p:nvSpPr>
          <p:spPr>
            <a:xfrm>
              <a:off x="1899305" y="5620218"/>
              <a:ext cx="9532620" cy="960263"/>
            </a:xfrm>
            <a:prstGeom prst="rect">
              <a:avLst/>
            </a:prstGeom>
            <a:noFill/>
          </p:spPr>
          <p:txBody>
            <a:bodyPr wrap="square" lIns="182880" tIns="146304" rIns="182880" bIns="146304" rtlCol="0">
              <a:spAutoFit/>
            </a:bodyPr>
            <a:lstStyle/>
            <a:p>
              <a:pPr>
                <a:lnSpc>
                  <a:spcPct val="90000"/>
                </a:lnSpc>
                <a:spcAft>
                  <a:spcPts val="600"/>
                </a:spcAft>
              </a:pPr>
              <a:r>
                <a:rPr lang="en-US" sz="2400" b="1">
                  <a:gradFill>
                    <a:gsLst>
                      <a:gs pos="2917">
                        <a:schemeClr val="tx1"/>
                      </a:gs>
                      <a:gs pos="30000">
                        <a:schemeClr val="tx1"/>
                      </a:gs>
                    </a:gsLst>
                    <a:lin ang="5400000" scaled="0"/>
                  </a:gradFill>
                </a:rPr>
                <a:t>Azure DevTest Labs: </a:t>
              </a:r>
              <a:r>
                <a:rPr lang="en-IE" sz="2400" b="0" i="0"/>
                <a:t>quickly create environments in Azure while minimizing waste and controlling cost.</a:t>
              </a:r>
              <a:endParaRPr lang="en-US" sz="3200" b="1"/>
            </a:p>
          </p:txBody>
        </p:sp>
      </p:grpSp>
      <p:pic>
        <p:nvPicPr>
          <p:cNvPr id="2" name="Picture 1">
            <a:extLst>
              <a:ext uri="{FF2B5EF4-FFF2-40B4-BE49-F238E27FC236}">
                <a16:creationId xmlns:a16="http://schemas.microsoft.com/office/drawing/2014/main" id="{A0DE1153-0FF5-4E20-8745-305EEAC39783}"/>
              </a:ex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4591050" y="6486525"/>
            <a:ext cx="3009900" cy="371475"/>
          </a:xfrm>
          <a:prstGeom prst="rect">
            <a:avLst/>
          </a:prstGeom>
        </p:spPr>
      </p:pic>
    </p:spTree>
    <p:extLst>
      <p:ext uri="{BB962C8B-B14F-4D97-AF65-F5344CB8AC3E}">
        <p14:creationId xmlns:p14="http://schemas.microsoft.com/office/powerpoint/2010/main" val="1587513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Discussion</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8643" y="1243047"/>
            <a:ext cx="1132980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defRPr/>
            </a:pPr>
            <a:r>
              <a:rPr lang="en-US" sz="1961" dirty="0">
                <a:solidFill>
                  <a:srgbClr val="FFFFFF"/>
                </a:solidFill>
                <a:latin typeface="Segoe UI Semibold"/>
              </a:rPr>
              <a:t>HKJC use case</a:t>
            </a:r>
          </a:p>
        </p:txBody>
      </p:sp>
      <p:sp>
        <p:nvSpPr>
          <p:cNvPr id="8" name="Rectangle 7">
            <a:extLst>
              <a:ext uri="{FF2B5EF4-FFF2-40B4-BE49-F238E27FC236}">
                <a16:creationId xmlns:a16="http://schemas.microsoft.com/office/drawing/2014/main" id="{169F3006-8609-4CDD-B431-90D1B3D88F78}"/>
              </a:ext>
            </a:extLst>
          </p:cNvPr>
          <p:cNvSpPr/>
          <p:nvPr/>
        </p:nvSpPr>
        <p:spPr>
          <a:xfrm>
            <a:off x="4169869" y="1885550"/>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defRPr/>
            </a:pPr>
            <a:r>
              <a:rPr lang="en-US" dirty="0">
                <a:solidFill>
                  <a:schemeClr val="tx2">
                    <a:lumMod val="50000"/>
                  </a:schemeClr>
                </a:solidFill>
                <a:latin typeface="Segoe UI"/>
              </a:rPr>
              <a:t>Any use case for Big Data Analysis?</a:t>
            </a: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69869" y="2496364"/>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A1C3FAD-9381-4EE0-8345-F88F6A7F84D6}"/>
              </a:ext>
            </a:extLst>
          </p:cNvPr>
          <p:cNvSpPr/>
          <p:nvPr/>
        </p:nvSpPr>
        <p:spPr>
          <a:xfrm>
            <a:off x="4169869" y="2512680"/>
            <a:ext cx="7590042"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defRPr/>
            </a:pPr>
            <a:r>
              <a:rPr lang="en-US" dirty="0">
                <a:solidFill>
                  <a:schemeClr val="tx2">
                    <a:lumMod val="50000"/>
                  </a:schemeClr>
                </a:solidFill>
                <a:latin typeface="Segoe UI"/>
              </a:rPr>
              <a:t>Privacy? Latency? Synchronization issue?</a:t>
            </a:r>
          </a:p>
        </p:txBody>
      </p:sp>
      <p:cxnSp>
        <p:nvCxnSpPr>
          <p:cNvPr id="11" name="Straight Connector 10">
            <a:extLst>
              <a:ext uri="{FF2B5EF4-FFF2-40B4-BE49-F238E27FC236}">
                <a16:creationId xmlns:a16="http://schemas.microsoft.com/office/drawing/2014/main" id="{DB905F8E-10CE-4B6E-B967-66074399B7A7}"/>
              </a:ext>
              <a:ext uri="{C183D7F6-B498-43B3-948B-1728B52AA6E4}">
                <adec:decorative xmlns:adec="http://schemas.microsoft.com/office/drawing/2017/decorative" val="1"/>
              </a:ext>
            </a:extLst>
          </p:cNvPr>
          <p:cNvCxnSpPr>
            <a:cxnSpLocks/>
          </p:cNvCxnSpPr>
          <p:nvPr/>
        </p:nvCxnSpPr>
        <p:spPr>
          <a:xfrm>
            <a:off x="4169869" y="3112911"/>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708" y="1985047"/>
            <a:ext cx="1465263" cy="2130976"/>
          </a:xfrm>
          <a:prstGeom prst="rect">
            <a:avLst/>
          </a:prstGeom>
        </p:spPr>
      </p:pic>
      <p:sp>
        <p:nvSpPr>
          <p:cNvPr id="13" name="TextBox 12">
            <a:extLst>
              <a:ext uri="{FF2B5EF4-FFF2-40B4-BE49-F238E27FC236}">
                <a16:creationId xmlns:a16="http://schemas.microsoft.com/office/drawing/2014/main" id="{706C342B-22B9-4704-A222-EFA54D93CBE1}"/>
              </a:ext>
            </a:extLst>
          </p:cNvPr>
          <p:cNvSpPr txBox="1"/>
          <p:nvPr/>
        </p:nvSpPr>
        <p:spPr>
          <a:xfrm>
            <a:off x="4093925" y="3175288"/>
            <a:ext cx="7590042" cy="362072"/>
          </a:xfrm>
          <a:prstGeom prst="rect">
            <a:avLst/>
          </a:prstGeom>
          <a:noFill/>
        </p:spPr>
        <p:txBody>
          <a:bodyPr wrap="square">
            <a:spAutoFit/>
          </a:bodyPr>
          <a:lstStyle/>
          <a:p>
            <a:r>
              <a:rPr lang="en-US" sz="1730" dirty="0">
                <a:solidFill>
                  <a:schemeClr val="tx2">
                    <a:lumMod val="50000"/>
                  </a:schemeClr>
                </a:solidFill>
              </a:rPr>
              <a:t>CI / CD in Azure DevOps </a:t>
            </a:r>
            <a:r>
              <a:rPr lang="en-US" sz="1730" b="1" u="sng" dirty="0">
                <a:solidFill>
                  <a:schemeClr val="tx2">
                    <a:lumMod val="50000"/>
                  </a:schemeClr>
                </a:solidFill>
              </a:rPr>
              <a:t>vs</a:t>
            </a:r>
            <a:r>
              <a:rPr lang="en-US" sz="1730" dirty="0">
                <a:solidFill>
                  <a:schemeClr val="tx2">
                    <a:lumMod val="50000"/>
                  </a:schemeClr>
                </a:solidFill>
              </a:rPr>
              <a:t> on premises Jenkins + Spinnaker</a:t>
            </a:r>
          </a:p>
        </p:txBody>
      </p:sp>
      <p:cxnSp>
        <p:nvCxnSpPr>
          <p:cNvPr id="15" name="Straight Connector 14">
            <a:extLst>
              <a:ext uri="{FF2B5EF4-FFF2-40B4-BE49-F238E27FC236}">
                <a16:creationId xmlns:a16="http://schemas.microsoft.com/office/drawing/2014/main" id="{7BC8E48C-D936-4F3B-A613-B3255924E27A}"/>
              </a:ext>
              <a:ext uri="{C183D7F6-B498-43B3-948B-1728B52AA6E4}">
                <adec:decorative xmlns:adec="http://schemas.microsoft.com/office/drawing/2017/decorative" val="1"/>
              </a:ext>
            </a:extLst>
          </p:cNvPr>
          <p:cNvCxnSpPr>
            <a:cxnSpLocks/>
          </p:cNvCxnSpPr>
          <p:nvPr/>
        </p:nvCxnSpPr>
        <p:spPr>
          <a:xfrm>
            <a:off x="4169869" y="3667152"/>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6238913"/>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3345</Words>
  <Application>Microsoft Office PowerPoint</Application>
  <PresentationFormat>Widescreen</PresentationFormat>
  <Paragraphs>300</Paragraphs>
  <Slides>27</Slides>
  <Notes>21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27</vt:i4>
      </vt:variant>
    </vt:vector>
  </HeadingPairs>
  <TitlesOfParts>
    <vt:vector size="38" baseType="lpstr">
      <vt:lpstr>-apple-system</vt:lpstr>
      <vt:lpstr>Arial,Sans-Serif</vt:lpstr>
      <vt:lpstr>Arial</vt:lpstr>
      <vt:lpstr>Calibri</vt:lpstr>
      <vt:lpstr>Roboto</vt:lpstr>
      <vt:lpstr>Segoe UI</vt:lpstr>
      <vt:lpstr>Segoe UI Light</vt:lpstr>
      <vt:lpstr>Segoe UI Semibold</vt:lpstr>
      <vt:lpstr>Segoe UI Semilight</vt:lpstr>
      <vt:lpstr>Wingdings</vt:lpstr>
      <vt:lpstr>Microsoft Power Platform Template</vt:lpstr>
      <vt:lpstr>Module 03:  Data integration solution</vt:lpstr>
      <vt:lpstr>Module Outline</vt:lpstr>
      <vt:lpstr>Module 03 – Outline</vt:lpstr>
      <vt:lpstr>Azure Data integration solution</vt:lpstr>
      <vt:lpstr>Azure Data Factory</vt:lpstr>
      <vt:lpstr>Data-driven workflows </vt:lpstr>
      <vt:lpstr>PowerPoint Presentation</vt:lpstr>
      <vt:lpstr>PowerPoint Presentation</vt:lpstr>
      <vt:lpstr>PowerPoint Presentation</vt:lpstr>
      <vt:lpstr>Azure Data Lake </vt:lpstr>
      <vt:lpstr>Azure Data Lake </vt:lpstr>
      <vt:lpstr>Compare Azure Data Lake to Azure Blob storage</vt:lpstr>
      <vt:lpstr>Azure Data analytics solution</vt:lpstr>
      <vt:lpstr>Azure Databricks </vt:lpstr>
      <vt:lpstr>Azure Databricks</vt:lpstr>
      <vt:lpstr>PowerPoint Presentation</vt:lpstr>
      <vt:lpstr>Azure Synapse Analytics </vt:lpstr>
      <vt:lpstr>Azure Synapse Analytics</vt:lpstr>
      <vt:lpstr>Compare Azure Data Factory to Azure Synapse Analytics</vt:lpstr>
      <vt:lpstr>Compare Synapse to Databricks</vt:lpstr>
      <vt:lpstr>Azure Stream Analytics</vt:lpstr>
      <vt:lpstr>Azure Stream Analytics </vt:lpstr>
      <vt:lpstr>Other Azure Solutions</vt:lpstr>
      <vt:lpstr>Artificial Intelligence &amp; Machine Learning</vt:lpstr>
      <vt:lpstr>Serverless Computing</vt:lpstr>
      <vt:lpstr>Develop your apps with DevOps and GitHub</vt:lpstr>
      <vt:lpstr>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2022-01-26T16:42:23Z</dcterms:created>
  <dcterms:modified xsi:type="dcterms:W3CDTF">2022-07-12T10:28:16Z</dcterms:modified>
</cp:coreProperties>
</file>