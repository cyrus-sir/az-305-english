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742" r:id="rId5"/>
  </p:sldMasterIdLst>
  <p:notesMasterIdLst>
    <p:notesMasterId r:id="rId22"/>
  </p:notesMasterIdLst>
  <p:handoutMasterIdLst>
    <p:handoutMasterId r:id="rId23"/>
  </p:handoutMasterIdLst>
  <p:sldIdLst>
    <p:sldId id="262" r:id="rId6"/>
    <p:sldId id="1856" r:id="rId7"/>
    <p:sldId id="1945" r:id="rId8"/>
    <p:sldId id="1864" r:id="rId9"/>
    <p:sldId id="1937" r:id="rId10"/>
    <p:sldId id="1946" r:id="rId11"/>
    <p:sldId id="1958" r:id="rId12"/>
    <p:sldId id="1904" r:id="rId13"/>
    <p:sldId id="1944" r:id="rId14"/>
    <p:sldId id="1876" r:id="rId15"/>
    <p:sldId id="1938" r:id="rId16"/>
    <p:sldId id="1963" r:id="rId17"/>
    <p:sldId id="1964" r:id="rId18"/>
    <p:sldId id="1965" r:id="rId19"/>
    <p:sldId id="1966" r:id="rId20"/>
    <p:sldId id="1967" r:id="rId21"/>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Template" id="{A073DAE3-B461-442F-A3D3-6642BD875E45}">
          <p14:sldIdLst>
            <p14:sldId id="262"/>
            <p14:sldId id="1856"/>
            <p14:sldId id="1945"/>
            <p14:sldId id="1864"/>
            <p14:sldId id="1937"/>
            <p14:sldId id="1946"/>
            <p14:sldId id="1958"/>
            <p14:sldId id="1904"/>
            <p14:sldId id="1944"/>
            <p14:sldId id="1876"/>
            <p14:sldId id="1938"/>
            <p14:sldId id="1963"/>
            <p14:sldId id="1964"/>
            <p14:sldId id="1965"/>
            <p14:sldId id="1966"/>
            <p14:sldId id="196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14"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8D4"/>
    <a:srgbClr val="0079D6"/>
    <a:srgbClr val="75757A"/>
    <a:srgbClr val="FFFFFF"/>
    <a:srgbClr val="243A5E"/>
    <a:srgbClr val="E7ECF7"/>
    <a:srgbClr val="CBD6EF"/>
    <a:srgbClr val="0066FF"/>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94AD43-8212-46AA-BED1-A762917CA37F}" v="1" dt="2021-05-07T22:38:45.8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081" autoAdjust="0"/>
  </p:normalViewPr>
  <p:slideViewPr>
    <p:cSldViewPr snapToGrid="0">
      <p:cViewPr varScale="1">
        <p:scale>
          <a:sx n="73" d="100"/>
          <a:sy n="73" d="100"/>
        </p:scale>
        <p:origin x="1152" y="7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7/12/2022 9:34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7/12/2022 9:34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microsoft.com/en-us/azure/active-directory/conditional-access/overview"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 and SkillPipe content order note:</a:t>
            </a:r>
          </a:p>
          <a:p>
            <a:r>
              <a:rPr lang="en-US" dirty="0"/>
              <a:t>Slides 1-5</a:t>
            </a:r>
          </a:p>
          <a:p>
            <a:r>
              <a:rPr lang="en-US" dirty="0"/>
              <a:t>https://docs.microsoft.com/en-us/learn/modules/secure-access-azure-identity-services/1-introduction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065685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 and SkillPipe content order note:</a:t>
            </a:r>
          </a:p>
          <a:p>
            <a:r>
              <a:rPr lang="en-US" dirty="0"/>
              <a:t>Slides 1-5</a:t>
            </a:r>
          </a:p>
          <a:p>
            <a:r>
              <a:rPr lang="en-US" dirty="0"/>
              <a:t>https://docs.microsoft.com/en-us/learn/modules/secure-access-azure-identity-services/1-introduction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 and SkillPipe content order note:</a:t>
            </a:r>
          </a:p>
          <a:p>
            <a:r>
              <a:rPr lang="en-US" dirty="0"/>
              <a:t>Slides 1-5</a:t>
            </a:r>
          </a:p>
          <a:p>
            <a:r>
              <a:rPr lang="en-US" dirty="0"/>
              <a:t>https://docs.microsoft.com/en-us/learn/modules/secure-access-azure-identity-services/1-introduction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980802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 and SkillPipe content order note:</a:t>
            </a:r>
          </a:p>
          <a:p>
            <a:r>
              <a:rPr lang="en-US" dirty="0"/>
              <a:t>Slides 1-5</a:t>
            </a:r>
          </a:p>
          <a:p>
            <a:r>
              <a:rPr lang="en-US" dirty="0"/>
              <a:t>https://docs.microsoft.com/en-us/learn/modules/secure-access-azure-identity-services/1-introduction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7/12/2022 9:34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779329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u="none" strike="noStrike" kern="1200" dirty="0">
                <a:solidFill>
                  <a:schemeClr val="tx1"/>
                </a:solidFill>
                <a:effectLst/>
                <a:latin typeface="Segoe UI Light" pitchFamily="34" charset="0"/>
                <a:ea typeface="+mn-ea"/>
                <a:cs typeface="+mn-cs"/>
              </a:rPr>
              <a:t>✔️</a:t>
            </a:r>
            <a:r>
              <a:rPr lang="en-IE" sz="900" b="0" i="0" u="none" strike="noStrike" kern="1200" dirty="0">
                <a:solidFill>
                  <a:schemeClr val="tx1"/>
                </a:solidFill>
                <a:effectLst/>
                <a:latin typeface="Segoe UI Light" pitchFamily="34" charset="0"/>
                <a:ea typeface="+mn-ea"/>
                <a:cs typeface="+mn-cs"/>
              </a:rPr>
              <a:t>Authentication is sometimes shortened to </a:t>
            </a:r>
            <a:r>
              <a:rPr lang="en-IE" sz="900" b="0" i="1" u="none" strike="noStrike" kern="1200" dirty="0" err="1">
                <a:solidFill>
                  <a:schemeClr val="tx1"/>
                </a:solidFill>
                <a:effectLst/>
                <a:latin typeface="Segoe UI Light" pitchFamily="34" charset="0"/>
                <a:ea typeface="+mn-ea"/>
                <a:cs typeface="+mn-cs"/>
              </a:rPr>
              <a:t>AuthN</a:t>
            </a:r>
            <a:r>
              <a:rPr lang="en-IE" sz="900" b="0" i="0" u="none" strike="noStrike" kern="1200" dirty="0">
                <a:solidFill>
                  <a:schemeClr val="tx1"/>
                </a:solidFill>
                <a:effectLst/>
                <a:latin typeface="Segoe UI Light" pitchFamily="34" charset="0"/>
                <a:ea typeface="+mn-ea"/>
                <a:cs typeface="+mn-cs"/>
              </a:rPr>
              <a:t>, and authorization is sometimes shortened to </a:t>
            </a:r>
            <a:r>
              <a:rPr lang="en-IE" sz="900" b="0" i="1" u="none" strike="noStrike" kern="1200" dirty="0" err="1">
                <a:solidFill>
                  <a:schemeClr val="tx1"/>
                </a:solidFill>
                <a:effectLst/>
                <a:latin typeface="Segoe UI Light" pitchFamily="34" charset="0"/>
                <a:ea typeface="+mn-ea"/>
                <a:cs typeface="+mn-cs"/>
              </a:rPr>
              <a:t>AuthZ</a:t>
            </a:r>
            <a:r>
              <a:rPr lang="en-IE" sz="900" b="0" i="0" u="none" strike="noStrike" kern="1200" dirty="0">
                <a:solidFill>
                  <a:schemeClr val="tx1"/>
                </a:solidFill>
                <a:effectLst/>
                <a:latin typeface="Segoe UI Light" pitchFamily="34" charset="0"/>
                <a:ea typeface="+mn-ea"/>
                <a:cs typeface="+mn-cs"/>
              </a:rPr>
              <a:t>.</a:t>
            </a:r>
            <a:endParaRPr lang="en-US" dirty="0"/>
          </a:p>
          <a:p>
            <a:endParaRPr lang="en-US" dirty="0"/>
          </a:p>
          <a:p>
            <a:pPr marL="0" indent="0">
              <a:buNone/>
            </a:pPr>
            <a:r>
              <a:rPr lang="en-US" b="1" dirty="0"/>
              <a:t>Authentication</a:t>
            </a:r>
          </a:p>
          <a:p>
            <a:pPr marL="171450" indent="-171450">
              <a:buFont typeface="Arial" panose="020B0604020202020204" pitchFamily="34" charset="0"/>
              <a:buChar char="•"/>
            </a:pPr>
            <a:r>
              <a:rPr lang="en-US" dirty="0"/>
              <a:t>Identifies the person or service seeking access to a resource. </a:t>
            </a:r>
          </a:p>
          <a:p>
            <a:pPr marL="171450" indent="-171450">
              <a:buFont typeface="Arial" panose="020B0604020202020204" pitchFamily="34" charset="0"/>
              <a:buChar char="•"/>
            </a:pPr>
            <a:r>
              <a:rPr lang="en-US" dirty="0"/>
              <a:t>Requests legitimate access credentials.</a:t>
            </a:r>
          </a:p>
          <a:p>
            <a:pPr marL="171450" indent="-171450">
              <a:buFont typeface="Arial" panose="020B0604020202020204" pitchFamily="34" charset="0"/>
              <a:buChar char="•"/>
            </a:pPr>
            <a:r>
              <a:rPr lang="en-US" dirty="0"/>
              <a:t>Basis for creating secure identity and access control principles.</a:t>
            </a:r>
          </a:p>
          <a:p>
            <a:pPr marL="0" indent="0">
              <a:buNone/>
            </a:pPr>
            <a:r>
              <a:rPr lang="en-US" b="1" dirty="0"/>
              <a:t>Authorization</a:t>
            </a:r>
          </a:p>
          <a:p>
            <a:pPr marL="171450" indent="-171450">
              <a:buFont typeface="Arial" panose="020B0604020202020204" pitchFamily="34" charset="0"/>
              <a:buChar char="•"/>
            </a:pPr>
            <a:r>
              <a:rPr lang="en-US" dirty="0"/>
              <a:t>Determines an authenticated person’s or service’s level of access.</a:t>
            </a:r>
          </a:p>
          <a:p>
            <a:pPr marL="171450" indent="-171450">
              <a:buFont typeface="Arial" panose="020B0604020202020204" pitchFamily="34" charset="0"/>
              <a:buChar char="•"/>
            </a:pPr>
            <a:r>
              <a:rPr lang="en-US" dirty="0"/>
              <a:t>Defines which data they can access, and what they can do with it.</a:t>
            </a:r>
          </a:p>
          <a:p>
            <a:pPr marL="0" indent="0">
              <a:buFont typeface="Arial" panose="020B0604020202020204" pitchFamily="34" charset="0"/>
              <a:buNone/>
            </a:pPr>
            <a:endParaRPr lang="en-US" dirty="0"/>
          </a:p>
          <a:p>
            <a:r>
              <a:rPr lang="en-US" b="1" dirty="0"/>
              <a:t>Learn and SkillPipe content order note:</a:t>
            </a:r>
          </a:p>
          <a:p>
            <a:r>
              <a:rPr lang="en-US" b="0" dirty="0"/>
              <a:t>https://docs.microsoft.com/en-us/learn/modules/secure-access-azure-identity-services/2-compare-authentication-authorization</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7/12/2022 9:34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09806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IE" sz="900" b="0" i="1" dirty="0"/>
              <a:t>Discuss what could qualify for each of the items listed</a:t>
            </a:r>
          </a:p>
          <a:p>
            <a:pPr marL="171450" indent="-171450">
              <a:buFont typeface="Arial" panose="020B0604020202020204" pitchFamily="34" charset="0"/>
              <a:buChar char="•"/>
            </a:pPr>
            <a:r>
              <a:rPr lang="en-IE" sz="900" b="1" i="1" dirty="0"/>
              <a:t>Something you know</a:t>
            </a:r>
            <a:r>
              <a:rPr lang="en-IE" sz="900" i="1" dirty="0"/>
              <a:t>:</a:t>
            </a:r>
            <a:r>
              <a:rPr lang="en-IE" sz="900" dirty="0"/>
              <a:t> This could be a password or the answer to a security question.</a:t>
            </a:r>
          </a:p>
          <a:p>
            <a:pPr marL="171450" indent="-171450">
              <a:buFont typeface="Arial" panose="020B0604020202020204" pitchFamily="34" charset="0"/>
              <a:buChar char="•"/>
            </a:pPr>
            <a:r>
              <a:rPr lang="en-IE" sz="900" b="1" i="1" dirty="0"/>
              <a:t>Something you possess</a:t>
            </a:r>
            <a:r>
              <a:rPr lang="en-IE" sz="900" i="1" dirty="0"/>
              <a:t>:</a:t>
            </a:r>
            <a:r>
              <a:rPr lang="en-IE" sz="900" dirty="0"/>
              <a:t> This might be a mobile app that receives a notification, or a token-generating device.</a:t>
            </a:r>
          </a:p>
          <a:p>
            <a:pPr marL="171450" indent="-171450">
              <a:buFont typeface="Arial" panose="020B0604020202020204" pitchFamily="34" charset="0"/>
              <a:buChar char="•"/>
            </a:pPr>
            <a:r>
              <a:rPr lang="en-IE" sz="900" b="1" i="1" dirty="0"/>
              <a:t>Something you are</a:t>
            </a:r>
            <a:r>
              <a:rPr lang="en-IE" sz="900" i="1" dirty="0"/>
              <a:t>:</a:t>
            </a:r>
            <a:r>
              <a:rPr lang="en-IE" sz="900" dirty="0"/>
              <a:t> This is typically some sort of biometric property, such as a fingerprint or face scan used on many mobile devices.</a:t>
            </a:r>
          </a:p>
          <a:p>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MFA -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https://docs.microsoft.com/en-us/azure/active-directory/authentication/concept-mfa-howitworks</a:t>
            </a:r>
          </a:p>
          <a:p>
            <a:endParaRPr lang="en-IE"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a:t>
            </a:r>
            <a:endParaRPr lang="en-IE" sz="900" b="1" i="0" u="none" strike="noStrike" kern="1200" dirty="0">
              <a:solidFill>
                <a:schemeClr val="tx1"/>
              </a:solidFill>
              <a:effectLst/>
              <a:latin typeface="Segoe UI Light" pitchFamily="34" charset="0"/>
              <a:ea typeface="+mn-ea"/>
              <a:cs typeface="+mn-cs"/>
            </a:endParaRPr>
          </a:p>
          <a:p>
            <a:r>
              <a:rPr lang="en-IE" sz="900" b="0" kern="1200" dirty="0">
                <a:solidFill>
                  <a:schemeClr val="tx1"/>
                </a:solidFill>
                <a:effectLst/>
                <a:latin typeface="Segoe UI Light" pitchFamily="34" charset="0"/>
                <a:ea typeface="+mn-ea"/>
                <a:cs typeface="+mn-cs"/>
              </a:rPr>
              <a:t>Slides 7 &amp; 9</a:t>
            </a:r>
          </a:p>
          <a:p>
            <a:r>
              <a:rPr lang="en-IE" sz="900" b="0" kern="1200" dirty="0">
                <a:solidFill>
                  <a:schemeClr val="tx1"/>
                </a:solidFill>
                <a:effectLst/>
                <a:latin typeface="Segoe UI Light" pitchFamily="34" charset="0"/>
                <a:ea typeface="+mn-ea"/>
                <a:cs typeface="+mn-cs"/>
              </a:rPr>
              <a:t>https://docs.microsoft.com/en-us/learn/modules/secure-access-azure-identity-services/2-compare-authentication-authorization</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7/12/2022 9:34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960289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IE" sz="900" b="1" kern="1200" dirty="0">
                <a:solidFill>
                  <a:schemeClr val="tx1"/>
                </a:solidFill>
                <a:effectLst/>
                <a:latin typeface="Segoe UI Light" pitchFamily="34" charset="0"/>
                <a:ea typeface="+mn-ea"/>
                <a:cs typeface="+mn-cs"/>
              </a:rPr>
              <a:t>Azure AD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https://azure.microsoft.com/en-us/services/active-directory/</a:t>
            </a:r>
          </a:p>
          <a:p>
            <a:pPr marL="0" indent="0">
              <a:buFont typeface="Arial" panose="020B0604020202020204" pitchFamily="34" charset="0"/>
              <a:buNone/>
            </a:pPr>
            <a:endParaRPr lang="en-IE" sz="900" b="0" i="0" u="none" strike="noStrike" kern="1200" dirty="0">
              <a:solidFill>
                <a:schemeClr val="tx1"/>
              </a:solidFill>
              <a:effectLst/>
              <a:latin typeface="Segoe UI Light" pitchFamily="34" charset="0"/>
              <a:ea typeface="+mn-ea"/>
              <a:cs typeface="+mn-cs"/>
            </a:endParaRPr>
          </a:p>
          <a:p>
            <a:r>
              <a:rPr lang="en-US" sz="2800" b="1" dirty="0"/>
              <a:t>Azure tenant</a:t>
            </a:r>
          </a:p>
          <a:p>
            <a:r>
              <a:rPr lang="en-US" sz="2800" dirty="0">
                <a:latin typeface="+mn-lt"/>
              </a:rPr>
              <a:t>A dedicated and trusted instance of Azure AD that's automatically created when your organization signs up for a Microsoft cloud service subscription, such as Microsoft Azure, Microsoft Intune, or Office 365. An Azure tenant represents a single organization.</a:t>
            </a:r>
          </a:p>
          <a:p>
            <a:r>
              <a:rPr lang="en-US" sz="2800" b="1" dirty="0"/>
              <a:t>Azure AD directory</a:t>
            </a:r>
          </a:p>
          <a:p>
            <a:r>
              <a:rPr lang="en-US" sz="2800" dirty="0">
                <a:latin typeface="+mn-lt"/>
              </a:rPr>
              <a:t>Each Azure tenant has a dedicated and trusted Azure AD directory. The Azure AD directory includes the tenant's users, groups, and apps and is used to perform identity and access management functions for tenant resources.</a:t>
            </a:r>
          </a:p>
          <a:p>
            <a:endParaRPr lang="en-US" sz="2800" dirty="0">
              <a:latin typeface="+mn-lt"/>
            </a:endParaRPr>
          </a:p>
          <a:p>
            <a:r>
              <a:rPr lang="en-US" sz="2800" b="1" dirty="0">
                <a:latin typeface="+mn-lt"/>
              </a:rPr>
              <a:t>Learn and SkillPipe content order note: </a:t>
            </a:r>
          </a:p>
          <a:p>
            <a:r>
              <a:rPr lang="en-US" sz="2800" dirty="0">
                <a:latin typeface="+mn-lt"/>
              </a:rPr>
              <a:t>https://docs.microsoft.com/en-us/learn/modules/secure-access-azure-identity-services/3-what-is-azure-active-directory</a:t>
            </a:r>
          </a:p>
          <a:p>
            <a:pPr marL="0" indent="0">
              <a:buFont typeface="Arial" panose="020B0604020202020204" pitchFamily="34" charset="0"/>
              <a:buNone/>
            </a:pPr>
            <a:endParaRPr lang="en-IE" sz="90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538158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https://docs.microsoft.com/en-us/azure/active-directory/conditional-access/overview</a:t>
            </a:r>
            <a:endParaRPr lang="en-US" dirty="0"/>
          </a:p>
          <a:p>
            <a:endParaRPr lang="en-US" dirty="0"/>
          </a:p>
          <a:p>
            <a:pPr algn="l"/>
            <a:r>
              <a:rPr lang="en-US" b="0" i="0" dirty="0">
                <a:solidFill>
                  <a:srgbClr val="171717"/>
                </a:solidFill>
                <a:effectLst/>
                <a:latin typeface="Segoe UI" panose="020B0502040204020203" pitchFamily="34" charset="0"/>
              </a:rPr>
              <a:t>The modern security perimeter now extends beyond an organization's network to include user and device identity. Organizations can utilize these identity signals as part of their access control decisions.</a:t>
            </a:r>
          </a:p>
          <a:p>
            <a:pPr algn="l"/>
            <a:r>
              <a:rPr lang="en-US" b="0" i="0" dirty="0">
                <a:solidFill>
                  <a:srgbClr val="171717"/>
                </a:solidFill>
                <a:effectLst/>
                <a:latin typeface="Segoe UI" panose="020B0502040204020203" pitchFamily="34" charset="0"/>
              </a:rPr>
              <a:t>Conditional Access is the tool used by Azure Active Directory to bring signals together, to make decisions, and enforce organizational policies. Conditional Access is at the heart of the new identity driven control plane.</a:t>
            </a:r>
          </a:p>
          <a:p>
            <a:pPr algn="l"/>
            <a:r>
              <a:rPr lang="en-US" b="0" i="0" dirty="0">
                <a:solidFill>
                  <a:srgbClr val="171717"/>
                </a:solidFill>
                <a:effectLst/>
                <a:latin typeface="Segoe UI" panose="020B0502040204020203" pitchFamily="34" charset="0"/>
              </a:rPr>
              <a:t>Conditional Access policies at their simplest are if-then statements, if a user wants to access a resource, then they must complete an action. Example: A payroll manager wants to access the payroll application and is required to perform multi-factor authentication to access it.</a:t>
            </a:r>
          </a:p>
          <a:p>
            <a:pPr algn="l"/>
            <a:r>
              <a:rPr lang="en-US" b="0" i="0" dirty="0">
                <a:solidFill>
                  <a:srgbClr val="171717"/>
                </a:solidFill>
                <a:effectLst/>
                <a:latin typeface="Segoe UI" panose="020B0502040204020203" pitchFamily="34" charset="0"/>
              </a:rPr>
              <a:t>Administrators are faced with two primary goals:</a:t>
            </a:r>
          </a:p>
          <a:p>
            <a:pPr algn="l">
              <a:buFont typeface="Arial" panose="020B0604020202020204" pitchFamily="34" charset="0"/>
              <a:buChar char="•"/>
            </a:pPr>
            <a:r>
              <a:rPr lang="en-US" b="0" i="0" dirty="0">
                <a:solidFill>
                  <a:srgbClr val="171717"/>
                </a:solidFill>
                <a:effectLst/>
                <a:latin typeface="Segoe UI" panose="020B0502040204020203" pitchFamily="34" charset="0"/>
              </a:rPr>
              <a:t>Empower users to be productive wherever and whenever</a:t>
            </a:r>
          </a:p>
          <a:p>
            <a:pPr algn="l">
              <a:buFont typeface="Arial" panose="020B0604020202020204" pitchFamily="34" charset="0"/>
              <a:buChar char="•"/>
            </a:pPr>
            <a:r>
              <a:rPr lang="en-US" b="0" i="0" dirty="0">
                <a:solidFill>
                  <a:srgbClr val="171717"/>
                </a:solidFill>
                <a:effectLst/>
                <a:latin typeface="Segoe UI" panose="020B0502040204020203" pitchFamily="34" charset="0"/>
              </a:rPr>
              <a:t>Protect the organization's assets</a:t>
            </a:r>
          </a:p>
          <a:p>
            <a:pPr algn="l"/>
            <a:r>
              <a:rPr lang="en-US" b="0" i="0" dirty="0">
                <a:solidFill>
                  <a:srgbClr val="171717"/>
                </a:solidFill>
                <a:effectLst/>
                <a:latin typeface="Segoe UI" panose="020B0502040204020203" pitchFamily="34" charset="0"/>
              </a:rPr>
              <a:t>By using Conditional Access policies, you can apply the right access controls when needed to keep your organization secure and stay out of your user's way when not needed.</a:t>
            </a:r>
          </a:p>
          <a:p>
            <a:endParaRPr lang="en-US" dirty="0"/>
          </a:p>
          <a:p>
            <a:r>
              <a:rPr lang="en-US" sz="800" b="1" i="0" u="none" strike="noStrike" kern="1200" dirty="0">
                <a:solidFill>
                  <a:schemeClr val="tx1"/>
                </a:solidFill>
                <a:effectLst/>
                <a:latin typeface="Segoe UI Light" pitchFamily="34" charset="0"/>
                <a:ea typeface="+mn-ea"/>
                <a:cs typeface="+mn-cs"/>
              </a:rPr>
              <a:t>Learn and SkillPipe content order note:</a:t>
            </a:r>
            <a:endParaRPr lang="en-IE" sz="800" b="1" i="0" u="none" strike="noStrike" kern="1200" dirty="0">
              <a:solidFill>
                <a:schemeClr val="tx1"/>
              </a:solidFill>
              <a:effectLst/>
              <a:latin typeface="Segoe UI Light" pitchFamily="34" charset="0"/>
              <a:ea typeface="+mn-ea"/>
              <a:cs typeface="+mn-cs"/>
            </a:endParaRPr>
          </a:p>
          <a:p>
            <a:r>
              <a:rPr lang="en-IE" sz="800" b="0" kern="1200" dirty="0">
                <a:solidFill>
                  <a:schemeClr val="tx1"/>
                </a:solidFill>
                <a:effectLst/>
                <a:latin typeface="Segoe UI Light" pitchFamily="34" charset="0"/>
                <a:ea typeface="+mn-ea"/>
                <a:cs typeface="+mn-cs"/>
              </a:rPr>
              <a:t>Slides 7 &amp; 9</a:t>
            </a:r>
          </a:p>
          <a:p>
            <a:r>
              <a:rPr lang="en-IE" sz="800" b="0" kern="1200" dirty="0">
                <a:solidFill>
                  <a:schemeClr val="tx1"/>
                </a:solidFill>
                <a:effectLst/>
                <a:latin typeface="Segoe UI Light" pitchFamily="34" charset="0"/>
                <a:ea typeface="+mn-ea"/>
                <a:cs typeface="+mn-cs"/>
              </a:rPr>
              <a:t>https://docs.microsoft.com/en-us/learn/modules/secure-access-azure-identity-services/2-compare-authentication-authorization</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7/12/2022 9:34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586237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 and SkillPipe content order note:</a:t>
            </a:r>
          </a:p>
          <a:p>
            <a:r>
              <a:rPr lang="en-US" dirty="0"/>
              <a:t>Slides 11-12 </a:t>
            </a:r>
          </a:p>
          <a:p>
            <a:r>
              <a:rPr lang="en-US" dirty="0"/>
              <a:t>https://docs.microsoft.com/en-us/learn/modules/build-cloud-governance-strategy-azure/1-introduction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326038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 and SkillPipe content order note:</a:t>
            </a:r>
          </a:p>
          <a:p>
            <a:r>
              <a:rPr lang="en-US" dirty="0"/>
              <a:t>Slides 11-12 </a:t>
            </a:r>
          </a:p>
          <a:p>
            <a:r>
              <a:rPr lang="en-US" dirty="0"/>
              <a:t>https://docs.microsoft.com/en-us/learn/modules/build-cloud-governance-strategy-azure/1-introduction</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7/12/2022 9:34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756284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1" kern="1200" dirty="0">
                <a:solidFill>
                  <a:schemeClr val="tx1"/>
                </a:solidFill>
                <a:effectLst/>
                <a:latin typeface="Segoe UI Light" pitchFamily="34" charset="0"/>
                <a:ea typeface="+mn-ea"/>
                <a:cs typeface="+mn-cs"/>
              </a:rPr>
              <a:t>Azure RBAC </a:t>
            </a:r>
            <a:r>
              <a:rPr lang="en-IE" sz="900" b="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https://docs.microsoft.com/en-us/azure/role-based-access-control/overview</a:t>
            </a:r>
          </a:p>
          <a:p>
            <a:endParaRPr lang="en-IE" sz="900" b="0" i="0" u="none" strike="noStrike" kern="1200" dirty="0">
              <a:solidFill>
                <a:schemeClr val="tx1"/>
              </a:solidFill>
              <a:effectLst/>
              <a:latin typeface="Segoe UI Light" pitchFamily="34" charset="0"/>
              <a:ea typeface="+mn-ea"/>
              <a:cs typeface="+mn-cs"/>
            </a:endParaRPr>
          </a:p>
          <a:p>
            <a:r>
              <a:rPr lang="en-US" sz="900" b="1" dirty="0"/>
              <a:t>Learn and SkillPipe content order note:</a:t>
            </a:r>
          </a:p>
          <a:p>
            <a:r>
              <a:rPr lang="en-US" sz="900" dirty="0"/>
              <a:t>https://docs.microsoft.com/en-us/learn/modules/build-cloud-governance-strategy-azure/4-control-access-azure-rbac</a:t>
            </a:r>
            <a:endParaRPr lang="en-IE" sz="900"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38757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1" kern="1200" dirty="0">
                <a:solidFill>
                  <a:schemeClr val="tx1"/>
                </a:solidFill>
                <a:effectLst/>
                <a:latin typeface="Segoe UI Light" pitchFamily="34" charset="0"/>
                <a:ea typeface="+mn-ea"/>
                <a:cs typeface="+mn-cs"/>
              </a:rPr>
              <a:t>Resource Locks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https://docs.microsoft.com/en-us/azure/azure-resource-manager/resource-group-lock-resources</a:t>
            </a:r>
          </a:p>
          <a:p>
            <a:endParaRPr lang="en-IE"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a:t>
            </a:r>
            <a:endParaRPr lang="en-IE" sz="900" b="1" i="0" u="none" strike="noStrike" kern="1200" dirty="0">
              <a:solidFill>
                <a:schemeClr val="tx1"/>
              </a:solidFill>
              <a:effectLst/>
              <a:latin typeface="Segoe UI Light" pitchFamily="34" charset="0"/>
              <a:ea typeface="+mn-ea"/>
              <a:cs typeface="+mn-cs"/>
            </a:endParaRPr>
          </a:p>
          <a:p>
            <a:r>
              <a:rPr lang="en-IE" sz="900" kern="1200" dirty="0">
                <a:solidFill>
                  <a:schemeClr val="tx1"/>
                </a:solidFill>
                <a:effectLst/>
                <a:latin typeface="Segoe UI Light" pitchFamily="34" charset="0"/>
                <a:ea typeface="+mn-ea"/>
                <a:cs typeface="+mn-cs"/>
              </a:rPr>
              <a:t>https://docs.microsoft.com/en-us/learn/modules/build-cloud-governance-strategy-azure/5-prevent-changes-resource-locks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1601089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kern="1200" dirty="0">
                <a:solidFill>
                  <a:schemeClr val="tx1"/>
                </a:solidFill>
                <a:effectLst/>
                <a:latin typeface="Segoe UI Light" pitchFamily="34" charset="0"/>
                <a:ea typeface="+mn-ea"/>
                <a:cs typeface="+mn-cs"/>
              </a:rPr>
              <a:t>Tags - </a:t>
            </a:r>
            <a:r>
              <a:rPr lang="en-US" sz="882" b="0" kern="1200" dirty="0">
                <a:solidFill>
                  <a:schemeClr val="tx1"/>
                </a:solidFill>
                <a:effectLst/>
                <a:latin typeface="Segoe UI Light" pitchFamily="34" charset="0"/>
                <a:ea typeface="+mn-ea"/>
                <a:cs typeface="+mn-cs"/>
              </a:rPr>
              <a:t>https://docs.microsoft.com/en-us/azure/azure-resource-manager/resource-group-using-tags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https://docs.microsoft.com/en-us/learn/modules/build-cloud-governance-strategy-azure/7-organize-resource-tags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386572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1" kern="1200" dirty="0">
                <a:solidFill>
                  <a:schemeClr val="tx1"/>
                </a:solidFill>
                <a:effectLst/>
                <a:latin typeface="Segoe UI Light" pitchFamily="34" charset="0"/>
                <a:ea typeface="+mn-ea"/>
                <a:cs typeface="+mn-cs"/>
              </a:rPr>
              <a:t>Azure Policy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https://azure.microsoft.com/en-us/services/azure-policy</a:t>
            </a:r>
          </a:p>
          <a:p>
            <a:endParaRPr lang="en-IE" sz="900" b="0" i="0" u="none" strike="noStrike" kern="1200" dirty="0">
              <a:solidFill>
                <a:schemeClr val="tx1"/>
              </a:solidFill>
              <a:effectLst/>
              <a:latin typeface="Segoe UI Light" pitchFamily="34" charset="0"/>
              <a:ea typeface="+mn-ea"/>
              <a:cs typeface="+mn-cs"/>
            </a:endParaRPr>
          </a:p>
          <a:p>
            <a:pPr marL="0" indent="0">
              <a:buNone/>
            </a:pPr>
            <a:r>
              <a:rPr lang="en-US" noProof="0" dirty="0"/>
              <a:t>Stay compliant with your corporate standards and service level agreements (SLAs) by using policy definitions to enforce rules and effects for your Azure resources.</a:t>
            </a:r>
          </a:p>
          <a:p>
            <a:pPr lvl="1">
              <a:lnSpc>
                <a:spcPct val="114000"/>
              </a:lnSpc>
            </a:pPr>
            <a:r>
              <a:rPr lang="en-US" sz="2800" dirty="0">
                <a:latin typeface="Segoe UI Semilight" panose="020B0402040204020203" pitchFamily="34" charset="0"/>
                <a:cs typeface="Segoe UI Semilight" panose="020B0402040204020203" pitchFamily="34" charset="0"/>
              </a:rPr>
              <a:t>Evaluates and identifies Azure resources that do not comply with your policies.</a:t>
            </a:r>
          </a:p>
          <a:p>
            <a:pPr lvl="1">
              <a:lnSpc>
                <a:spcPct val="114000"/>
              </a:lnSpc>
            </a:pPr>
            <a:r>
              <a:rPr lang="en-US" sz="2800" dirty="0">
                <a:latin typeface="Segoe UI Semilight" panose="020B0402040204020203" pitchFamily="34" charset="0"/>
                <a:cs typeface="Segoe UI Semilight" panose="020B0402040204020203" pitchFamily="34" charset="0"/>
              </a:rPr>
              <a:t>Provides built-in policy and initiative definitions, under categories such as Storage, Networking, Compute, Security Center, and Monitoring.</a:t>
            </a:r>
          </a:p>
          <a:p>
            <a:pPr marL="107153" lvl="1" indent="0">
              <a:lnSpc>
                <a:spcPct val="114000"/>
              </a:lnSpc>
              <a:buNone/>
            </a:pPr>
            <a:endParaRPr lang="en-US" sz="2800" dirty="0">
              <a:latin typeface="Segoe UI Semilight" panose="020B0402040204020203" pitchFamily="34" charset="0"/>
              <a:cs typeface="Segoe UI Semilight" panose="020B0402040204020203" pitchFamily="34" charset="0"/>
            </a:endParaRPr>
          </a:p>
          <a:p>
            <a:pPr marL="0" lvl="0" indent="-105829">
              <a:lnSpc>
                <a:spcPct val="114000"/>
              </a:lnSpc>
              <a:buNone/>
            </a:pPr>
            <a:r>
              <a:rPr lang="en-US" sz="2800" b="1" dirty="0">
                <a:latin typeface="Segoe UI Semilight" panose="020B0402040204020203" pitchFamily="34" charset="0"/>
                <a:cs typeface="Segoe UI Semilight" panose="020B0402040204020203" pitchFamily="34" charset="0"/>
              </a:rPr>
              <a:t>Learn content notes:</a:t>
            </a:r>
          </a:p>
          <a:p>
            <a:pPr marL="0" lvl="0" indent="-105829">
              <a:lnSpc>
                <a:spcPct val="114000"/>
              </a:lnSpc>
              <a:buNone/>
            </a:pPr>
            <a:r>
              <a:rPr lang="en-US" sz="2800" b="0" dirty="0">
                <a:latin typeface="Segoe UI Semilight" panose="020B0402040204020203" pitchFamily="34" charset="0"/>
                <a:cs typeface="Segoe UI Semilight" panose="020B0402040204020203" pitchFamily="34" charset="0"/>
              </a:rPr>
              <a:t>https://docs.microsoft.com/en-us/learn/modules/build-cloud-governance-strategy-azure/8-control-audit-resources-azure-policy</a:t>
            </a:r>
          </a:p>
          <a:p>
            <a:pPr marL="0" lvl="0" indent="-105829">
              <a:lnSpc>
                <a:spcPct val="114000"/>
              </a:lnSpc>
              <a:buNone/>
            </a:pPr>
            <a:endParaRPr lang="en-US" sz="2800" b="0" dirty="0">
              <a:latin typeface="Segoe UI Semilight" panose="020B0402040204020203" pitchFamily="34" charset="0"/>
              <a:cs typeface="Segoe UI Semilight" panose="020B0402040204020203" pitchFamily="34" charset="0"/>
            </a:endParaRPr>
          </a:p>
          <a:p>
            <a:endParaRPr lang="en-IE" sz="90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732071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kern="1200" dirty="0">
                <a:solidFill>
                  <a:schemeClr val="tx1"/>
                </a:solidFill>
                <a:effectLst/>
                <a:latin typeface="Segoe UI Light" pitchFamily="34" charset="0"/>
                <a:ea typeface="+mn-ea"/>
                <a:cs typeface="+mn-cs"/>
              </a:rPr>
              <a:t>Azure Blueprints - </a:t>
            </a:r>
            <a:r>
              <a:rPr lang="en-IE" sz="900" b="0" i="0" u="none" strike="noStrike" kern="1200" dirty="0">
                <a:solidFill>
                  <a:schemeClr val="tx1"/>
                </a:solidFill>
                <a:effectLst/>
                <a:latin typeface="Segoe UI Light" pitchFamily="34" charset="0"/>
                <a:ea typeface="+mn-ea"/>
                <a:cs typeface="+mn-cs"/>
              </a:rPr>
              <a:t>https://azure.microsoft.com/en-us/services/blueprints/ </a:t>
            </a:r>
          </a:p>
          <a:p>
            <a:endParaRPr lang="en-IE"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a:t>
            </a:r>
            <a:endParaRPr lang="en-IE" sz="900" b="1" i="0" u="none" strike="noStrike" kern="1200" dirty="0">
              <a:solidFill>
                <a:schemeClr val="tx1"/>
              </a:solidFill>
              <a:effectLst/>
              <a:latin typeface="Segoe UI Light" pitchFamily="34" charset="0"/>
              <a:ea typeface="+mn-ea"/>
              <a:cs typeface="+mn-cs"/>
            </a:endParaRPr>
          </a:p>
          <a:p>
            <a:r>
              <a:rPr lang="en-IE" sz="900" kern="1200" dirty="0">
                <a:solidFill>
                  <a:schemeClr val="tx1"/>
                </a:solidFill>
                <a:effectLst/>
                <a:latin typeface="Segoe UI Light" pitchFamily="34" charset="0"/>
                <a:ea typeface="+mn-ea"/>
                <a:cs typeface="+mn-cs"/>
              </a:rPr>
              <a:t>https://docs.microsoft.com/en-us/learn/modules/build-cloud-governance-strategy-azure/10-govern-subscriptions-azure-blueprints</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006998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786807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0550708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785611115"/>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574682271"/>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2141542450"/>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76752091"/>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48884094"/>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b="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52473174"/>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26099930"/>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00770805"/>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61624081"/>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53346740"/>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93312492"/>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9083783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8292701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2050551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8617051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6914817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94369006"/>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26845756"/>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2585052646"/>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4684556"/>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401338606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72843527"/>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57745376"/>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83676415"/>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9878733"/>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652621162"/>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52701743"/>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32485939"/>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9570536"/>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47277286"/>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03354916"/>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69884972"/>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35160821"/>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71621976"/>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28964631"/>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2465028"/>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29814797"/>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46412580"/>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77935363"/>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33505311"/>
      </p:ext>
    </p:extLst>
  </p:cSld>
  <p:clrMapOvr>
    <a:masterClrMapping/>
  </p:clrMapOvr>
  <p:transition>
    <p:fade/>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73535775"/>
      </p:ext>
    </p:extLst>
  </p:cSld>
  <p:clrMapOvr>
    <a:masterClrMapping/>
  </p:clrMapOvr>
  <p:transition>
    <p:fade/>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32802126"/>
      </p:ext>
    </p:extLst>
  </p:cSld>
  <p:clrMapOvr>
    <a:masterClrMapping/>
  </p:clrMapOvr>
  <p:transition>
    <p:fade/>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647890147"/>
      </p:ext>
    </p:extLst>
  </p:cSld>
  <p:clrMapOvr>
    <a:masterClrMapping/>
  </p:clrMapOvr>
  <p:transition>
    <p:fade/>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1793051697"/>
      </p:ext>
    </p:extLst>
  </p:cSld>
  <p:clrMapOvr>
    <a:masterClrMapping/>
  </p:clrMapOvr>
  <p:transition>
    <p:fade/>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932139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50430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8208804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slideLayout" Target="../slideLayouts/slideLayout53.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50" Type="http://schemas.openxmlformats.org/officeDocument/2006/relationships/theme" Target="../theme/theme2.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41" Type="http://schemas.openxmlformats.org/officeDocument/2006/relationships/slideLayout" Target="../slideLayouts/slideLayout55.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10" r:id="rId1"/>
    <p:sldLayoutId id="2147484580" r:id="rId2"/>
    <p:sldLayoutId id="2147484609" r:id="rId3"/>
    <p:sldLayoutId id="2147484741" r:id="rId4"/>
    <p:sldLayoutId id="2147484240" r:id="rId5"/>
    <p:sldLayoutId id="2147484241" r:id="rId6"/>
    <p:sldLayoutId id="2147484474" r:id="rId7"/>
    <p:sldLayoutId id="2147484245" r:id="rId8"/>
    <p:sldLayoutId id="2147484247" r:id="rId9"/>
    <p:sldLayoutId id="2147484639" r:id="rId10"/>
    <p:sldLayoutId id="2147484603" r:id="rId11"/>
    <p:sldLayoutId id="2147484584" r:id="rId12"/>
    <p:sldLayoutId id="2147484583" r:id="rId13"/>
    <p:sldLayoutId id="2147484256" r:id="rId1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CEF2ED8F-31D4-420F-9D61-704FD8E7C843}"/>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0111FADA-DE23-4B5F-B22E-47972D70E50F}"/>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7A2BBA0C-6C26-4E6D-944B-9C840495A1DF}"/>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94748521-AF25-4BBB-B5EC-07C69C341EEE}"/>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C2535EB-364E-4841-89B5-DBBC279633C2}"/>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59B9E6-A9AF-4F3C-B49F-1E9F98990082}"/>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A5535C-A479-4959-8AE9-738E82B46CED}"/>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EFCF61-FF6B-4713-A6EB-9182548234E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F13E9D4-7FC7-4D73-87B1-B739D3DC22CD}"/>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5BA2563-1DE5-437B-AEB0-FB25DEBE3A20}"/>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838C6FC-53FE-4764-9DBB-C3D63575B776}"/>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F59490E-98FA-4FA1-AB99-0CCAEC1B2C1E}"/>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FCD70E6-A660-414E-9CF6-21452B8B4B1B}"/>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E21A0ED-044E-41CE-B599-F93A6C068200}"/>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87280A4-5041-47DB-A5DB-01F1C7CD802D}"/>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0208A3C-0C9C-4C37-9A8D-FD90E96B511B}"/>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55CC399-5BB5-40AD-802C-00200021594C}"/>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CB6D16-7D1D-48C9-A4D0-462AB09A0C2D}"/>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40E8F40-A56F-45A7-BC61-134F5B97AD2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6FA1E2D-9F48-4C34-A9DE-E754F4F4F7F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F2B8F84-0A44-403A-A7AA-5B7AF89465EC}"/>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C1E80A8-DDFC-454B-973F-5DC6DB899150}"/>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009BBD5-8310-413C-8BF0-4920E9727963}"/>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951FF44-679E-41C4-AB59-9A8B24B7B591}"/>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35199FB-1BCF-47B6-8A59-EC19E369A90A}"/>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6C202E-09B2-4F4C-AF2D-14A6CFD09AD1}"/>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CACFD4E-6DB9-4A1A-A800-DBB6D47C820D}"/>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594A019-34AD-463A-BD44-90161B846D83}"/>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150D4C3-A648-4D19-94CB-11C056D1BADA}"/>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7C94FAE-607C-4274-BE62-8082CD36D8C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4E46433-83E8-4352-9553-3F295D51CBF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1C79139-AC94-4DE7-8B8C-EB7A00D8B8F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7FE188E-2ED6-4DA4-9846-AE77F5E3D5BB}"/>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58F675F-0C91-4552-8ECB-FB3D640AFC0B}"/>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96A4CE6-A0C6-45A1-81D9-994937FDD1F3}"/>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4B62C0-555B-4723-838B-FEA337A87A4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2814037-12AC-4AF7-9846-3729EA7E74B1}"/>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301479B6-D5C0-4FB6-89A6-EFFD72D5382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27B7F857-C180-4EBB-85E4-596D6E286755}"/>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55392230"/>
      </p:ext>
    </p:extLst>
  </p:cSld>
  <p:clrMap bg1="lt1" tx1="dk1" bg2="lt2" tx2="dk2" accent1="accent1" accent2="accent2" accent3="accent3" accent4="accent4" accent5="accent5" accent6="accent6" hlink="hlink" folHlink="folHlink"/>
  <p:sldLayoutIdLst>
    <p:sldLayoutId id="2147484743" r:id="rId1"/>
    <p:sldLayoutId id="2147484744" r:id="rId2"/>
    <p:sldLayoutId id="2147484745" r:id="rId3"/>
    <p:sldLayoutId id="2147484746" r:id="rId4"/>
    <p:sldLayoutId id="2147484747" r:id="rId5"/>
    <p:sldLayoutId id="2147484748" r:id="rId6"/>
    <p:sldLayoutId id="2147484749" r:id="rId7"/>
    <p:sldLayoutId id="2147484750" r:id="rId8"/>
    <p:sldLayoutId id="2147484751" r:id="rId9"/>
    <p:sldLayoutId id="2147484752" r:id="rId10"/>
    <p:sldLayoutId id="2147484753" r:id="rId11"/>
    <p:sldLayoutId id="2147484754" r:id="rId12"/>
    <p:sldLayoutId id="2147484755" r:id="rId13"/>
    <p:sldLayoutId id="2147484756" r:id="rId14"/>
    <p:sldLayoutId id="2147484757" r:id="rId15"/>
    <p:sldLayoutId id="2147484758" r:id="rId16"/>
    <p:sldLayoutId id="2147484759" r:id="rId17"/>
    <p:sldLayoutId id="2147484760" r:id="rId18"/>
    <p:sldLayoutId id="2147484761" r:id="rId19"/>
    <p:sldLayoutId id="2147484762" r:id="rId20"/>
    <p:sldLayoutId id="2147484763" r:id="rId21"/>
    <p:sldLayoutId id="2147484764" r:id="rId22"/>
    <p:sldLayoutId id="2147484765" r:id="rId23"/>
    <p:sldLayoutId id="2147484766" r:id="rId24"/>
    <p:sldLayoutId id="2147484767" r:id="rId25"/>
    <p:sldLayoutId id="2147484768" r:id="rId26"/>
    <p:sldLayoutId id="2147484769" r:id="rId27"/>
    <p:sldLayoutId id="2147484770" r:id="rId28"/>
    <p:sldLayoutId id="2147484771" r:id="rId29"/>
    <p:sldLayoutId id="2147484772" r:id="rId30"/>
    <p:sldLayoutId id="2147484773" r:id="rId31"/>
    <p:sldLayoutId id="2147484774" r:id="rId32"/>
    <p:sldLayoutId id="2147484775" r:id="rId33"/>
    <p:sldLayoutId id="2147484776" r:id="rId34"/>
    <p:sldLayoutId id="2147484777" r:id="rId35"/>
    <p:sldLayoutId id="2147484778" r:id="rId36"/>
    <p:sldLayoutId id="2147484779" r:id="rId37"/>
    <p:sldLayoutId id="2147484780" r:id="rId38"/>
    <p:sldLayoutId id="2147484781" r:id="rId39"/>
    <p:sldLayoutId id="2147484782" r:id="rId40"/>
    <p:sldLayoutId id="2147484783" r:id="rId41"/>
    <p:sldLayoutId id="2147484784" r:id="rId42"/>
    <p:sldLayoutId id="2147484785" r:id="rId43"/>
    <p:sldLayoutId id="2147484786" r:id="rId44"/>
    <p:sldLayoutId id="2147484787" r:id="rId45"/>
    <p:sldLayoutId id="2147484788" r:id="rId46"/>
    <p:sldLayoutId id="2147484789" r:id="rId47"/>
    <p:sldLayoutId id="2147484790" r:id="rId48"/>
    <p:sldLayoutId id="2147484791" r:id="rId49"/>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svg"/><Relationship Id="rId2" Type="http://schemas.openxmlformats.org/officeDocument/2006/relationships/notesSlide" Target="../notesSlides/notesSlide5.xml"/><Relationship Id="rId16" Type="http://schemas.openxmlformats.org/officeDocument/2006/relationships/image" Target="../media/image35.png"/><Relationship Id="rId1" Type="http://schemas.openxmlformats.org/officeDocument/2006/relationships/slideLayout" Target="../slideLayouts/slideLayout22.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png"/><Relationship Id="rId15" Type="http://schemas.openxmlformats.org/officeDocument/2006/relationships/image" Target="../media/image34.svg"/><Relationship Id="rId10" Type="http://schemas.openxmlformats.org/officeDocument/2006/relationships/image" Target="../media/image29.png"/><Relationship Id="rId19" Type="http://schemas.openxmlformats.org/officeDocument/2006/relationships/image" Target="../media/image38.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22.xml"/><Relationship Id="rId4" Type="http://schemas.openxmlformats.org/officeDocument/2006/relationships/image" Target="../media/image41.sv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34.xml"/><Relationship Id="rId4" Type="http://schemas.openxmlformats.org/officeDocument/2006/relationships/image" Target="../media/image4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2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52.sv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2.xml"/><Relationship Id="rId4" Type="http://schemas.openxmlformats.org/officeDocument/2006/relationships/image" Target="../media/image5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357672"/>
            <a:ext cx="4167887" cy="1957459"/>
          </a:xfrm>
        </p:spPr>
        <p:txBody>
          <a:bodyPr/>
          <a:lstStyle/>
          <a:p>
            <a:r>
              <a:rPr lang="fr-FR" dirty="0">
                <a:solidFill>
                  <a:schemeClr val="tx1"/>
                </a:solidFill>
              </a:rPr>
              <a:t>Module 05: </a:t>
            </a:r>
            <a:br>
              <a:rPr lang="fr-FR" dirty="0">
                <a:solidFill>
                  <a:schemeClr val="tx1"/>
                </a:solidFill>
              </a:rPr>
            </a:br>
            <a:r>
              <a:rPr lang="en-US" dirty="0">
                <a:solidFill>
                  <a:schemeClr val="tx1"/>
                </a:solidFill>
              </a:rPr>
              <a:t>Identity, governance, privacy, and compliance</a:t>
            </a: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Headings)"/>
              </a:rPr>
              <a:t>Module outline</a:t>
            </a:r>
          </a:p>
        </p:txBody>
      </p:sp>
      <p:pic>
        <p:nvPicPr>
          <p:cNvPr id="5" name="Graphic 4" descr="Scientific Thought">
            <a:extLst>
              <a:ext uri="{FF2B5EF4-FFF2-40B4-BE49-F238E27FC236}">
                <a16:creationId xmlns:a16="http://schemas.microsoft.com/office/drawing/2014/main" id="{C35655B0-596F-4960-AACA-E96A9425F8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74060" y="2810069"/>
            <a:ext cx="1237861" cy="1237861"/>
          </a:xfrm>
          <a:prstGeom prst="rect">
            <a:avLst/>
          </a:prstGeom>
        </p:spPr>
      </p:pic>
    </p:spTree>
    <p:extLst>
      <p:ext uri="{BB962C8B-B14F-4D97-AF65-F5344CB8AC3E}">
        <p14:creationId xmlns:p14="http://schemas.microsoft.com/office/powerpoint/2010/main" val="341461429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cs typeface="Segoe UI"/>
              </a:rPr>
              <a:t>Module 05 – Outline</a:t>
            </a:r>
          </a:p>
        </p:txBody>
      </p:sp>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418643" y="1245638"/>
            <a:ext cx="5546809" cy="2825517"/>
          </a:xfrm>
          <a:prstGeom prst="rect">
            <a:avLst/>
          </a:prstGeom>
        </p:spPr>
        <p:txBody>
          <a:bodyPr vert="horz" wrap="square" lIns="0" tIns="0" rIns="0" bIns="0" rtlCol="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100000"/>
              </a:lnSpc>
              <a:buNone/>
            </a:pPr>
            <a:r>
              <a:rPr lang="en-US" sz="2400" dirty="0">
                <a:latin typeface="+mj-lt"/>
              </a:rPr>
              <a:t>You will learn the following concepts:</a:t>
            </a:r>
          </a:p>
          <a:p>
            <a:pPr marL="0" indent="0">
              <a:lnSpc>
                <a:spcPct val="100000"/>
              </a:lnSpc>
              <a:buNone/>
            </a:pPr>
            <a:endParaRPr lang="en-US" dirty="0"/>
          </a:p>
          <a:p>
            <a:pPr>
              <a:lnSpc>
                <a:spcPct val="100000"/>
              </a:lnSpc>
              <a:buFont typeface="Wingdings" panose="05000000000000000000" pitchFamily="2" charset="2"/>
              <a:buChar char="§"/>
            </a:pPr>
            <a:r>
              <a:rPr lang="en-US" sz="2000" b="1" dirty="0">
                <a:latin typeface="+mj-lt"/>
              </a:rPr>
              <a:t>Azure identity services</a:t>
            </a:r>
          </a:p>
          <a:p>
            <a:pPr marL="560241" lvl="1" indent="-336145">
              <a:buFont typeface="Arial" panose="020B0604020202020204" pitchFamily="34" charset="0"/>
              <a:buChar char="•"/>
            </a:pPr>
            <a:r>
              <a:rPr lang="en-US" sz="2000" dirty="0"/>
              <a:t>Authentication versus Authorization</a:t>
            </a:r>
          </a:p>
          <a:p>
            <a:pPr marL="560241" lvl="1" indent="-336145">
              <a:buFont typeface="Arial" panose="020B0604020202020204" pitchFamily="34" charset="0"/>
              <a:buChar char="•"/>
            </a:pPr>
            <a:r>
              <a:rPr lang="en-US" sz="2000" dirty="0"/>
              <a:t>Azure AD, MFA, SSO and Conditional Access</a:t>
            </a:r>
          </a:p>
          <a:p>
            <a:pPr>
              <a:lnSpc>
                <a:spcPct val="100000"/>
              </a:lnSpc>
              <a:buFont typeface="Wingdings" panose="05000000000000000000" pitchFamily="2" charset="2"/>
              <a:buChar char="§"/>
            </a:pPr>
            <a:r>
              <a:rPr lang="en-US" sz="2000" b="1" dirty="0">
                <a:latin typeface="+mj-lt"/>
              </a:rPr>
              <a:t>Azure governance features</a:t>
            </a:r>
          </a:p>
          <a:p>
            <a:pPr marL="560241" lvl="1" indent="-336145">
              <a:buFont typeface="Arial" panose="020B0604020202020204" pitchFamily="34" charset="0"/>
              <a:buChar char="•"/>
            </a:pPr>
            <a:r>
              <a:rPr lang="en-US" sz="2000" dirty="0"/>
              <a:t>RBAC</a:t>
            </a:r>
          </a:p>
          <a:p>
            <a:pPr marL="560241" lvl="1" indent="-336145">
              <a:buFont typeface="Arial" panose="020B0604020202020204" pitchFamily="34" charset="0"/>
              <a:buChar char="•"/>
            </a:pPr>
            <a:r>
              <a:rPr lang="en-US" sz="2000" dirty="0"/>
              <a:t>Resource locks and tags</a:t>
            </a:r>
          </a:p>
          <a:p>
            <a:pPr marL="560241" lvl="1" indent="-336145">
              <a:buFont typeface="Arial" panose="020B0604020202020204" pitchFamily="34" charset="0"/>
              <a:buChar char="•"/>
            </a:pPr>
            <a:r>
              <a:rPr lang="en-US" sz="2000" dirty="0"/>
              <a:t>Policy, Blueprints, and CAF</a:t>
            </a:r>
          </a:p>
        </p:txBody>
      </p:sp>
      <p:pic>
        <p:nvPicPr>
          <p:cNvPr id="3" name="Graphic 3">
            <a:extLst>
              <a:ext uri="{FF2B5EF4-FFF2-40B4-BE49-F238E27FC236}">
                <a16:creationId xmlns:a16="http://schemas.microsoft.com/office/drawing/2014/main" id="{5ED20D45-8988-4893-8CF6-F42FD8802BAC}"/>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Tree>
    <p:extLst>
      <p:ext uri="{BB962C8B-B14F-4D97-AF65-F5344CB8AC3E}">
        <p14:creationId xmlns:p14="http://schemas.microsoft.com/office/powerpoint/2010/main" val="366925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Headings)"/>
              </a:rPr>
              <a:t>Core Azure identity services</a:t>
            </a:r>
          </a:p>
        </p:txBody>
      </p:sp>
      <p:pic>
        <p:nvPicPr>
          <p:cNvPr id="5" name="Graphic 4" descr="Employee badge">
            <a:extLst>
              <a:ext uri="{FF2B5EF4-FFF2-40B4-BE49-F238E27FC236}">
                <a16:creationId xmlns:a16="http://schemas.microsoft.com/office/drawing/2014/main" id="{1A7A3B46-B270-445B-A48D-E8FA893C56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61509" y="2729202"/>
            <a:ext cx="1256523" cy="1256523"/>
          </a:xfrm>
          <a:prstGeom prst="rect">
            <a:avLst/>
          </a:prstGeom>
        </p:spPr>
      </p:pic>
    </p:spTree>
    <p:extLst>
      <p:ext uri="{BB962C8B-B14F-4D97-AF65-F5344CB8AC3E}">
        <p14:creationId xmlns:p14="http://schemas.microsoft.com/office/powerpoint/2010/main" val="14843344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D0AC-CB6A-44C0-9B9F-954313E23D45}"/>
              </a:ext>
            </a:extLst>
          </p:cNvPr>
          <p:cNvSpPr>
            <a:spLocks noGrp="1"/>
          </p:cNvSpPr>
          <p:nvPr>
            <p:ph type="title"/>
          </p:nvPr>
        </p:nvSpPr>
        <p:spPr/>
        <p:txBody>
          <a:bodyPr/>
          <a:lstStyle/>
          <a:p>
            <a:r>
              <a:rPr lang="en-US" dirty="0"/>
              <a:t>Azure Identity Services - Objective Domain</a:t>
            </a:r>
          </a:p>
        </p:txBody>
      </p:sp>
      <p:sp>
        <p:nvSpPr>
          <p:cNvPr id="3" name="Text Placeholder 2">
            <a:extLst>
              <a:ext uri="{FF2B5EF4-FFF2-40B4-BE49-F238E27FC236}">
                <a16:creationId xmlns:a16="http://schemas.microsoft.com/office/drawing/2014/main" id="{45AB6BB3-8BA2-445E-96B7-1457995F8A98}"/>
              </a:ext>
            </a:extLst>
          </p:cNvPr>
          <p:cNvSpPr>
            <a:spLocks noGrp="1"/>
          </p:cNvSpPr>
          <p:nvPr>
            <p:ph sz="quarter" idx="10"/>
          </p:nvPr>
        </p:nvSpPr>
        <p:spPr>
          <a:xfrm>
            <a:off x="419100" y="1456897"/>
            <a:ext cx="11340811" cy="2231380"/>
          </a:xfrm>
        </p:spPr>
        <p:txBody>
          <a:bodyPr vert="horz" wrap="square" lIns="0" tIns="0" rIns="0" bIns="0" rtlCol="0" anchor="t">
            <a:spAutoFit/>
          </a:bodyPr>
          <a:lstStyle/>
          <a:p>
            <a:pPr marL="342900" indent="-342900" fontAlgn="base">
              <a:buFont typeface="Arial" panose="020B0604020202020204" pitchFamily="34" charset="0"/>
              <a:buChar char="•"/>
            </a:pPr>
            <a:r>
              <a:rPr lang="en-US" dirty="0">
                <a:latin typeface="Segoe UI" panose="020B0502040204020203" pitchFamily="34" charset="0"/>
                <a:cs typeface="Segoe UI" panose="020B0502040204020203" pitchFamily="34" charset="0"/>
              </a:rPr>
              <a:t>Explain the difference between authentication and authorization</a:t>
            </a:r>
          </a:p>
          <a:p>
            <a:pPr marL="342900" indent="-342900" fontAlgn="base">
              <a:buFont typeface="Arial" panose="020B0604020202020204" pitchFamily="34" charset="0"/>
              <a:buChar char="•"/>
            </a:pPr>
            <a:r>
              <a:rPr lang="en-US" dirty="0">
                <a:latin typeface="Segoe UI" panose="020B0502040204020203" pitchFamily="34" charset="0"/>
                <a:cs typeface="Segoe UI" panose="020B0502040204020203" pitchFamily="34" charset="0"/>
              </a:rPr>
              <a:t>Define Azure Active Directory</a:t>
            </a:r>
          </a:p>
          <a:p>
            <a:pPr marL="342900" indent="-342900" fontAlgn="base">
              <a:buFont typeface="Arial" panose="020B0604020202020204" pitchFamily="34" charset="0"/>
              <a:buChar char="•"/>
            </a:pPr>
            <a:r>
              <a:rPr lang="en-US" dirty="0">
                <a:latin typeface="Segoe UI" panose="020B0502040204020203" pitchFamily="34" charset="0"/>
                <a:cs typeface="Segoe UI" panose="020B0502040204020203" pitchFamily="34" charset="0"/>
              </a:rPr>
              <a:t>Describe the functionality and usage of Azure Active Directory</a:t>
            </a:r>
          </a:p>
          <a:p>
            <a:pPr marL="342900" indent="-342900" fontAlgn="base">
              <a:buFont typeface="Arial" panose="020B0604020202020204" pitchFamily="34" charset="0"/>
              <a:buChar char="•"/>
            </a:pPr>
            <a:r>
              <a:rPr lang="en-US" dirty="0">
                <a:latin typeface="Segoe UI" panose="020B0502040204020203" pitchFamily="34" charset="0"/>
                <a:cs typeface="Segoe UI" panose="020B0502040204020203" pitchFamily="34" charset="0"/>
              </a:rPr>
              <a:t>Describe the functionality and usage of Conditional Access, Multi-Factor Authentication (MFA), and Single Sign-On (SSO)</a:t>
            </a:r>
          </a:p>
        </p:txBody>
      </p:sp>
    </p:spTree>
    <p:extLst>
      <p:ext uri="{BB962C8B-B14F-4D97-AF65-F5344CB8AC3E}">
        <p14:creationId xmlns:p14="http://schemas.microsoft.com/office/powerpoint/2010/main" val="32048574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Compare Authentication and Authorization</a:t>
            </a:r>
          </a:p>
        </p:txBody>
      </p:sp>
      <p:sp>
        <p:nvSpPr>
          <p:cNvPr id="2" name="Text Placeholder 5">
            <a:extLst>
              <a:ext uri="{FF2B5EF4-FFF2-40B4-BE49-F238E27FC236}">
                <a16:creationId xmlns:a16="http://schemas.microsoft.com/office/drawing/2014/main" id="{97F5B1E7-513F-4A42-B351-EEDF394D6D38}"/>
              </a:ext>
            </a:extLst>
          </p:cNvPr>
          <p:cNvSpPr txBox="1">
            <a:spLocks/>
          </p:cNvSpPr>
          <p:nvPr/>
        </p:nvSpPr>
        <p:spPr>
          <a:xfrm>
            <a:off x="418643" y="1431891"/>
            <a:ext cx="5509260" cy="243759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mj-lt"/>
              </a:rPr>
              <a:t>Authentication</a:t>
            </a:r>
          </a:p>
          <a:p>
            <a:r>
              <a:rPr lang="en-US" sz="2400" dirty="0">
                <a:latin typeface="+mn-lt"/>
              </a:rPr>
              <a:t>Identifies the person or service seeking access to a resource. </a:t>
            </a:r>
          </a:p>
          <a:p>
            <a:r>
              <a:rPr lang="en-US" sz="2400" dirty="0">
                <a:latin typeface="+mn-lt"/>
              </a:rPr>
              <a:t>Requests legitimate access credentials.</a:t>
            </a:r>
          </a:p>
          <a:p>
            <a:r>
              <a:rPr lang="en-US" sz="2400" dirty="0">
                <a:latin typeface="+mn-lt"/>
              </a:rPr>
              <a:t>Basis for creating secure identity and access control principles.</a:t>
            </a:r>
          </a:p>
        </p:txBody>
      </p:sp>
      <p:grpSp>
        <p:nvGrpSpPr>
          <p:cNvPr id="13" name="Group 12" descr="Flow graphic of a person showing their ID, they match, so the person is authenticated. ">
            <a:extLst>
              <a:ext uri="{FF2B5EF4-FFF2-40B4-BE49-F238E27FC236}">
                <a16:creationId xmlns:a16="http://schemas.microsoft.com/office/drawing/2014/main" id="{B9887FB4-F28E-4EFD-8A5D-712CBDFB9C96}"/>
              </a:ext>
            </a:extLst>
          </p:cNvPr>
          <p:cNvGrpSpPr/>
          <p:nvPr/>
        </p:nvGrpSpPr>
        <p:grpSpPr>
          <a:xfrm>
            <a:off x="660636" y="4366650"/>
            <a:ext cx="5025275" cy="914400"/>
            <a:chOff x="354814" y="4943861"/>
            <a:chExt cx="5025275" cy="914400"/>
          </a:xfrm>
        </p:grpSpPr>
        <p:pic>
          <p:nvPicPr>
            <p:cNvPr id="11" name="Graphic 10" descr="School girl">
              <a:extLst>
                <a:ext uri="{FF2B5EF4-FFF2-40B4-BE49-F238E27FC236}">
                  <a16:creationId xmlns:a16="http://schemas.microsoft.com/office/drawing/2014/main" id="{47CB9A1D-A9E7-4C4B-BEBB-34B2F33810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814" y="4943861"/>
              <a:ext cx="914400" cy="914400"/>
            </a:xfrm>
            <a:prstGeom prst="rect">
              <a:avLst/>
            </a:prstGeom>
          </p:spPr>
        </p:pic>
        <p:pic>
          <p:nvPicPr>
            <p:cNvPr id="16" name="Graphic 15" descr="Add">
              <a:extLst>
                <a:ext uri="{FF2B5EF4-FFF2-40B4-BE49-F238E27FC236}">
                  <a16:creationId xmlns:a16="http://schemas.microsoft.com/office/drawing/2014/main" id="{A53AE700-42A1-48D0-925E-C07576A404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9214" y="5121531"/>
              <a:ext cx="559061" cy="559061"/>
            </a:xfrm>
            <a:prstGeom prst="rect">
              <a:avLst/>
            </a:prstGeom>
          </p:spPr>
        </p:pic>
        <p:pic>
          <p:nvPicPr>
            <p:cNvPr id="12" name="Picture 11" descr="Small card with picture and lines on it representing a government issued and verified id-card.">
              <a:extLst>
                <a:ext uri="{FF2B5EF4-FFF2-40B4-BE49-F238E27FC236}">
                  <a16:creationId xmlns:a16="http://schemas.microsoft.com/office/drawing/2014/main" id="{B35857FA-CC30-41EA-8738-CC9B7EC927B0}"/>
                </a:ext>
              </a:extLst>
            </p:cNvPr>
            <p:cNvPicPr>
              <a:picLocks noChangeAspect="1"/>
            </p:cNvPicPr>
            <p:nvPr/>
          </p:nvPicPr>
          <p:blipFill>
            <a:blip r:embed="rId7"/>
            <a:stretch>
              <a:fillRect/>
            </a:stretch>
          </p:blipFill>
          <p:spPr>
            <a:xfrm>
              <a:off x="1942966" y="4962911"/>
              <a:ext cx="1371600" cy="876300"/>
            </a:xfrm>
            <a:prstGeom prst="rect">
              <a:avLst/>
            </a:prstGeom>
          </p:spPr>
        </p:pic>
        <p:pic>
          <p:nvPicPr>
            <p:cNvPr id="14" name="Graphic 13" descr="Arrow Right">
              <a:extLst>
                <a:ext uri="{FF2B5EF4-FFF2-40B4-BE49-F238E27FC236}">
                  <a16:creationId xmlns:a16="http://schemas.microsoft.com/office/drawing/2014/main" id="{CB5DEC6F-08B2-4872-9687-11419147E9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90273" y="4943861"/>
              <a:ext cx="914400" cy="914400"/>
            </a:xfrm>
            <a:prstGeom prst="rect">
              <a:avLst/>
            </a:prstGeom>
          </p:spPr>
        </p:pic>
        <p:pic>
          <p:nvPicPr>
            <p:cNvPr id="9" name="Graphic 8" descr="Shield Tick">
              <a:extLst>
                <a:ext uri="{FF2B5EF4-FFF2-40B4-BE49-F238E27FC236}">
                  <a16:creationId xmlns:a16="http://schemas.microsoft.com/office/drawing/2014/main" id="{A0FDD84F-1C24-497A-83EC-6D74DC4415D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65689" y="4943861"/>
              <a:ext cx="914400" cy="914400"/>
            </a:xfrm>
            <a:prstGeom prst="rect">
              <a:avLst/>
            </a:prstGeom>
          </p:spPr>
        </p:pic>
      </p:grpSp>
      <p:cxnSp>
        <p:nvCxnSpPr>
          <p:cNvPr id="20" name="Straight Connector 19">
            <a:extLst>
              <a:ext uri="{FF2B5EF4-FFF2-40B4-BE49-F238E27FC236}">
                <a16:creationId xmlns:a16="http://schemas.microsoft.com/office/drawing/2014/main" id="{14059192-ACD1-44C5-9557-65C1F400F129}"/>
              </a:ext>
              <a:ext uri="{C183D7F6-B498-43B3-948B-1728B52AA6E4}">
                <adec:decorative xmlns:adec="http://schemas.microsoft.com/office/drawing/2017/decorative" val="1"/>
              </a:ext>
            </a:extLst>
          </p:cNvPr>
          <p:cNvCxnSpPr/>
          <p:nvPr/>
        </p:nvCxnSpPr>
        <p:spPr>
          <a:xfrm>
            <a:off x="6089277" y="1364777"/>
            <a:ext cx="0" cy="4501549"/>
          </a:xfrm>
          <a:prstGeom prst="line">
            <a:avLst/>
          </a:prstGeom>
          <a:ln w="19050">
            <a:solidFill>
              <a:srgbClr val="75757A"/>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 Placeholder 5">
            <a:extLst>
              <a:ext uri="{FF2B5EF4-FFF2-40B4-BE49-F238E27FC236}">
                <a16:creationId xmlns:a16="http://schemas.microsoft.com/office/drawing/2014/main" id="{3371E70A-8F0C-499A-8E4A-49ADAB1DFDA6}"/>
              </a:ext>
            </a:extLst>
          </p:cNvPr>
          <p:cNvSpPr txBox="1">
            <a:spLocks/>
          </p:cNvSpPr>
          <p:nvPr/>
        </p:nvSpPr>
        <p:spPr>
          <a:xfrm>
            <a:off x="6396151" y="1434608"/>
            <a:ext cx="5377206" cy="199439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mj-lt"/>
              </a:rPr>
              <a:t>Authorization</a:t>
            </a:r>
          </a:p>
          <a:p>
            <a:r>
              <a:rPr lang="en-US" sz="2400" dirty="0">
                <a:latin typeface="+mn-lt"/>
              </a:rPr>
              <a:t>Determines an authenticated person’s or service’s level of access.</a:t>
            </a:r>
          </a:p>
          <a:p>
            <a:r>
              <a:rPr lang="en-US" sz="2400" dirty="0">
                <a:latin typeface="+mn-lt"/>
              </a:rPr>
              <a:t>Defines which data they can access, and what they can do with it.</a:t>
            </a:r>
          </a:p>
        </p:txBody>
      </p:sp>
      <p:grpSp>
        <p:nvGrpSpPr>
          <p:cNvPr id="15" name="Group 14" descr="Authenticated user checked against a list of user who can enter a server, their name is missing to Authorization is denied.">
            <a:extLst>
              <a:ext uri="{FF2B5EF4-FFF2-40B4-BE49-F238E27FC236}">
                <a16:creationId xmlns:a16="http://schemas.microsoft.com/office/drawing/2014/main" id="{418970A6-FEC6-4BCD-82AD-5AE365EDB7F8}"/>
              </a:ext>
            </a:extLst>
          </p:cNvPr>
          <p:cNvGrpSpPr/>
          <p:nvPr/>
        </p:nvGrpSpPr>
        <p:grpSpPr>
          <a:xfrm>
            <a:off x="6582640" y="4366650"/>
            <a:ext cx="5004227" cy="914400"/>
            <a:chOff x="6578628" y="4915100"/>
            <a:chExt cx="5004227" cy="914400"/>
          </a:xfrm>
        </p:grpSpPr>
        <p:pic>
          <p:nvPicPr>
            <p:cNvPr id="21" name="Picture 20" descr="Small card with picture and lines on it representing a government issued and verified id-card.">
              <a:extLst>
                <a:ext uri="{FF2B5EF4-FFF2-40B4-BE49-F238E27FC236}">
                  <a16:creationId xmlns:a16="http://schemas.microsoft.com/office/drawing/2014/main" id="{951C5866-95FC-46CC-8B13-159F4F5CB167}"/>
                </a:ext>
              </a:extLst>
            </p:cNvPr>
            <p:cNvPicPr>
              <a:picLocks noChangeAspect="1"/>
            </p:cNvPicPr>
            <p:nvPr/>
          </p:nvPicPr>
          <p:blipFill>
            <a:blip r:embed="rId7"/>
            <a:stretch>
              <a:fillRect/>
            </a:stretch>
          </p:blipFill>
          <p:spPr>
            <a:xfrm>
              <a:off x="6578628" y="4934150"/>
              <a:ext cx="1371600" cy="876300"/>
            </a:xfrm>
            <a:prstGeom prst="rect">
              <a:avLst/>
            </a:prstGeom>
          </p:spPr>
        </p:pic>
        <p:pic>
          <p:nvPicPr>
            <p:cNvPr id="33" name="Graphic 32" descr="Add">
              <a:extLst>
                <a:ext uri="{FF2B5EF4-FFF2-40B4-BE49-F238E27FC236}">
                  <a16:creationId xmlns:a16="http://schemas.microsoft.com/office/drawing/2014/main" id="{6F841F11-F48E-44C4-B827-B85E3B8B5C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7100" y="5092770"/>
              <a:ext cx="559061" cy="559061"/>
            </a:xfrm>
            <a:prstGeom prst="rect">
              <a:avLst/>
            </a:prstGeom>
          </p:spPr>
        </p:pic>
        <p:pic>
          <p:nvPicPr>
            <p:cNvPr id="23" name="Graphic 22" descr="List">
              <a:extLst>
                <a:ext uri="{FF2B5EF4-FFF2-40B4-BE49-F238E27FC236}">
                  <a16:creationId xmlns:a16="http://schemas.microsoft.com/office/drawing/2014/main" id="{1B4DF5CC-E7A7-461E-B981-DBF6BFF47A2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37089" y="4915100"/>
              <a:ext cx="914400" cy="914400"/>
            </a:xfrm>
            <a:prstGeom prst="rect">
              <a:avLst/>
            </a:prstGeom>
          </p:spPr>
        </p:pic>
        <p:pic>
          <p:nvPicPr>
            <p:cNvPr id="35" name="Graphic 34" descr="Cross out or red-x mark.">
              <a:extLst>
                <a:ext uri="{FF2B5EF4-FFF2-40B4-BE49-F238E27FC236}">
                  <a16:creationId xmlns:a16="http://schemas.microsoft.com/office/drawing/2014/main" id="{2F70204D-2FC5-4864-B55C-BCC9FCC629D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47565" y="5277805"/>
              <a:ext cx="188991" cy="188991"/>
            </a:xfrm>
            <a:prstGeom prst="rect">
              <a:avLst/>
            </a:prstGeom>
          </p:spPr>
        </p:pic>
        <p:pic>
          <p:nvPicPr>
            <p:cNvPr id="25" name="Graphic 24" descr="Arrow Right">
              <a:extLst>
                <a:ext uri="{FF2B5EF4-FFF2-40B4-BE49-F238E27FC236}">
                  <a16:creationId xmlns:a16="http://schemas.microsoft.com/office/drawing/2014/main" id="{FE5D44A6-0A91-425E-9C94-0172BA449FA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81032" y="4915100"/>
              <a:ext cx="914400" cy="914400"/>
            </a:xfrm>
            <a:prstGeom prst="rect">
              <a:avLst/>
            </a:prstGeom>
          </p:spPr>
        </p:pic>
        <p:pic>
          <p:nvPicPr>
            <p:cNvPr id="27" name="Graphic 26" descr="Door Closed">
              <a:extLst>
                <a:ext uri="{FF2B5EF4-FFF2-40B4-BE49-F238E27FC236}">
                  <a16:creationId xmlns:a16="http://schemas.microsoft.com/office/drawing/2014/main" id="{9AFCCCF8-ABD0-4333-BF0E-0444BFAE522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662920" y="4915100"/>
              <a:ext cx="914400" cy="914400"/>
            </a:xfrm>
            <a:prstGeom prst="rect">
              <a:avLst/>
            </a:prstGeom>
          </p:spPr>
        </p:pic>
        <p:pic>
          <p:nvPicPr>
            <p:cNvPr id="29" name="Graphic 28" descr="Cross out or red-x mark.">
              <a:extLst>
                <a:ext uri="{FF2B5EF4-FFF2-40B4-BE49-F238E27FC236}">
                  <a16:creationId xmlns:a16="http://schemas.microsoft.com/office/drawing/2014/main" id="{18F38F83-EB4D-49D3-925A-AD07FB251EE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668455" y="4915100"/>
              <a:ext cx="914400" cy="914400"/>
            </a:xfrm>
            <a:prstGeom prst="rect">
              <a:avLst/>
            </a:prstGeom>
          </p:spPr>
        </p:pic>
      </p:grpSp>
    </p:spTree>
    <p:extLst>
      <p:ext uri="{BB962C8B-B14F-4D97-AF65-F5344CB8AC3E}">
        <p14:creationId xmlns:p14="http://schemas.microsoft.com/office/powerpoint/2010/main" val="256151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Multi-Factor Authentication</a:t>
            </a:r>
          </a:p>
        </p:txBody>
      </p:sp>
      <p:sp>
        <p:nvSpPr>
          <p:cNvPr id="6" name="Text Placeholder 5"/>
          <p:cNvSpPr>
            <a:spLocks noGrp="1"/>
          </p:cNvSpPr>
          <p:nvPr>
            <p:ph sz="quarter" idx="10"/>
          </p:nvPr>
        </p:nvSpPr>
        <p:spPr>
          <a:xfrm>
            <a:off x="419100" y="1182387"/>
            <a:ext cx="11340811" cy="1420902"/>
          </a:xfrm>
        </p:spPr>
        <p:txBody>
          <a:bodyPr/>
          <a:lstStyle/>
          <a:p>
            <a:pPr marL="0" indent="0">
              <a:buNone/>
            </a:pPr>
            <a:r>
              <a:rPr lang="en-IE" sz="2400" dirty="0">
                <a:latin typeface="+mn-lt"/>
              </a:rPr>
              <a:t>Provides additional security for your identities by requiring two or more elements for full authentication. </a:t>
            </a:r>
          </a:p>
          <a:p>
            <a:pPr marL="457200" lvl="1" indent="-457200">
              <a:buFont typeface="Arial" panose="020B0604020202020204" pitchFamily="34" charset="0"/>
              <a:buChar char="•"/>
            </a:pPr>
            <a:r>
              <a:rPr lang="en-IE" sz="2400" dirty="0">
                <a:cs typeface="Segoe UI Semilight" pitchFamily="34" charset="0"/>
              </a:rPr>
              <a:t>Something you know   </a:t>
            </a:r>
            <a:r>
              <a:rPr lang="en-IE" sz="1800" dirty="0">
                <a:cs typeface="Segoe UI Semilight" pitchFamily="34" charset="0"/>
                <a:sym typeface="Wingdings" panose="05000000000000000000" pitchFamily="2" charset="2"/>
              </a:rPr>
              <a:t></a:t>
            </a:r>
            <a:r>
              <a:rPr lang="en-IE" sz="2400" dirty="0">
                <a:cs typeface="Segoe UI Semilight" pitchFamily="34" charset="0"/>
                <a:sym typeface="Wingdings" panose="05000000000000000000" pitchFamily="2" charset="2"/>
              </a:rPr>
              <a:t>   </a:t>
            </a:r>
            <a:r>
              <a:rPr lang="en-IE" sz="2400" dirty="0">
                <a:cs typeface="Segoe UI Semilight" pitchFamily="34" charset="0"/>
              </a:rPr>
              <a:t>Something you possess   </a:t>
            </a:r>
            <a:r>
              <a:rPr lang="en-IE" sz="1800" dirty="0">
                <a:cs typeface="Segoe UI Semilight" pitchFamily="34" charset="0"/>
                <a:sym typeface="Wingdings" panose="05000000000000000000" pitchFamily="2" charset="2"/>
              </a:rPr>
              <a:t></a:t>
            </a:r>
            <a:r>
              <a:rPr lang="en-IE" dirty="0">
                <a:cs typeface="Segoe UI Semilight" pitchFamily="34" charset="0"/>
                <a:sym typeface="Wingdings" panose="05000000000000000000" pitchFamily="2" charset="2"/>
              </a:rPr>
              <a:t>   </a:t>
            </a:r>
            <a:r>
              <a:rPr lang="en-IE" sz="2400" dirty="0">
                <a:cs typeface="Segoe UI Semilight" pitchFamily="34" charset="0"/>
              </a:rPr>
              <a:t>Something you are</a:t>
            </a:r>
          </a:p>
        </p:txBody>
      </p:sp>
      <p:pic>
        <p:nvPicPr>
          <p:cNvPr id="3" name="Picture 2" descr="Image of a username and password entry screen, mobile phone, usb key, smart card, image representing various types of biometric authentication, and certificate all in a line, representing how they can all be tied together to provide MFA">
            <a:extLst>
              <a:ext uri="{FF2B5EF4-FFF2-40B4-BE49-F238E27FC236}">
                <a16:creationId xmlns:a16="http://schemas.microsoft.com/office/drawing/2014/main" id="{9BF9CC26-404C-4BDF-84AF-4B9DB2CC7694}"/>
              </a:ext>
            </a:extLst>
          </p:cNvPr>
          <p:cNvPicPr>
            <a:picLocks noChangeAspect="1"/>
          </p:cNvPicPr>
          <p:nvPr/>
        </p:nvPicPr>
        <p:blipFill>
          <a:blip r:embed="rId3"/>
          <a:srcRect/>
          <a:stretch/>
        </p:blipFill>
        <p:spPr>
          <a:xfrm>
            <a:off x="1220110" y="2884439"/>
            <a:ext cx="9738333" cy="2434584"/>
          </a:xfrm>
          <a:prstGeom prst="rect">
            <a:avLst/>
          </a:prstGeom>
        </p:spPr>
      </p:pic>
    </p:spTree>
    <p:extLst>
      <p:ext uri="{BB962C8B-B14F-4D97-AF65-F5344CB8AC3E}">
        <p14:creationId xmlns:p14="http://schemas.microsoft.com/office/powerpoint/2010/main" val="318882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Active Directory (</a:t>
            </a:r>
            <a:r>
              <a:rPr lang="en-US" noProof="0" dirty="0"/>
              <a:t>AAD</a:t>
            </a:r>
            <a:r>
              <a:rPr lang="en-US" noProof="0"/>
              <a:t>)</a:t>
            </a:r>
          </a:p>
        </p:txBody>
      </p:sp>
      <p:sp>
        <p:nvSpPr>
          <p:cNvPr id="6" name="Text Placeholder 5"/>
          <p:cNvSpPr>
            <a:spLocks noGrp="1"/>
          </p:cNvSpPr>
          <p:nvPr>
            <p:ph sz="quarter" idx="10"/>
          </p:nvPr>
        </p:nvSpPr>
        <p:spPr>
          <a:xfrm>
            <a:off x="419100" y="1425724"/>
            <a:ext cx="11340811" cy="3908762"/>
          </a:xfrm>
        </p:spPr>
        <p:txBody>
          <a:bodyPr/>
          <a:lstStyle/>
          <a:p>
            <a:pPr marL="0" indent="0">
              <a:buNone/>
            </a:pPr>
            <a:r>
              <a:rPr lang="en-US" noProof="0" dirty="0">
                <a:latin typeface="+mj-lt"/>
              </a:rPr>
              <a:t>Azure Active D</a:t>
            </a:r>
            <a:r>
              <a:rPr lang="en-US" dirty="0" err="1">
                <a:latin typeface="+mj-lt"/>
              </a:rPr>
              <a:t>irectory</a:t>
            </a:r>
            <a:r>
              <a:rPr lang="en-US" dirty="0">
                <a:latin typeface="+mj-lt"/>
              </a:rPr>
              <a:t> (AAD) </a:t>
            </a:r>
            <a:r>
              <a:rPr lang="en-US" dirty="0">
                <a:latin typeface="+mn-lt"/>
              </a:rPr>
              <a:t>is </a:t>
            </a:r>
            <a:r>
              <a:rPr lang="en-US" noProof="0" dirty="0">
                <a:latin typeface="+mn-lt"/>
              </a:rPr>
              <a:t>Microsoft Azure’s cloud-based identity and access management service. </a:t>
            </a:r>
          </a:p>
          <a:p>
            <a:pPr marL="457200" lvl="1" indent="-457200">
              <a:buFont typeface="Arial" panose="020B0604020202020204" pitchFamily="34" charset="0"/>
              <a:buChar char="•"/>
            </a:pPr>
            <a:r>
              <a:rPr lang="en-US" sz="2400" noProof="0" dirty="0">
                <a:latin typeface="Segoe UI" panose="020B0502040204020203" pitchFamily="34" charset="0"/>
                <a:cs typeface="Segoe UI" panose="020B0502040204020203" pitchFamily="34" charset="0"/>
              </a:rPr>
              <a:t>Authentication (employees sign-in to access resources).</a:t>
            </a:r>
          </a:p>
          <a:p>
            <a:pPr marL="457200" lvl="1" indent="-457200">
              <a:buFont typeface="Arial" panose="020B0604020202020204" pitchFamily="34" charset="0"/>
              <a:buChar char="•"/>
            </a:pPr>
            <a:r>
              <a:rPr lang="en-US" sz="2400" noProof="0" dirty="0">
                <a:latin typeface="Segoe UI" panose="020B0502040204020203" pitchFamily="34" charset="0"/>
                <a:cs typeface="Segoe UI" panose="020B0502040204020203" pitchFamily="34" charset="0"/>
              </a:rPr>
              <a:t>Single sign-on (SSO).</a:t>
            </a:r>
          </a:p>
          <a:p>
            <a:pPr marL="457200" lvl="1" indent="-457200">
              <a:buFont typeface="Arial" panose="020B0604020202020204" pitchFamily="34" charset="0"/>
              <a:buChar char="•"/>
            </a:pPr>
            <a:r>
              <a:rPr lang="en-US" sz="2400" noProof="0" dirty="0">
                <a:latin typeface="Segoe UI" panose="020B0502040204020203" pitchFamily="34" charset="0"/>
                <a:cs typeface="Segoe UI" panose="020B0502040204020203" pitchFamily="34" charset="0"/>
              </a:rPr>
              <a:t>Application management.</a:t>
            </a:r>
          </a:p>
          <a:p>
            <a:pPr marL="457200" lvl="1" indent="-457200">
              <a:buFont typeface="Arial" panose="020B0604020202020204" pitchFamily="34" charset="0"/>
              <a:buChar char="•"/>
            </a:pPr>
            <a:r>
              <a:rPr lang="en-US" sz="2400" dirty="0">
                <a:latin typeface="Segoe UI" panose="020B0502040204020203" pitchFamily="34" charset="0"/>
                <a:cs typeface="Segoe UI" panose="020B0502040204020203" pitchFamily="34" charset="0"/>
              </a:rPr>
              <a:t>Business to Business (B2B).</a:t>
            </a:r>
          </a:p>
          <a:p>
            <a:pPr marL="457200" lvl="1" indent="-457200">
              <a:buFont typeface="Arial" panose="020B0604020202020204" pitchFamily="34" charset="0"/>
              <a:buChar char="•"/>
            </a:pPr>
            <a:r>
              <a:rPr lang="en-US" sz="2400" dirty="0">
                <a:latin typeface="Segoe UI" panose="020B0502040204020203" pitchFamily="34" charset="0"/>
                <a:cs typeface="Segoe UI" panose="020B0502040204020203" pitchFamily="34" charset="0"/>
              </a:rPr>
              <a:t>Business to Customer (B2C) identity services.</a:t>
            </a:r>
          </a:p>
          <a:p>
            <a:pPr marL="457200" lvl="1" indent="-457200">
              <a:buFont typeface="Arial" panose="020B0604020202020204" pitchFamily="34" charset="0"/>
              <a:buChar char="•"/>
            </a:pPr>
            <a:r>
              <a:rPr lang="en-US" sz="2400" dirty="0">
                <a:latin typeface="Segoe UI" panose="020B0502040204020203" pitchFamily="34" charset="0"/>
                <a:cs typeface="Segoe UI" panose="020B0502040204020203" pitchFamily="34" charset="0"/>
              </a:rPr>
              <a:t>Device management.</a:t>
            </a:r>
          </a:p>
        </p:txBody>
      </p:sp>
      <p:pic>
        <p:nvPicPr>
          <p:cNvPr id="4" name="Graphic 3">
            <a:extLst>
              <a:ext uri="{FF2B5EF4-FFF2-40B4-BE49-F238E27FC236}">
                <a16:creationId xmlns:a16="http://schemas.microsoft.com/office/drawing/2014/main" id="{DB71D5F0-DCBF-40B0-A1B9-44C8A0392C3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78800" y="2210287"/>
            <a:ext cx="3124199" cy="3124199"/>
          </a:xfrm>
          <a:prstGeom prst="rect">
            <a:avLst/>
          </a:prstGeom>
        </p:spPr>
      </p:pic>
    </p:spTree>
    <p:extLst>
      <p:ext uri="{BB962C8B-B14F-4D97-AF65-F5344CB8AC3E}">
        <p14:creationId xmlns:p14="http://schemas.microsoft.com/office/powerpoint/2010/main" val="59325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E2BD-73C3-43B5-875D-8BBE9DADF55C}"/>
              </a:ext>
            </a:extLst>
          </p:cNvPr>
          <p:cNvSpPr>
            <a:spLocks noGrp="1"/>
          </p:cNvSpPr>
          <p:nvPr>
            <p:ph type="title"/>
          </p:nvPr>
        </p:nvSpPr>
        <p:spPr/>
        <p:txBody>
          <a:bodyPr/>
          <a:lstStyle/>
          <a:p>
            <a:r>
              <a:rPr lang="en-US" dirty="0"/>
              <a:t>Conditional Access</a:t>
            </a:r>
          </a:p>
        </p:txBody>
      </p:sp>
      <p:sp>
        <p:nvSpPr>
          <p:cNvPr id="3" name="Text Placeholder 2">
            <a:extLst>
              <a:ext uri="{FF2B5EF4-FFF2-40B4-BE49-F238E27FC236}">
                <a16:creationId xmlns:a16="http://schemas.microsoft.com/office/drawing/2014/main" id="{0A6BACA5-09F0-48F5-9C1C-9C5C15FBFFA2}"/>
              </a:ext>
            </a:extLst>
          </p:cNvPr>
          <p:cNvSpPr>
            <a:spLocks noGrp="1"/>
          </p:cNvSpPr>
          <p:nvPr>
            <p:ph sz="quarter" idx="10"/>
          </p:nvPr>
        </p:nvSpPr>
        <p:spPr>
          <a:xfrm>
            <a:off x="419100" y="1456897"/>
            <a:ext cx="11340811" cy="4221669"/>
          </a:xfrm>
        </p:spPr>
        <p:txBody>
          <a:bodyPr/>
          <a:lstStyle/>
          <a:p>
            <a:r>
              <a:rPr lang="en-US" dirty="0">
                <a:latin typeface="+mj-lt"/>
              </a:rPr>
              <a:t>Conditional Access</a:t>
            </a:r>
            <a:r>
              <a:rPr lang="en-US" b="1" dirty="0">
                <a:latin typeface="+mn-lt"/>
              </a:rPr>
              <a:t> </a:t>
            </a:r>
            <a:r>
              <a:rPr lang="en-US" dirty="0">
                <a:latin typeface="+mn-lt"/>
              </a:rPr>
              <a:t>is used by Azure Active Directory to bring signals together, to make decisions, and enforce organizational policies.</a:t>
            </a:r>
          </a:p>
          <a:p>
            <a:endParaRPr lang="en-US" sz="1000" dirty="0">
              <a:latin typeface="+mn-lt"/>
            </a:endParaRPr>
          </a:p>
          <a:p>
            <a:pPr marL="342900" indent="-342900">
              <a:buFont typeface="Arial" panose="020B0604020202020204" pitchFamily="34" charset="0"/>
              <a:buChar char="•"/>
            </a:pPr>
            <a:r>
              <a:rPr lang="en-US" dirty="0">
                <a:latin typeface="+mn-lt"/>
              </a:rPr>
              <a:t>User or Group Membership</a:t>
            </a:r>
          </a:p>
          <a:p>
            <a:pPr marL="342900" indent="-342900">
              <a:buFont typeface="Arial" panose="020B0604020202020204" pitchFamily="34" charset="0"/>
              <a:buChar char="•"/>
            </a:pPr>
            <a:r>
              <a:rPr lang="en-US" dirty="0">
                <a:latin typeface="+mn-lt"/>
              </a:rPr>
              <a:t>IP Location</a:t>
            </a:r>
          </a:p>
          <a:p>
            <a:pPr marL="342900" indent="-342900">
              <a:buFont typeface="Arial" panose="020B0604020202020204" pitchFamily="34" charset="0"/>
              <a:buChar char="•"/>
            </a:pPr>
            <a:r>
              <a:rPr lang="en-US" dirty="0">
                <a:latin typeface="+mn-lt"/>
              </a:rPr>
              <a:t>Device</a:t>
            </a:r>
          </a:p>
          <a:p>
            <a:pPr marL="342900" indent="-342900">
              <a:buFont typeface="Arial" panose="020B0604020202020204" pitchFamily="34" charset="0"/>
              <a:buChar char="•"/>
            </a:pPr>
            <a:r>
              <a:rPr lang="en-US" dirty="0">
                <a:latin typeface="+mn-lt"/>
              </a:rPr>
              <a:t>Application</a:t>
            </a:r>
          </a:p>
          <a:p>
            <a:pPr marL="342900" indent="-342900">
              <a:buFont typeface="Arial" panose="020B0604020202020204" pitchFamily="34" charset="0"/>
              <a:buChar char="•"/>
            </a:pPr>
            <a:r>
              <a:rPr lang="en-US" dirty="0">
                <a:latin typeface="+mn-lt"/>
              </a:rPr>
              <a:t>Risk Detection</a:t>
            </a:r>
          </a:p>
          <a:p>
            <a:pPr marL="342900" indent="-342900">
              <a:buFont typeface="Arial" panose="020B0604020202020204" pitchFamily="34" charset="0"/>
              <a:buChar char="•"/>
            </a:pPr>
            <a:endParaRPr lang="en-US" dirty="0">
              <a:latin typeface="+mn-lt"/>
            </a:endParaRPr>
          </a:p>
        </p:txBody>
      </p:sp>
      <p:pic>
        <p:nvPicPr>
          <p:cNvPr id="1026" name="Picture 2" descr="Conceptual Conditional Access process flow">
            <a:extLst>
              <a:ext uri="{FF2B5EF4-FFF2-40B4-BE49-F238E27FC236}">
                <a16:creationId xmlns:a16="http://schemas.microsoft.com/office/drawing/2014/main" id="{6FDF6F99-1844-4452-A659-3B2270C8D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840" y="2581056"/>
            <a:ext cx="6944071" cy="2820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7434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Headings)"/>
              </a:rPr>
              <a:t>Azure Governance Methodologies</a:t>
            </a:r>
          </a:p>
        </p:txBody>
      </p:sp>
      <p:pic>
        <p:nvPicPr>
          <p:cNvPr id="5" name="Graphic 4" descr="Circles with arrows">
            <a:extLst>
              <a:ext uri="{FF2B5EF4-FFF2-40B4-BE49-F238E27FC236}">
                <a16:creationId xmlns:a16="http://schemas.microsoft.com/office/drawing/2014/main" id="{EC9D315F-83DF-43F5-9E3F-F21AE7D13B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10438" y="2769219"/>
            <a:ext cx="1319561" cy="1319561"/>
          </a:xfrm>
          <a:prstGeom prst="rect">
            <a:avLst/>
          </a:prstGeom>
        </p:spPr>
      </p:pic>
    </p:spTree>
    <p:extLst>
      <p:ext uri="{BB962C8B-B14F-4D97-AF65-F5344CB8AC3E}">
        <p14:creationId xmlns:p14="http://schemas.microsoft.com/office/powerpoint/2010/main" val="44235424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33B6-509E-41FA-8FD5-CB89A9E4996E}"/>
              </a:ext>
            </a:extLst>
          </p:cNvPr>
          <p:cNvSpPr>
            <a:spLocks noGrp="1"/>
          </p:cNvSpPr>
          <p:nvPr>
            <p:ph type="title"/>
          </p:nvPr>
        </p:nvSpPr>
        <p:spPr/>
        <p:txBody>
          <a:bodyPr/>
          <a:lstStyle/>
          <a:p>
            <a:r>
              <a:rPr lang="en-US" dirty="0"/>
              <a:t>Azure Governance Methodologies - Objective Domain</a:t>
            </a:r>
          </a:p>
        </p:txBody>
      </p:sp>
      <p:sp>
        <p:nvSpPr>
          <p:cNvPr id="3" name="Text Placeholder 2">
            <a:extLst>
              <a:ext uri="{FF2B5EF4-FFF2-40B4-BE49-F238E27FC236}">
                <a16:creationId xmlns:a16="http://schemas.microsoft.com/office/drawing/2014/main" id="{CD8780B6-9273-411A-9536-09DE1D036BDE}"/>
              </a:ext>
            </a:extLst>
          </p:cNvPr>
          <p:cNvSpPr>
            <a:spLocks noGrp="1"/>
          </p:cNvSpPr>
          <p:nvPr>
            <p:ph sz="quarter" idx="10"/>
          </p:nvPr>
        </p:nvSpPr>
        <p:spPr>
          <a:xfrm>
            <a:off x="419100" y="1456897"/>
            <a:ext cx="11340811" cy="3539430"/>
          </a:xfrm>
        </p:spPr>
        <p:txBody>
          <a:bodyPr/>
          <a:lstStyle/>
          <a:p>
            <a:pPr lvl="0" fontAlgn="base"/>
            <a:r>
              <a:rPr lang="en-US" dirty="0">
                <a:latin typeface="+mj-lt"/>
              </a:rPr>
              <a:t>Describe the functionality and the usage of:</a:t>
            </a:r>
            <a:endParaRPr lang="en-US" sz="800" dirty="0">
              <a:latin typeface="+mj-lt"/>
            </a:endParaRPr>
          </a:p>
          <a:p>
            <a:pPr marL="342900" lvl="0" indent="-342900" fontAlgn="base">
              <a:buFont typeface="Arial" panose="020B0604020202020204" pitchFamily="34" charset="0"/>
              <a:buChar char="•"/>
            </a:pPr>
            <a:r>
              <a:rPr lang="en-US" dirty="0">
                <a:latin typeface="+mn-lt"/>
              </a:rPr>
              <a:t>Role-Based Access Control (RBAC)</a:t>
            </a:r>
          </a:p>
          <a:p>
            <a:pPr marL="342900" lvl="0" indent="-342900" fontAlgn="base">
              <a:buFont typeface="Arial" panose="020B0604020202020204" pitchFamily="34" charset="0"/>
              <a:buChar char="•"/>
            </a:pPr>
            <a:r>
              <a:rPr lang="en-US" dirty="0">
                <a:latin typeface="+mn-lt"/>
              </a:rPr>
              <a:t>Resource locks</a:t>
            </a:r>
          </a:p>
          <a:p>
            <a:pPr marL="342900" lvl="0" indent="-342900" fontAlgn="base">
              <a:buFont typeface="Arial" panose="020B0604020202020204" pitchFamily="34" charset="0"/>
              <a:buChar char="•"/>
            </a:pPr>
            <a:r>
              <a:rPr lang="en-US" dirty="0">
                <a:latin typeface="+mn-lt"/>
              </a:rPr>
              <a:t>Tags</a:t>
            </a:r>
          </a:p>
          <a:p>
            <a:pPr marL="342900" lvl="0" indent="-342900" fontAlgn="base">
              <a:buFont typeface="Arial" panose="020B0604020202020204" pitchFamily="34" charset="0"/>
              <a:buChar char="•"/>
            </a:pPr>
            <a:r>
              <a:rPr lang="en-US" dirty="0">
                <a:latin typeface="+mn-lt"/>
              </a:rPr>
              <a:t>Azure Policy</a:t>
            </a:r>
          </a:p>
          <a:p>
            <a:pPr marL="342900" lvl="0" indent="-342900" fontAlgn="base">
              <a:buFont typeface="Arial" panose="020B0604020202020204" pitchFamily="34" charset="0"/>
              <a:buChar char="•"/>
            </a:pPr>
            <a:r>
              <a:rPr lang="en-US" dirty="0">
                <a:latin typeface="+mn-lt"/>
              </a:rPr>
              <a:t>Azure Blueprints</a:t>
            </a:r>
          </a:p>
          <a:p>
            <a:pPr marL="342900" lvl="0" indent="-342900" fontAlgn="base">
              <a:buFont typeface="Arial" panose="020B0604020202020204" pitchFamily="34" charset="0"/>
              <a:buChar char="•"/>
            </a:pPr>
            <a:r>
              <a:rPr lang="en-US" dirty="0">
                <a:latin typeface="+mn-lt"/>
              </a:rPr>
              <a:t>Cloud Adoption Framework for Azure</a:t>
            </a:r>
          </a:p>
        </p:txBody>
      </p:sp>
    </p:spTree>
    <p:extLst>
      <p:ext uri="{BB962C8B-B14F-4D97-AF65-F5344CB8AC3E}">
        <p14:creationId xmlns:p14="http://schemas.microsoft.com/office/powerpoint/2010/main" val="152889868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Explore Role-based access control (RBAC)</a:t>
            </a:r>
          </a:p>
        </p:txBody>
      </p:sp>
      <p:grpSp>
        <p:nvGrpSpPr>
          <p:cNvPr id="7" name="Group 6" descr="Users, apps, and user groups are shown using Azure Active Directory to access an Azure subscription with resource groups. ">
            <a:extLst>
              <a:ext uri="{FF2B5EF4-FFF2-40B4-BE49-F238E27FC236}">
                <a16:creationId xmlns:a16="http://schemas.microsoft.com/office/drawing/2014/main" id="{70B0E3CB-0EC7-411F-8A0B-4DAAECFD6F02}"/>
              </a:ext>
            </a:extLst>
          </p:cNvPr>
          <p:cNvGrpSpPr/>
          <p:nvPr/>
        </p:nvGrpSpPr>
        <p:grpSpPr>
          <a:xfrm>
            <a:off x="456040" y="1449975"/>
            <a:ext cx="5174793" cy="3572969"/>
            <a:chOff x="6145148" y="1188720"/>
            <a:chExt cx="5705453" cy="4261150"/>
          </a:xfrm>
        </p:grpSpPr>
        <p:pic>
          <p:nvPicPr>
            <p:cNvPr id="8" name="Picture 7">
              <a:extLst>
                <a:ext uri="{FF2B5EF4-FFF2-40B4-BE49-F238E27FC236}">
                  <a16:creationId xmlns:a16="http://schemas.microsoft.com/office/drawing/2014/main" id="{B2A2A828-8E9B-40C6-B14E-6C4A454706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5901" y="3638169"/>
              <a:ext cx="542676" cy="542676"/>
            </a:xfrm>
            <a:prstGeom prst="rect">
              <a:avLst/>
            </a:prstGeom>
          </p:spPr>
        </p:pic>
        <p:pic>
          <p:nvPicPr>
            <p:cNvPr id="9" name="Picture 8">
              <a:extLst>
                <a:ext uri="{FF2B5EF4-FFF2-40B4-BE49-F238E27FC236}">
                  <a16:creationId xmlns:a16="http://schemas.microsoft.com/office/drawing/2014/main" id="{313A3BAA-233D-47EE-AFBA-254E991171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5148" y="3638169"/>
              <a:ext cx="542676" cy="542676"/>
            </a:xfrm>
            <a:prstGeom prst="rect">
              <a:avLst/>
            </a:prstGeom>
          </p:spPr>
        </p:pic>
        <p:sp>
          <p:nvSpPr>
            <p:cNvPr id="10" name="Freeform 30">
              <a:extLst>
                <a:ext uri="{FF2B5EF4-FFF2-40B4-BE49-F238E27FC236}">
                  <a16:creationId xmlns:a16="http://schemas.microsoft.com/office/drawing/2014/main" id="{DC23977A-8C5E-4ECD-A1D0-62EE1BF9FAF3}"/>
                </a:ext>
              </a:extLst>
            </p:cNvPr>
            <p:cNvSpPr/>
            <p:nvPr/>
          </p:nvSpPr>
          <p:spPr>
            <a:xfrm>
              <a:off x="7206998" y="1739900"/>
              <a:ext cx="3022600" cy="1892300"/>
            </a:xfrm>
            <a:custGeom>
              <a:avLst/>
              <a:gdLst>
                <a:gd name="connsiteX0" fmla="*/ 0 w 3022600"/>
                <a:gd name="connsiteY0" fmla="*/ 1892300 h 1892300"/>
                <a:gd name="connsiteX1" fmla="*/ 0 w 3022600"/>
                <a:gd name="connsiteY1" fmla="*/ 0 h 1892300"/>
                <a:gd name="connsiteX2" fmla="*/ 3022600 w 3022600"/>
                <a:gd name="connsiteY2" fmla="*/ 0 h 1892300"/>
                <a:gd name="connsiteX3" fmla="*/ 3022600 w 3022600"/>
                <a:gd name="connsiteY3" fmla="*/ 1562100 h 1892300"/>
              </a:gdLst>
              <a:ahLst/>
              <a:cxnLst>
                <a:cxn ang="0">
                  <a:pos x="connsiteX0" y="connsiteY0"/>
                </a:cxn>
                <a:cxn ang="0">
                  <a:pos x="connsiteX1" y="connsiteY1"/>
                </a:cxn>
                <a:cxn ang="0">
                  <a:pos x="connsiteX2" y="connsiteY2"/>
                </a:cxn>
                <a:cxn ang="0">
                  <a:pos x="connsiteX3" y="connsiteY3"/>
                </a:cxn>
              </a:cxnLst>
              <a:rect l="l" t="t" r="r" b="b"/>
              <a:pathLst>
                <a:path w="3022600" h="1892300">
                  <a:moveTo>
                    <a:pt x="0" y="1892300"/>
                  </a:moveTo>
                  <a:lnTo>
                    <a:pt x="0" y="0"/>
                  </a:lnTo>
                  <a:lnTo>
                    <a:pt x="3022600" y="0"/>
                  </a:lnTo>
                  <a:lnTo>
                    <a:pt x="3022600" y="1562100"/>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1" name="Freeform 31">
              <a:extLst>
                <a:ext uri="{FF2B5EF4-FFF2-40B4-BE49-F238E27FC236}">
                  <a16:creationId xmlns:a16="http://schemas.microsoft.com/office/drawing/2014/main" id="{80D6E929-CA03-4664-9537-A06A9D35863F}"/>
                </a:ext>
              </a:extLst>
            </p:cNvPr>
            <p:cNvSpPr/>
            <p:nvPr/>
          </p:nvSpPr>
          <p:spPr>
            <a:xfrm>
              <a:off x="6414998" y="3224213"/>
              <a:ext cx="1583022" cy="419100"/>
            </a:xfrm>
            <a:custGeom>
              <a:avLst/>
              <a:gdLst>
                <a:gd name="connsiteX0" fmla="*/ 0 w 1628775"/>
                <a:gd name="connsiteY0" fmla="*/ 404812 h 419100"/>
                <a:gd name="connsiteX1" fmla="*/ 0 w 1628775"/>
                <a:gd name="connsiteY1" fmla="*/ 0 h 419100"/>
                <a:gd name="connsiteX2" fmla="*/ 1628775 w 1628775"/>
                <a:gd name="connsiteY2" fmla="*/ 0 h 419100"/>
                <a:gd name="connsiteX3" fmla="*/ 1628775 w 1628775"/>
                <a:gd name="connsiteY3" fmla="*/ 419100 h 419100"/>
              </a:gdLst>
              <a:ahLst/>
              <a:cxnLst>
                <a:cxn ang="0">
                  <a:pos x="connsiteX0" y="connsiteY0"/>
                </a:cxn>
                <a:cxn ang="0">
                  <a:pos x="connsiteX1" y="connsiteY1"/>
                </a:cxn>
                <a:cxn ang="0">
                  <a:pos x="connsiteX2" y="connsiteY2"/>
                </a:cxn>
                <a:cxn ang="0">
                  <a:pos x="connsiteX3" y="connsiteY3"/>
                </a:cxn>
              </a:cxnLst>
              <a:rect l="l" t="t" r="r" b="b"/>
              <a:pathLst>
                <a:path w="1628775" h="419100">
                  <a:moveTo>
                    <a:pt x="0" y="404812"/>
                  </a:moveTo>
                  <a:lnTo>
                    <a:pt x="0" y="0"/>
                  </a:lnTo>
                  <a:lnTo>
                    <a:pt x="1628775" y="0"/>
                  </a:lnTo>
                  <a:lnTo>
                    <a:pt x="1628775" y="419100"/>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2" name="Freeform 32">
              <a:extLst>
                <a:ext uri="{FF2B5EF4-FFF2-40B4-BE49-F238E27FC236}">
                  <a16:creationId xmlns:a16="http://schemas.microsoft.com/office/drawing/2014/main" id="{8342C213-7970-481F-81D3-AD56ABF607AF}"/>
                </a:ext>
              </a:extLst>
            </p:cNvPr>
            <p:cNvSpPr/>
            <p:nvPr/>
          </p:nvSpPr>
          <p:spPr>
            <a:xfrm>
              <a:off x="10496460" y="3454400"/>
              <a:ext cx="376238" cy="1558777"/>
            </a:xfrm>
            <a:custGeom>
              <a:avLst/>
              <a:gdLst>
                <a:gd name="connsiteX0" fmla="*/ 0 w 466725"/>
                <a:gd name="connsiteY0" fmla="*/ 0 h 1481137"/>
                <a:gd name="connsiteX1" fmla="*/ 309563 w 466725"/>
                <a:gd name="connsiteY1" fmla="*/ 0 h 1481137"/>
                <a:gd name="connsiteX2" fmla="*/ 309563 w 466725"/>
                <a:gd name="connsiteY2" fmla="*/ 1481137 h 1481137"/>
                <a:gd name="connsiteX3" fmla="*/ 466725 w 466725"/>
                <a:gd name="connsiteY3" fmla="*/ 1481137 h 1481137"/>
              </a:gdLst>
              <a:ahLst/>
              <a:cxnLst>
                <a:cxn ang="0">
                  <a:pos x="connsiteX0" y="connsiteY0"/>
                </a:cxn>
                <a:cxn ang="0">
                  <a:pos x="connsiteX1" y="connsiteY1"/>
                </a:cxn>
                <a:cxn ang="0">
                  <a:pos x="connsiteX2" y="connsiteY2"/>
                </a:cxn>
                <a:cxn ang="0">
                  <a:pos x="connsiteX3" y="connsiteY3"/>
                </a:cxn>
              </a:cxnLst>
              <a:rect l="l" t="t" r="r" b="b"/>
              <a:pathLst>
                <a:path w="466725" h="1481137">
                  <a:moveTo>
                    <a:pt x="0" y="0"/>
                  </a:moveTo>
                  <a:lnTo>
                    <a:pt x="309563" y="0"/>
                  </a:lnTo>
                  <a:lnTo>
                    <a:pt x="309563" y="1481137"/>
                  </a:lnTo>
                  <a:lnTo>
                    <a:pt x="466725" y="1481137"/>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D908310F-B467-40E9-9339-679122D9A4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50445" y="1188720"/>
              <a:ext cx="935706" cy="935706"/>
            </a:xfrm>
            <a:prstGeom prst="rect">
              <a:avLst/>
            </a:prstGeom>
            <a:solidFill>
              <a:schemeClr val="bg1"/>
            </a:solidFill>
          </p:spPr>
        </p:pic>
        <p:sp>
          <p:nvSpPr>
            <p:cNvPr id="14" name="Rectangle 13">
              <a:extLst>
                <a:ext uri="{FF2B5EF4-FFF2-40B4-BE49-F238E27FC236}">
                  <a16:creationId xmlns:a16="http://schemas.microsoft.com/office/drawing/2014/main" id="{68F6E8E7-BA73-4283-97BD-088BE833DC6B}"/>
                </a:ext>
              </a:extLst>
            </p:cNvPr>
            <p:cNvSpPr/>
            <p:nvPr/>
          </p:nvSpPr>
          <p:spPr>
            <a:xfrm>
              <a:off x="8088770" y="2132856"/>
              <a:ext cx="1259063"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2C6"/>
                  </a:solidFill>
                  <a:effectLst/>
                  <a:uLnTx/>
                  <a:uFillTx/>
                  <a:latin typeface="Segoe UI"/>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2C6"/>
                  </a:solidFill>
                  <a:effectLst/>
                  <a:uLnTx/>
                  <a:uFillTx/>
                  <a:latin typeface="Segoe UI"/>
                  <a:ea typeface="+mn-ea"/>
                  <a:cs typeface="+mn-cs"/>
                </a:rPr>
                <a:t>Active Directory</a:t>
              </a:r>
              <a:endParaRPr kumimoji="0" lang="en-US" sz="1200" b="0" i="0" u="none" strike="noStrike" kern="1200" cap="none" spc="0" normalizeH="0" baseline="0" noProof="0" dirty="0">
                <a:ln>
                  <a:noFill/>
                </a:ln>
                <a:solidFill>
                  <a:srgbClr val="505050"/>
                </a:solidFill>
                <a:effectLst/>
                <a:uLnTx/>
                <a:uFillTx/>
                <a:latin typeface="Segoe UI"/>
                <a:ea typeface="+mn-ea"/>
                <a:cs typeface="+mn-cs"/>
              </a:endParaRPr>
            </a:p>
          </p:txBody>
        </p:sp>
        <p:sp>
          <p:nvSpPr>
            <p:cNvPr id="15" name="Rectangle 14">
              <a:extLst>
                <a:ext uri="{FF2B5EF4-FFF2-40B4-BE49-F238E27FC236}">
                  <a16:creationId xmlns:a16="http://schemas.microsoft.com/office/drawing/2014/main" id="{9A8FAB1A-CB69-44FD-BD1F-AB9A21BEABC6}"/>
                </a:ext>
              </a:extLst>
            </p:cNvPr>
            <p:cNvSpPr/>
            <p:nvPr/>
          </p:nvSpPr>
          <p:spPr>
            <a:xfrm>
              <a:off x="10789798" y="4473116"/>
              <a:ext cx="1060803"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Resource group</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16" name="Rectangle 15">
              <a:extLst>
                <a:ext uri="{FF2B5EF4-FFF2-40B4-BE49-F238E27FC236}">
                  <a16:creationId xmlns:a16="http://schemas.microsoft.com/office/drawing/2014/main" id="{AE22B93B-6D97-4A44-A4D2-2BDDA3BA6CAF}"/>
                </a:ext>
              </a:extLst>
            </p:cNvPr>
            <p:cNvSpPr/>
            <p:nvPr/>
          </p:nvSpPr>
          <p:spPr>
            <a:xfrm>
              <a:off x="10786821" y="5265204"/>
              <a:ext cx="1060803"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Resource group</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cxnSp>
          <p:nvCxnSpPr>
            <p:cNvPr id="18" name="Straight Connector 17">
              <a:extLst>
                <a:ext uri="{FF2B5EF4-FFF2-40B4-BE49-F238E27FC236}">
                  <a16:creationId xmlns:a16="http://schemas.microsoft.com/office/drawing/2014/main" id="{4CF370D2-2F9F-4F15-9627-0090613B419A}"/>
                </a:ext>
              </a:extLst>
            </p:cNvPr>
            <p:cNvCxnSpPr/>
            <p:nvPr/>
          </p:nvCxnSpPr>
          <p:spPr>
            <a:xfrm>
              <a:off x="10744892" y="4287091"/>
              <a:ext cx="305078" cy="0"/>
            </a:xfrm>
            <a:prstGeom prst="line">
              <a:avLst/>
            </a:prstGeom>
            <a:noFill/>
            <a:ln w="3175">
              <a:solidFill>
                <a:schemeClr val="bg1">
                  <a:lumMod val="75000"/>
                </a:schemeClr>
              </a:solidFill>
            </a:ln>
          </p:spPr>
        </p:cxnSp>
        <p:cxnSp>
          <p:nvCxnSpPr>
            <p:cNvPr id="19" name="Straight Connector 18">
              <a:extLst>
                <a:ext uri="{FF2B5EF4-FFF2-40B4-BE49-F238E27FC236}">
                  <a16:creationId xmlns:a16="http://schemas.microsoft.com/office/drawing/2014/main" id="{B09FFB16-77FF-4057-9334-C2964659033C}"/>
                </a:ext>
              </a:extLst>
            </p:cNvPr>
            <p:cNvCxnSpPr/>
            <p:nvPr/>
          </p:nvCxnSpPr>
          <p:spPr>
            <a:xfrm>
              <a:off x="10744892" y="5013177"/>
              <a:ext cx="305078" cy="0"/>
            </a:xfrm>
            <a:prstGeom prst="line">
              <a:avLst/>
            </a:prstGeom>
            <a:noFill/>
            <a:ln w="3175">
              <a:solidFill>
                <a:schemeClr val="bg1">
                  <a:lumMod val="75000"/>
                </a:schemeClr>
              </a:solidFill>
            </a:ln>
          </p:spPr>
        </p:cxnSp>
        <p:pic>
          <p:nvPicPr>
            <p:cNvPr id="20" name="Picture 19">
              <a:extLst>
                <a:ext uri="{FF2B5EF4-FFF2-40B4-BE49-F238E27FC236}">
                  <a16:creationId xmlns:a16="http://schemas.microsoft.com/office/drawing/2014/main" id="{97B9F2D5-B926-4EA2-953E-B2DC019EEE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9970" y="4016862"/>
              <a:ext cx="540458" cy="540458"/>
            </a:xfrm>
            <a:prstGeom prst="rect">
              <a:avLst/>
            </a:prstGeom>
          </p:spPr>
        </p:pic>
        <p:pic>
          <p:nvPicPr>
            <p:cNvPr id="21" name="Picture 20">
              <a:extLst>
                <a:ext uri="{FF2B5EF4-FFF2-40B4-BE49-F238E27FC236}">
                  <a16:creationId xmlns:a16="http://schemas.microsoft.com/office/drawing/2014/main" id="{09DE48B0-0F00-40BA-9B90-FAF7F39A49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9970" y="4725144"/>
              <a:ext cx="540458" cy="540458"/>
            </a:xfrm>
            <a:prstGeom prst="rect">
              <a:avLst/>
            </a:prstGeom>
          </p:spPr>
        </p:pic>
        <p:pic>
          <p:nvPicPr>
            <p:cNvPr id="22" name="Picture 21">
              <a:extLst>
                <a:ext uri="{FF2B5EF4-FFF2-40B4-BE49-F238E27FC236}">
                  <a16:creationId xmlns:a16="http://schemas.microsoft.com/office/drawing/2014/main" id="{D1883536-C726-4036-A727-AD9988E40CA8}"/>
                </a:ext>
              </a:extLst>
            </p:cNvPr>
            <p:cNvPicPr>
              <a:picLocks noChangeAspect="1"/>
            </p:cNvPicPr>
            <p:nvPr/>
          </p:nvPicPr>
          <p:blipFill>
            <a:blip r:embed="rId7"/>
            <a:stretch>
              <a:fillRect/>
            </a:stretch>
          </p:blipFill>
          <p:spPr>
            <a:xfrm>
              <a:off x="7691267" y="3675774"/>
              <a:ext cx="621846" cy="469433"/>
            </a:xfrm>
            <a:prstGeom prst="rect">
              <a:avLst/>
            </a:prstGeom>
          </p:spPr>
        </p:pic>
        <p:sp>
          <p:nvSpPr>
            <p:cNvPr id="23" name="Rectangle 22">
              <a:extLst>
                <a:ext uri="{FF2B5EF4-FFF2-40B4-BE49-F238E27FC236}">
                  <a16:creationId xmlns:a16="http://schemas.microsoft.com/office/drawing/2014/main" id="{F2E1E3C6-BA28-4271-BD12-98D00B8ED4F3}"/>
                </a:ext>
              </a:extLst>
            </p:cNvPr>
            <p:cNvSpPr/>
            <p:nvPr/>
          </p:nvSpPr>
          <p:spPr>
            <a:xfrm>
              <a:off x="6172138" y="4159746"/>
              <a:ext cx="489236"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User</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4" name="Rectangle 23">
              <a:extLst>
                <a:ext uri="{FF2B5EF4-FFF2-40B4-BE49-F238E27FC236}">
                  <a16:creationId xmlns:a16="http://schemas.microsoft.com/office/drawing/2014/main" id="{9F0C9A37-CE2E-420A-8392-953A2123CCAD}"/>
                </a:ext>
              </a:extLst>
            </p:cNvPr>
            <p:cNvSpPr/>
            <p:nvPr/>
          </p:nvSpPr>
          <p:spPr>
            <a:xfrm>
              <a:off x="6924311" y="4159746"/>
              <a:ext cx="529312"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Apps</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5" name="Rectangle 24">
              <a:extLst>
                <a:ext uri="{FF2B5EF4-FFF2-40B4-BE49-F238E27FC236}">
                  <a16:creationId xmlns:a16="http://schemas.microsoft.com/office/drawing/2014/main" id="{628F00B6-1F4B-478F-A8D4-525A7666CBD4}"/>
                </a:ext>
              </a:extLst>
            </p:cNvPr>
            <p:cNvSpPr/>
            <p:nvPr/>
          </p:nvSpPr>
          <p:spPr>
            <a:xfrm>
              <a:off x="7501824" y="4159746"/>
              <a:ext cx="1004954"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User groups</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6" name="Rectangle 25">
              <a:extLst>
                <a:ext uri="{FF2B5EF4-FFF2-40B4-BE49-F238E27FC236}">
                  <a16:creationId xmlns:a16="http://schemas.microsoft.com/office/drawing/2014/main" id="{044FD503-0CA6-4162-9BA8-3DEA6F1034B1}"/>
                </a:ext>
              </a:extLst>
            </p:cNvPr>
            <p:cNvSpPr/>
            <p:nvPr/>
          </p:nvSpPr>
          <p:spPr>
            <a:xfrm>
              <a:off x="9469108" y="3643313"/>
              <a:ext cx="1008609"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subscription</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pic>
          <p:nvPicPr>
            <p:cNvPr id="27" name="Picture 26">
              <a:extLst>
                <a:ext uri="{FF2B5EF4-FFF2-40B4-BE49-F238E27FC236}">
                  <a16:creationId xmlns:a16="http://schemas.microsoft.com/office/drawing/2014/main" id="{C0EBD996-9BCE-428C-86F7-E60671ED93A0}"/>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65155" y="3213636"/>
              <a:ext cx="1361218" cy="476496"/>
            </a:xfrm>
            <a:prstGeom prst="rect">
              <a:avLst/>
            </a:prstGeom>
          </p:spPr>
        </p:pic>
      </p:grpSp>
      <p:sp>
        <p:nvSpPr>
          <p:cNvPr id="6" name="Text Placeholder 5"/>
          <p:cNvSpPr>
            <a:spLocks noGrp="1"/>
          </p:cNvSpPr>
          <p:nvPr>
            <p:ph sz="quarter" idx="10"/>
          </p:nvPr>
        </p:nvSpPr>
        <p:spPr>
          <a:xfrm>
            <a:off x="6050107" y="1669141"/>
            <a:ext cx="5959326" cy="2657138"/>
          </a:xfrm>
        </p:spPr>
        <p:txBody>
          <a:bodyPr vert="horz" wrap="square" lIns="0" tIns="91440" rIns="146304" bIns="91440" rtlCol="0" anchor="t">
            <a:spAutoFit/>
          </a:bodyPr>
          <a:lstStyle/>
          <a:p>
            <a:pPr marL="285750" indent="-285750">
              <a:buFont typeface="Arial" panose="020B0604020202020204" pitchFamily="34" charset="0"/>
              <a:buChar char="•"/>
            </a:pPr>
            <a:r>
              <a:rPr lang="en-US" noProof="0" dirty="0">
                <a:latin typeface="+mn-lt"/>
              </a:rPr>
              <a:t>Fine-grained access management.</a:t>
            </a:r>
            <a:endParaRPr lang="en-US" dirty="0">
              <a:cs typeface="Segoe UI"/>
            </a:endParaRPr>
          </a:p>
          <a:p>
            <a:pPr marL="285750" indent="-285750">
              <a:buFont typeface="Arial" panose="020B0604020202020204" pitchFamily="34" charset="0"/>
              <a:buChar char="•"/>
            </a:pPr>
            <a:r>
              <a:rPr lang="en-US" dirty="0">
                <a:latin typeface="+mn-lt"/>
              </a:rPr>
              <a:t>Segregate duties within the team and grant only the amount of access to users that they need to perform their jobs.</a:t>
            </a:r>
            <a:endParaRPr lang="en-US" dirty="0">
              <a:latin typeface="+mn-lt"/>
              <a:cs typeface="Segoe UI"/>
            </a:endParaRPr>
          </a:p>
          <a:p>
            <a:pPr marL="285750" indent="-285750">
              <a:buFont typeface="Arial" panose="020B0604020202020204" pitchFamily="34" charset="0"/>
              <a:buChar char="•"/>
            </a:pPr>
            <a:r>
              <a:rPr lang="en-US" dirty="0">
                <a:latin typeface="+mn-lt"/>
              </a:rPr>
              <a:t>Enables access to the Azure portal and controlling access to resources.</a:t>
            </a:r>
            <a:endParaRPr lang="en-US" dirty="0">
              <a:latin typeface="+mn-lt"/>
              <a:cs typeface="Segoe UI"/>
            </a:endParaRPr>
          </a:p>
        </p:txBody>
      </p:sp>
    </p:spTree>
    <p:extLst>
      <p:ext uri="{BB962C8B-B14F-4D97-AF65-F5344CB8AC3E}">
        <p14:creationId xmlns:p14="http://schemas.microsoft.com/office/powerpoint/2010/main" val="136183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Resource locks</a:t>
            </a:r>
          </a:p>
        </p:txBody>
      </p:sp>
      <p:sp>
        <p:nvSpPr>
          <p:cNvPr id="6" name="Text Placeholder 5"/>
          <p:cNvSpPr>
            <a:spLocks noGrp="1"/>
          </p:cNvSpPr>
          <p:nvPr>
            <p:ph sz="quarter" idx="10"/>
          </p:nvPr>
        </p:nvSpPr>
        <p:spPr>
          <a:xfrm>
            <a:off x="419100" y="1456897"/>
            <a:ext cx="11340811" cy="1420902"/>
          </a:xfrm>
        </p:spPr>
        <p:txBody>
          <a:bodyPr/>
          <a:lstStyle/>
          <a:p>
            <a:pPr marL="457200" indent="-457200">
              <a:buFont typeface="Arial" panose="020B0604020202020204" pitchFamily="34" charset="0"/>
              <a:buChar char="•"/>
            </a:pPr>
            <a:r>
              <a:rPr lang="en-US" noProof="0" dirty="0">
                <a:latin typeface="+mn-lt"/>
              </a:rPr>
              <a:t>Protect your Azure resources from accidental deletion or modification. </a:t>
            </a:r>
          </a:p>
          <a:p>
            <a:pPr marL="457200" indent="-457200">
              <a:buFont typeface="Arial" panose="020B0604020202020204" pitchFamily="34" charset="0"/>
              <a:buChar char="•"/>
            </a:pPr>
            <a:r>
              <a:rPr lang="en-US" noProof="0" dirty="0">
                <a:latin typeface="+mn-lt"/>
              </a:rPr>
              <a:t>Manage locks at subscription, resource group, or individual resource levels within Azure Portal.</a:t>
            </a:r>
          </a:p>
        </p:txBody>
      </p:sp>
      <p:graphicFrame>
        <p:nvGraphicFramePr>
          <p:cNvPr id="2" name="Table 1"/>
          <p:cNvGraphicFramePr>
            <a:graphicFrameLocks noGrp="1"/>
          </p:cNvGraphicFramePr>
          <p:nvPr>
            <p:extLst>
              <p:ext uri="{D42A27DB-BD31-4B8C-83A1-F6EECF244321}">
                <p14:modId xmlns:p14="http://schemas.microsoft.com/office/powerpoint/2010/main" val="2883580604"/>
              </p:ext>
            </p:extLst>
          </p:nvPr>
        </p:nvGraphicFramePr>
        <p:xfrm>
          <a:off x="1115161" y="3371581"/>
          <a:ext cx="9948232" cy="1645920"/>
        </p:xfrm>
        <a:graphic>
          <a:graphicData uri="http://schemas.openxmlformats.org/drawingml/2006/table">
            <a:tbl>
              <a:tblPr firstRow="1" firstCol="1" bandRow="1">
                <a:tableStyleId>{5C22544A-7EE6-4342-B048-85BDC9FD1C3A}</a:tableStyleId>
              </a:tblPr>
              <a:tblGrid>
                <a:gridCol w="3295352">
                  <a:extLst>
                    <a:ext uri="{9D8B030D-6E8A-4147-A177-3AD203B41FA5}">
                      <a16:colId xmlns:a16="http://schemas.microsoft.com/office/drawing/2014/main" val="20000"/>
                    </a:ext>
                  </a:extLst>
                </a:gridCol>
                <a:gridCol w="1994056">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296624">
                  <a:extLst>
                    <a:ext uri="{9D8B030D-6E8A-4147-A177-3AD203B41FA5}">
                      <a16:colId xmlns:a16="http://schemas.microsoft.com/office/drawing/2014/main" val="20003"/>
                    </a:ext>
                  </a:extLst>
                </a:gridCol>
              </a:tblGrid>
              <a:tr h="548640">
                <a:tc>
                  <a:txBody>
                    <a:bodyPr/>
                    <a:lstStyle/>
                    <a:p>
                      <a:pPr algn="ctr"/>
                      <a:r>
                        <a:rPr lang="en-US" sz="2400" b="0" dirty="0">
                          <a:latin typeface="+mj-lt"/>
                        </a:rPr>
                        <a:t>Lock Types</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latin typeface="+mj-lt"/>
                        </a:rPr>
                        <a:t>Read</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latin typeface="+mj-lt"/>
                        </a:rPr>
                        <a:t>Update</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latin typeface="+mj-lt"/>
                        </a:rPr>
                        <a:t>Delete</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8640">
                <a:tc>
                  <a:txBody>
                    <a:bodyPr/>
                    <a:lstStyle/>
                    <a:p>
                      <a:pPr algn="ctr"/>
                      <a:r>
                        <a:rPr lang="en-US" sz="2400" b="0" dirty="0" err="1"/>
                        <a:t>CanNotDelete</a:t>
                      </a:r>
                      <a:endParaRPr lang="en-US" sz="24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48640">
                <a:tc>
                  <a:txBody>
                    <a:bodyPr/>
                    <a:lstStyle/>
                    <a:p>
                      <a:pPr algn="ctr"/>
                      <a:r>
                        <a:rPr lang="en-US" sz="2400" b="0" dirty="0" err="1"/>
                        <a:t>ReadOnly</a:t>
                      </a:r>
                      <a:endParaRPr lang="en-US" sz="24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0927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T</a:t>
            </a:r>
            <a:r>
              <a:rPr lang="en-US" noProof="0" dirty="0" err="1"/>
              <a:t>ags</a:t>
            </a:r>
            <a:endParaRPr lang="en-US" noProof="0" dirty="0"/>
          </a:p>
        </p:txBody>
      </p:sp>
      <p:sp>
        <p:nvSpPr>
          <p:cNvPr id="2" name="Content Placeholder 1">
            <a:extLst>
              <a:ext uri="{FF2B5EF4-FFF2-40B4-BE49-F238E27FC236}">
                <a16:creationId xmlns:a16="http://schemas.microsoft.com/office/drawing/2014/main" id="{C167F9FB-F2C5-4D64-A5CF-249374BD8B9F}"/>
              </a:ext>
            </a:extLst>
          </p:cNvPr>
          <p:cNvSpPr>
            <a:spLocks noGrp="1"/>
          </p:cNvSpPr>
          <p:nvPr>
            <p:ph sz="quarter" idx="10"/>
          </p:nvPr>
        </p:nvSpPr>
        <p:spPr>
          <a:xfrm>
            <a:off x="419101" y="1456896"/>
            <a:ext cx="5958580" cy="3932983"/>
          </a:xfrm>
        </p:spPr>
        <p:txBody>
          <a:bodyPr/>
          <a:lstStyle/>
          <a:p>
            <a:pPr marL="282575" indent="-282575">
              <a:buFont typeface="Arial" panose="020B0604020202020204" pitchFamily="34" charset="0"/>
              <a:buChar char="•"/>
            </a:pPr>
            <a:r>
              <a:rPr lang="en-IE" dirty="0">
                <a:latin typeface="+mn-lt"/>
              </a:rPr>
              <a:t>Provides metadata for your Azure resources. </a:t>
            </a:r>
          </a:p>
          <a:p>
            <a:pPr marL="282575" indent="-282575">
              <a:buFont typeface="Arial" panose="020B0604020202020204" pitchFamily="34" charset="0"/>
              <a:buChar char="•"/>
            </a:pPr>
            <a:r>
              <a:rPr lang="en-IE" dirty="0">
                <a:latin typeface="+mn-lt"/>
              </a:rPr>
              <a:t>Logically organizes resources into a taxonomy. </a:t>
            </a:r>
          </a:p>
          <a:p>
            <a:pPr marL="282575" indent="-282575">
              <a:buFont typeface="Arial" panose="020B0604020202020204" pitchFamily="34" charset="0"/>
              <a:buChar char="•"/>
            </a:pPr>
            <a:r>
              <a:rPr lang="en-IE" dirty="0">
                <a:latin typeface="+mn-lt"/>
              </a:rPr>
              <a:t>Consists of a name-value pair.</a:t>
            </a:r>
          </a:p>
          <a:p>
            <a:pPr marL="282575" indent="-282575">
              <a:buFont typeface="Arial" panose="020B0604020202020204" pitchFamily="34" charset="0"/>
              <a:buChar char="•"/>
            </a:pPr>
            <a:r>
              <a:rPr lang="en-IE" dirty="0">
                <a:latin typeface="+mn-lt"/>
              </a:rPr>
              <a:t>Very useful for rolling up billing information.</a:t>
            </a:r>
          </a:p>
        </p:txBody>
      </p:sp>
      <p:grpSp>
        <p:nvGrpSpPr>
          <p:cNvPr id="3" name="Group 2" descr="Package with a tag on it that shows the Owner is Joe in marketing with another tag showing the cost-center of the package is marketing.">
            <a:extLst>
              <a:ext uri="{FF2B5EF4-FFF2-40B4-BE49-F238E27FC236}">
                <a16:creationId xmlns:a16="http://schemas.microsoft.com/office/drawing/2014/main" id="{0C0164D0-C180-419A-8A84-F5C1135AC719}"/>
              </a:ext>
            </a:extLst>
          </p:cNvPr>
          <p:cNvGrpSpPr/>
          <p:nvPr/>
        </p:nvGrpSpPr>
        <p:grpSpPr>
          <a:xfrm>
            <a:off x="5908564" y="695033"/>
            <a:ext cx="5628116" cy="4658360"/>
            <a:chOff x="6389914" y="1189038"/>
            <a:chExt cx="5698039" cy="4718086"/>
          </a:xfrm>
        </p:grpSpPr>
        <p:grpSp>
          <p:nvGrpSpPr>
            <p:cNvPr id="10" name="Group 9" descr="Several tags are shown: owner:joe, department:marketing,environment:production, and cost-center:marketing. ">
              <a:extLst>
                <a:ext uri="{FF2B5EF4-FFF2-40B4-BE49-F238E27FC236}">
                  <a16:creationId xmlns:a16="http://schemas.microsoft.com/office/drawing/2014/main" id="{82F74496-61E1-477D-9885-26F1AA54C56E}"/>
                </a:ext>
              </a:extLst>
            </p:cNvPr>
            <p:cNvGrpSpPr/>
            <p:nvPr/>
          </p:nvGrpSpPr>
          <p:grpSpPr>
            <a:xfrm>
              <a:off x="6389914" y="4791210"/>
              <a:ext cx="5698039" cy="1115914"/>
              <a:chOff x="5085557" y="5445224"/>
              <a:chExt cx="7400359" cy="1115914"/>
            </a:xfrm>
          </p:grpSpPr>
          <p:sp>
            <p:nvSpPr>
              <p:cNvPr id="11" name="Rectangle 10">
                <a:extLst>
                  <a:ext uri="{FF2B5EF4-FFF2-40B4-BE49-F238E27FC236}">
                    <a16:creationId xmlns:a16="http://schemas.microsoft.com/office/drawing/2014/main" id="{4E66ACC0-1EC6-4F42-9FE9-36D4490E359F}"/>
                  </a:ext>
                </a:extLst>
              </p:cNvPr>
              <p:cNvSpPr>
                <a:spLocks/>
              </p:cNvSpPr>
              <p:nvPr/>
            </p:nvSpPr>
            <p:spPr>
              <a:xfrm>
                <a:off x="5085557" y="5445224"/>
                <a:ext cx="3661436" cy="1115914"/>
              </a:xfrm>
              <a:prstGeom prst="rect">
                <a:avLst/>
              </a:prstGeom>
              <a:solidFill>
                <a:schemeClr val="bg1">
                  <a:lumMod val="95000"/>
                </a:schemeClr>
              </a:solidFill>
              <a:ln>
                <a:solidFill>
                  <a:schemeClr val="bg1">
                    <a:lumMod val="75000"/>
                  </a:schemeClr>
                </a:solidFill>
              </a:ln>
            </p:spPr>
            <p:txBody>
              <a:bodyPr wrap="none" lIns="14630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5050"/>
                    </a:solidFill>
                    <a:effectLst/>
                    <a:uLnTx/>
                    <a:uFillTx/>
                    <a:latin typeface="Segoe UI"/>
                    <a:ea typeface="+mn-ea"/>
                    <a:cs typeface="+mn-cs"/>
                  </a:rPr>
                  <a:t>owner: joe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5050"/>
                    </a:solidFill>
                    <a:effectLst/>
                    <a:uLnTx/>
                    <a:uFillTx/>
                    <a:latin typeface="Segoe UI"/>
                    <a:ea typeface="+mn-ea"/>
                    <a:cs typeface="+mn-cs"/>
                  </a:rPr>
                  <a:t>department: marketing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5050"/>
                    </a:solidFill>
                    <a:effectLst/>
                    <a:uLnTx/>
                    <a:uFillTx/>
                    <a:latin typeface="Segoe UI"/>
                    <a:ea typeface="+mn-ea"/>
                    <a:cs typeface="+mn-cs"/>
                  </a:rPr>
                  <a:t>environment: production	</a:t>
                </a:r>
              </a:p>
            </p:txBody>
          </p:sp>
          <p:sp>
            <p:nvSpPr>
              <p:cNvPr id="12" name="Rectangle 11">
                <a:extLst>
                  <a:ext uri="{FF2B5EF4-FFF2-40B4-BE49-F238E27FC236}">
                    <a16:creationId xmlns:a16="http://schemas.microsoft.com/office/drawing/2014/main" id="{3A82C1E5-5C94-4E3C-ACE3-6FB07AB3A6F7}"/>
                  </a:ext>
                </a:extLst>
              </p:cNvPr>
              <p:cNvSpPr>
                <a:spLocks/>
              </p:cNvSpPr>
              <p:nvPr/>
            </p:nvSpPr>
            <p:spPr>
              <a:xfrm>
                <a:off x="8918109" y="5445224"/>
                <a:ext cx="3567807" cy="1115914"/>
              </a:xfrm>
              <a:prstGeom prst="rect">
                <a:avLst/>
              </a:prstGeom>
              <a:solidFill>
                <a:schemeClr val="bg1">
                  <a:lumMod val="95000"/>
                </a:schemeClr>
              </a:solidFill>
              <a:ln>
                <a:solidFill>
                  <a:schemeClr val="bg1">
                    <a:lumMod val="75000"/>
                  </a:schemeClr>
                </a:solidFill>
              </a:ln>
            </p:spPr>
            <p:txBody>
              <a:bodyPr wrap="none" lIns="14630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05050"/>
                    </a:solidFill>
                    <a:effectLst/>
                    <a:uLnTx/>
                    <a:uFillTx/>
                    <a:latin typeface="Segoe UI"/>
                    <a:ea typeface="+mn-ea"/>
                    <a:cs typeface="+mn-cs"/>
                  </a:rPr>
                  <a:t>cost-center: marketing</a:t>
                </a:r>
              </a:p>
            </p:txBody>
          </p:sp>
        </p:grpSp>
        <p:grpSp>
          <p:nvGrpSpPr>
            <p:cNvPr id="13" name="Group 12" descr="A tag is associated with a resource or a resource group. ">
              <a:extLst>
                <a:ext uri="{FF2B5EF4-FFF2-40B4-BE49-F238E27FC236}">
                  <a16:creationId xmlns:a16="http://schemas.microsoft.com/office/drawing/2014/main" id="{59658300-E451-4B82-B3CC-5FDFB528B92B}"/>
                </a:ext>
              </a:extLst>
            </p:cNvPr>
            <p:cNvGrpSpPr/>
            <p:nvPr/>
          </p:nvGrpSpPr>
          <p:grpSpPr>
            <a:xfrm>
              <a:off x="7399446" y="1189038"/>
              <a:ext cx="3678974" cy="3176133"/>
              <a:chOff x="6121227" y="1189038"/>
              <a:chExt cx="4698776" cy="3830684"/>
            </a:xfrm>
          </p:grpSpPr>
          <p:sp>
            <p:nvSpPr>
              <p:cNvPr id="14" name="Freeform 25">
                <a:extLst>
                  <a:ext uri="{FF2B5EF4-FFF2-40B4-BE49-F238E27FC236}">
                    <a16:creationId xmlns:a16="http://schemas.microsoft.com/office/drawing/2014/main" id="{8B49AC04-3C49-4563-8FD2-DFADD8091D24}"/>
                  </a:ext>
                </a:extLst>
              </p:cNvPr>
              <p:cNvSpPr>
                <a:spLocks/>
              </p:cNvSpPr>
              <p:nvPr/>
            </p:nvSpPr>
            <p:spPr bwMode="auto">
              <a:xfrm>
                <a:off x="6734879" y="2979738"/>
                <a:ext cx="3548515" cy="577850"/>
              </a:xfrm>
              <a:custGeom>
                <a:avLst/>
                <a:gdLst>
                  <a:gd name="T0" fmla="*/ 1315 w 1315"/>
                  <a:gd name="T1" fmla="*/ 283 h 283"/>
                  <a:gd name="T2" fmla="*/ 1315 w 1315"/>
                  <a:gd name="T3" fmla="*/ 46 h 283"/>
                  <a:gd name="T4" fmla="*/ 1268 w 1315"/>
                  <a:gd name="T5" fmla="*/ 0 h 283"/>
                  <a:gd name="T6" fmla="*/ 46 w 1315"/>
                  <a:gd name="T7" fmla="*/ 0 h 283"/>
                  <a:gd name="T8" fmla="*/ 0 w 1315"/>
                  <a:gd name="T9" fmla="*/ 46 h 283"/>
                  <a:gd name="T10" fmla="*/ 0 w 1315"/>
                  <a:gd name="T11" fmla="*/ 283 h 283"/>
                </a:gdLst>
                <a:ahLst/>
                <a:cxnLst>
                  <a:cxn ang="0">
                    <a:pos x="T0" y="T1"/>
                  </a:cxn>
                  <a:cxn ang="0">
                    <a:pos x="T2" y="T3"/>
                  </a:cxn>
                  <a:cxn ang="0">
                    <a:pos x="T4" y="T5"/>
                  </a:cxn>
                  <a:cxn ang="0">
                    <a:pos x="T6" y="T7"/>
                  </a:cxn>
                  <a:cxn ang="0">
                    <a:pos x="T8" y="T9"/>
                  </a:cxn>
                  <a:cxn ang="0">
                    <a:pos x="T10" y="T11"/>
                  </a:cxn>
                </a:cxnLst>
                <a:rect l="0" t="0" r="r" b="b"/>
                <a:pathLst>
                  <a:path w="1315" h="283">
                    <a:moveTo>
                      <a:pt x="1315" y="283"/>
                    </a:moveTo>
                    <a:cubicBezTo>
                      <a:pt x="1315" y="46"/>
                      <a:pt x="1315" y="46"/>
                      <a:pt x="1315" y="46"/>
                    </a:cubicBezTo>
                    <a:cubicBezTo>
                      <a:pt x="1315" y="21"/>
                      <a:pt x="1294" y="0"/>
                      <a:pt x="1268" y="0"/>
                    </a:cubicBezTo>
                    <a:cubicBezTo>
                      <a:pt x="46" y="0"/>
                      <a:pt x="46" y="0"/>
                      <a:pt x="46" y="0"/>
                    </a:cubicBezTo>
                    <a:cubicBezTo>
                      <a:pt x="21" y="0"/>
                      <a:pt x="0" y="21"/>
                      <a:pt x="0" y="46"/>
                    </a:cubicBezTo>
                    <a:cubicBezTo>
                      <a:pt x="0" y="283"/>
                      <a:pt x="0" y="283"/>
                      <a:pt x="0" y="283"/>
                    </a:cubicBezTo>
                  </a:path>
                </a:pathLst>
              </a:custGeom>
              <a:noFill/>
              <a:ln w="3175" cap="flat">
                <a:solidFill>
                  <a:schemeClr val="bg1">
                    <a:lumMod val="7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grpSp>
            <p:nvGrpSpPr>
              <p:cNvPr id="16" name="Group 15">
                <a:extLst>
                  <a:ext uri="{FF2B5EF4-FFF2-40B4-BE49-F238E27FC236}">
                    <a16:creationId xmlns:a16="http://schemas.microsoft.com/office/drawing/2014/main" id="{C18B0276-A4BC-4219-B3D8-D10F861742E2}"/>
                  </a:ext>
                </a:extLst>
              </p:cNvPr>
              <p:cNvGrpSpPr/>
              <p:nvPr/>
            </p:nvGrpSpPr>
            <p:grpSpPr>
              <a:xfrm>
                <a:off x="7514568" y="1189038"/>
                <a:ext cx="2005012" cy="1966912"/>
                <a:chOff x="7797800" y="1189038"/>
                <a:chExt cx="2005012" cy="1966912"/>
              </a:xfrm>
            </p:grpSpPr>
            <p:sp>
              <p:nvSpPr>
                <p:cNvPr id="47" name="Freeform 28">
                  <a:extLst>
                    <a:ext uri="{FF2B5EF4-FFF2-40B4-BE49-F238E27FC236}">
                      <a16:creationId xmlns:a16="http://schemas.microsoft.com/office/drawing/2014/main" id="{FF302027-7202-4EA6-9A1B-EC7798282C37}"/>
                    </a:ext>
                  </a:extLst>
                </p:cNvPr>
                <p:cNvSpPr>
                  <a:spLocks noEditPoints="1"/>
                </p:cNvSpPr>
                <p:nvPr/>
              </p:nvSpPr>
              <p:spPr bwMode="auto">
                <a:xfrm>
                  <a:off x="7797800" y="1189038"/>
                  <a:ext cx="2005012" cy="1963737"/>
                </a:xfrm>
                <a:custGeom>
                  <a:avLst/>
                  <a:gdLst>
                    <a:gd name="T0" fmla="*/ 0 w 982"/>
                    <a:gd name="T1" fmla="*/ 89 h 963"/>
                    <a:gd name="T2" fmla="*/ 6 w 982"/>
                    <a:gd name="T3" fmla="*/ 396 h 963"/>
                    <a:gd name="T4" fmla="*/ 590 w 982"/>
                    <a:gd name="T5" fmla="*/ 963 h 963"/>
                    <a:gd name="T6" fmla="*/ 982 w 982"/>
                    <a:gd name="T7" fmla="*/ 557 h 963"/>
                    <a:gd name="T8" fmla="*/ 404 w 982"/>
                    <a:gd name="T9" fmla="*/ 0 h 963"/>
                    <a:gd name="T10" fmla="*/ 80 w 982"/>
                    <a:gd name="T11" fmla="*/ 5 h 963"/>
                    <a:gd name="T12" fmla="*/ 0 w 982"/>
                    <a:gd name="T13" fmla="*/ 89 h 963"/>
                    <a:gd name="T14" fmla="*/ 221 w 982"/>
                    <a:gd name="T15" fmla="*/ 100 h 963"/>
                    <a:gd name="T16" fmla="*/ 223 w 982"/>
                    <a:gd name="T17" fmla="*/ 217 h 963"/>
                    <a:gd name="T18" fmla="*/ 106 w 982"/>
                    <a:gd name="T19" fmla="*/ 219 h 963"/>
                    <a:gd name="T20" fmla="*/ 104 w 982"/>
                    <a:gd name="T21" fmla="*/ 103 h 963"/>
                    <a:gd name="T22" fmla="*/ 221 w 982"/>
                    <a:gd name="T23" fmla="*/ 10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2" h="963">
                      <a:moveTo>
                        <a:pt x="0" y="89"/>
                      </a:moveTo>
                      <a:cubicBezTo>
                        <a:pt x="6" y="396"/>
                        <a:pt x="6" y="396"/>
                        <a:pt x="6" y="396"/>
                      </a:cubicBezTo>
                      <a:cubicBezTo>
                        <a:pt x="590" y="963"/>
                        <a:pt x="590" y="963"/>
                        <a:pt x="590" y="963"/>
                      </a:cubicBezTo>
                      <a:cubicBezTo>
                        <a:pt x="982" y="557"/>
                        <a:pt x="982" y="557"/>
                        <a:pt x="982" y="557"/>
                      </a:cubicBezTo>
                      <a:cubicBezTo>
                        <a:pt x="404" y="0"/>
                        <a:pt x="404" y="0"/>
                        <a:pt x="404" y="0"/>
                      </a:cubicBezTo>
                      <a:cubicBezTo>
                        <a:pt x="80" y="5"/>
                        <a:pt x="80" y="5"/>
                        <a:pt x="80" y="5"/>
                      </a:cubicBezTo>
                      <a:lnTo>
                        <a:pt x="0" y="89"/>
                      </a:lnTo>
                      <a:close/>
                      <a:moveTo>
                        <a:pt x="221" y="100"/>
                      </a:moveTo>
                      <a:cubicBezTo>
                        <a:pt x="254" y="132"/>
                        <a:pt x="255" y="184"/>
                        <a:pt x="223" y="217"/>
                      </a:cubicBezTo>
                      <a:cubicBezTo>
                        <a:pt x="191" y="250"/>
                        <a:pt x="139" y="251"/>
                        <a:pt x="106" y="219"/>
                      </a:cubicBezTo>
                      <a:cubicBezTo>
                        <a:pt x="74" y="187"/>
                        <a:pt x="73" y="135"/>
                        <a:pt x="104" y="103"/>
                      </a:cubicBezTo>
                      <a:cubicBezTo>
                        <a:pt x="136" y="70"/>
                        <a:pt x="188" y="69"/>
                        <a:pt x="221" y="10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8" name="Freeform 32">
                  <a:extLst>
                    <a:ext uri="{FF2B5EF4-FFF2-40B4-BE49-F238E27FC236}">
                      <a16:creationId xmlns:a16="http://schemas.microsoft.com/office/drawing/2014/main" id="{C2698FF6-5B0F-452D-B799-0C4CE5E474BD}"/>
                    </a:ext>
                  </a:extLst>
                </p:cNvPr>
                <p:cNvSpPr>
                  <a:spLocks/>
                </p:cNvSpPr>
                <p:nvPr/>
              </p:nvSpPr>
              <p:spPr bwMode="auto">
                <a:xfrm>
                  <a:off x="9559924" y="2514600"/>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9" name="Freeform 33">
                  <a:extLst>
                    <a:ext uri="{FF2B5EF4-FFF2-40B4-BE49-F238E27FC236}">
                      <a16:creationId xmlns:a16="http://schemas.microsoft.com/office/drawing/2014/main" id="{B1508F63-FF60-41F2-A34A-D4F4276B54DB}"/>
                    </a:ext>
                  </a:extLst>
                </p:cNvPr>
                <p:cNvSpPr>
                  <a:spLocks/>
                </p:cNvSpPr>
                <p:nvPr/>
              </p:nvSpPr>
              <p:spPr bwMode="auto">
                <a:xfrm>
                  <a:off x="9502774" y="2573338"/>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0" name="Freeform 34">
                  <a:extLst>
                    <a:ext uri="{FF2B5EF4-FFF2-40B4-BE49-F238E27FC236}">
                      <a16:creationId xmlns:a16="http://schemas.microsoft.com/office/drawing/2014/main" id="{7A0B0400-6089-48B8-91E7-AA19B9AFCD6C}"/>
                    </a:ext>
                  </a:extLst>
                </p:cNvPr>
                <p:cNvSpPr>
                  <a:spLocks/>
                </p:cNvSpPr>
                <p:nvPr/>
              </p:nvSpPr>
              <p:spPr bwMode="auto">
                <a:xfrm>
                  <a:off x="9447212" y="2630488"/>
                  <a:ext cx="49212" cy="60325"/>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1" name="Freeform 35">
                  <a:extLst>
                    <a:ext uri="{FF2B5EF4-FFF2-40B4-BE49-F238E27FC236}">
                      <a16:creationId xmlns:a16="http://schemas.microsoft.com/office/drawing/2014/main" id="{134B0F4D-1665-4347-8A0A-928841D6D083}"/>
                    </a:ext>
                  </a:extLst>
                </p:cNvPr>
                <p:cNvSpPr>
                  <a:spLocks/>
                </p:cNvSpPr>
                <p:nvPr/>
              </p:nvSpPr>
              <p:spPr bwMode="auto">
                <a:xfrm>
                  <a:off x="9390062" y="2690813"/>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2" name="Freeform 36">
                  <a:extLst>
                    <a:ext uri="{FF2B5EF4-FFF2-40B4-BE49-F238E27FC236}">
                      <a16:creationId xmlns:a16="http://schemas.microsoft.com/office/drawing/2014/main" id="{E197AEC4-6270-4F3E-859F-A780CAB80402}"/>
                    </a:ext>
                  </a:extLst>
                </p:cNvPr>
                <p:cNvSpPr>
                  <a:spLocks/>
                </p:cNvSpPr>
                <p:nvPr/>
              </p:nvSpPr>
              <p:spPr bwMode="auto">
                <a:xfrm>
                  <a:off x="9334499" y="2747963"/>
                  <a:ext cx="49212" cy="58737"/>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5"/>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3" name="Freeform 37">
                  <a:extLst>
                    <a:ext uri="{FF2B5EF4-FFF2-40B4-BE49-F238E27FC236}">
                      <a16:creationId xmlns:a16="http://schemas.microsoft.com/office/drawing/2014/main" id="{82C08D6B-80DE-4E97-8AD4-B37615508754}"/>
                    </a:ext>
                  </a:extLst>
                </p:cNvPr>
                <p:cNvSpPr>
                  <a:spLocks/>
                </p:cNvSpPr>
                <p:nvPr/>
              </p:nvSpPr>
              <p:spPr bwMode="auto">
                <a:xfrm>
                  <a:off x="9277349" y="2805113"/>
                  <a:ext cx="50800" cy="58737"/>
                </a:xfrm>
                <a:custGeom>
                  <a:avLst/>
                  <a:gdLst>
                    <a:gd name="T0" fmla="*/ 25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5"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4" name="Freeform 38">
                  <a:extLst>
                    <a:ext uri="{FF2B5EF4-FFF2-40B4-BE49-F238E27FC236}">
                      <a16:creationId xmlns:a16="http://schemas.microsoft.com/office/drawing/2014/main" id="{7C7E0EC0-162E-466E-BED2-2E156ED91B6C}"/>
                    </a:ext>
                  </a:extLst>
                </p:cNvPr>
                <p:cNvSpPr>
                  <a:spLocks/>
                </p:cNvSpPr>
                <p:nvPr/>
              </p:nvSpPr>
              <p:spPr bwMode="auto">
                <a:xfrm>
                  <a:off x="9221787" y="2863850"/>
                  <a:ext cx="49212" cy="58737"/>
                </a:xfrm>
                <a:custGeom>
                  <a:avLst/>
                  <a:gdLst>
                    <a:gd name="T0" fmla="*/ 24 w 24"/>
                    <a:gd name="T1" fmla="*/ 0 h 29"/>
                    <a:gd name="T2" fmla="*/ 24 w 24"/>
                    <a:gd name="T3" fmla="*/ 22 h 29"/>
                    <a:gd name="T4" fmla="*/ 16 w 24"/>
                    <a:gd name="T5" fmla="*/ 29 h 29"/>
                    <a:gd name="T6" fmla="*/ 5 w 24"/>
                    <a:gd name="T7" fmla="*/ 28 h 29"/>
                    <a:gd name="T8" fmla="*/ 2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3" y="26"/>
                        <a:pt x="20" y="29"/>
                        <a:pt x="16" y="29"/>
                      </a:cubicBezTo>
                      <a:cubicBezTo>
                        <a:pt x="5" y="28"/>
                        <a:pt x="5" y="28"/>
                        <a:pt x="5" y="28"/>
                      </a:cubicBezTo>
                      <a:cubicBezTo>
                        <a:pt x="1" y="28"/>
                        <a:pt x="0" y="25"/>
                        <a:pt x="2"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5" name="Freeform 39">
                  <a:extLst>
                    <a:ext uri="{FF2B5EF4-FFF2-40B4-BE49-F238E27FC236}">
                      <a16:creationId xmlns:a16="http://schemas.microsoft.com/office/drawing/2014/main" id="{E505EF47-FA28-4D5A-A8BE-304F9990DC41}"/>
                    </a:ext>
                  </a:extLst>
                </p:cNvPr>
                <p:cNvSpPr>
                  <a:spLocks/>
                </p:cNvSpPr>
                <p:nvPr/>
              </p:nvSpPr>
              <p:spPr bwMode="auto">
                <a:xfrm>
                  <a:off x="9164637" y="2921000"/>
                  <a:ext cx="50800" cy="58737"/>
                </a:xfrm>
                <a:custGeom>
                  <a:avLst/>
                  <a:gdLst>
                    <a:gd name="T0" fmla="*/ 24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6" name="Freeform 40">
                  <a:extLst>
                    <a:ext uri="{FF2B5EF4-FFF2-40B4-BE49-F238E27FC236}">
                      <a16:creationId xmlns:a16="http://schemas.microsoft.com/office/drawing/2014/main" id="{1E2891A6-C9E4-414C-9FBD-EAB36A287B05}"/>
                    </a:ext>
                  </a:extLst>
                </p:cNvPr>
                <p:cNvSpPr>
                  <a:spLocks/>
                </p:cNvSpPr>
                <p:nvPr/>
              </p:nvSpPr>
              <p:spPr bwMode="auto">
                <a:xfrm>
                  <a:off x="9110662" y="2979738"/>
                  <a:ext cx="47625" cy="58737"/>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7" name="Freeform 41">
                  <a:extLst>
                    <a:ext uri="{FF2B5EF4-FFF2-40B4-BE49-F238E27FC236}">
                      <a16:creationId xmlns:a16="http://schemas.microsoft.com/office/drawing/2014/main" id="{5FC767D9-7555-4ADE-B08A-F49E1A35CA18}"/>
                    </a:ext>
                  </a:extLst>
                </p:cNvPr>
                <p:cNvSpPr>
                  <a:spLocks/>
                </p:cNvSpPr>
                <p:nvPr/>
              </p:nvSpPr>
              <p:spPr bwMode="auto">
                <a:xfrm>
                  <a:off x="9053512" y="3036888"/>
                  <a:ext cx="50800" cy="58737"/>
                </a:xfrm>
                <a:custGeom>
                  <a:avLst/>
                  <a:gdLst>
                    <a:gd name="T0" fmla="*/ 24 w 25"/>
                    <a:gd name="T1" fmla="*/ 1 h 29"/>
                    <a:gd name="T2" fmla="*/ 24 w 25"/>
                    <a:gd name="T3" fmla="*/ 22 h 29"/>
                    <a:gd name="T4" fmla="*/ 16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6"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8" name="Freeform 42">
                  <a:extLst>
                    <a:ext uri="{FF2B5EF4-FFF2-40B4-BE49-F238E27FC236}">
                      <a16:creationId xmlns:a16="http://schemas.microsoft.com/office/drawing/2014/main" id="{E69394FA-0B27-4020-93A7-8BEE13501179}"/>
                    </a:ext>
                  </a:extLst>
                </p:cNvPr>
                <p:cNvSpPr>
                  <a:spLocks/>
                </p:cNvSpPr>
                <p:nvPr/>
              </p:nvSpPr>
              <p:spPr bwMode="auto">
                <a:xfrm>
                  <a:off x="8997949" y="3095625"/>
                  <a:ext cx="49212" cy="60325"/>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9" name="Freeform 43">
                  <a:extLst>
                    <a:ext uri="{FF2B5EF4-FFF2-40B4-BE49-F238E27FC236}">
                      <a16:creationId xmlns:a16="http://schemas.microsoft.com/office/drawing/2014/main" id="{AC2175C8-906D-467E-B7AF-86B9700DD88E}"/>
                    </a:ext>
                  </a:extLst>
                </p:cNvPr>
                <p:cNvSpPr>
                  <a:spLocks noEditPoints="1"/>
                </p:cNvSpPr>
                <p:nvPr/>
              </p:nvSpPr>
              <p:spPr bwMode="auto">
                <a:xfrm>
                  <a:off x="7907337" y="1290638"/>
                  <a:ext cx="449262" cy="449262"/>
                </a:xfrm>
                <a:custGeom>
                  <a:avLst/>
                  <a:gdLst>
                    <a:gd name="T0" fmla="*/ 108 w 220"/>
                    <a:gd name="T1" fmla="*/ 1 h 220"/>
                    <a:gd name="T2" fmla="*/ 1 w 220"/>
                    <a:gd name="T3" fmla="*/ 112 h 220"/>
                    <a:gd name="T4" fmla="*/ 112 w 220"/>
                    <a:gd name="T5" fmla="*/ 219 h 220"/>
                    <a:gd name="T6" fmla="*/ 219 w 220"/>
                    <a:gd name="T7" fmla="*/ 108 h 220"/>
                    <a:gd name="T8" fmla="*/ 108 w 220"/>
                    <a:gd name="T9" fmla="*/ 1 h 220"/>
                    <a:gd name="T10" fmla="*/ 112 w 220"/>
                    <a:gd name="T11" fmla="*/ 191 h 220"/>
                    <a:gd name="T12" fmla="*/ 29 w 220"/>
                    <a:gd name="T13" fmla="*/ 111 h 220"/>
                    <a:gd name="T14" fmla="*/ 109 w 220"/>
                    <a:gd name="T15" fmla="*/ 29 h 220"/>
                    <a:gd name="T16" fmla="*/ 191 w 220"/>
                    <a:gd name="T17" fmla="*/ 108 h 220"/>
                    <a:gd name="T18" fmla="*/ 112 w 220"/>
                    <a:gd name="T19" fmla="*/ 19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0" h="220">
                      <a:moveTo>
                        <a:pt x="108" y="1"/>
                      </a:moveTo>
                      <a:cubicBezTo>
                        <a:pt x="48" y="2"/>
                        <a:pt x="0" y="52"/>
                        <a:pt x="1" y="112"/>
                      </a:cubicBezTo>
                      <a:cubicBezTo>
                        <a:pt x="2" y="172"/>
                        <a:pt x="52" y="220"/>
                        <a:pt x="112" y="219"/>
                      </a:cubicBezTo>
                      <a:cubicBezTo>
                        <a:pt x="172" y="218"/>
                        <a:pt x="220" y="168"/>
                        <a:pt x="219" y="108"/>
                      </a:cubicBezTo>
                      <a:cubicBezTo>
                        <a:pt x="218" y="48"/>
                        <a:pt x="168" y="0"/>
                        <a:pt x="108" y="1"/>
                      </a:cubicBezTo>
                      <a:close/>
                      <a:moveTo>
                        <a:pt x="112" y="191"/>
                      </a:moveTo>
                      <a:cubicBezTo>
                        <a:pt x="67" y="192"/>
                        <a:pt x="30" y="156"/>
                        <a:pt x="29" y="111"/>
                      </a:cubicBezTo>
                      <a:cubicBezTo>
                        <a:pt x="28" y="66"/>
                        <a:pt x="64" y="29"/>
                        <a:pt x="109" y="29"/>
                      </a:cubicBezTo>
                      <a:cubicBezTo>
                        <a:pt x="153" y="28"/>
                        <a:pt x="190" y="63"/>
                        <a:pt x="191" y="108"/>
                      </a:cubicBezTo>
                      <a:cubicBezTo>
                        <a:pt x="192" y="153"/>
                        <a:pt x="156" y="190"/>
                        <a:pt x="112" y="191"/>
                      </a:cubicBezTo>
                      <a:close/>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0" name="Freeform 50">
                  <a:extLst>
                    <a:ext uri="{FF2B5EF4-FFF2-40B4-BE49-F238E27FC236}">
                      <a16:creationId xmlns:a16="http://schemas.microsoft.com/office/drawing/2014/main" id="{75DF35FD-7D24-44CD-A22A-35A1DD9BC402}"/>
                    </a:ext>
                  </a:extLst>
                </p:cNvPr>
                <p:cNvSpPr>
                  <a:spLocks/>
                </p:cNvSpPr>
                <p:nvPr/>
              </p:nvSpPr>
              <p:spPr bwMode="auto">
                <a:xfrm>
                  <a:off x="8351837" y="1630363"/>
                  <a:ext cx="374650" cy="373062"/>
                </a:xfrm>
                <a:custGeom>
                  <a:avLst/>
                  <a:gdLst>
                    <a:gd name="T0" fmla="*/ 175 w 236"/>
                    <a:gd name="T1" fmla="*/ 73 h 235"/>
                    <a:gd name="T2" fmla="*/ 12 w 236"/>
                    <a:gd name="T3" fmla="*/ 235 h 235"/>
                    <a:gd name="T4" fmla="*/ 0 w 236"/>
                    <a:gd name="T5" fmla="*/ 223 h 235"/>
                    <a:gd name="T6" fmla="*/ 163 w 236"/>
                    <a:gd name="T7" fmla="*/ 61 h 235"/>
                    <a:gd name="T8" fmla="*/ 114 w 236"/>
                    <a:gd name="T9" fmla="*/ 11 h 235"/>
                    <a:gd name="T10" fmla="*/ 124 w 236"/>
                    <a:gd name="T11" fmla="*/ 0 h 235"/>
                    <a:gd name="T12" fmla="*/ 236 w 236"/>
                    <a:gd name="T13" fmla="*/ 111 h 235"/>
                    <a:gd name="T14" fmla="*/ 224 w 236"/>
                    <a:gd name="T15" fmla="*/ 123 h 235"/>
                    <a:gd name="T16" fmla="*/ 175 w 236"/>
                    <a:gd name="T17" fmla="*/ 7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 h="235">
                      <a:moveTo>
                        <a:pt x="175" y="73"/>
                      </a:moveTo>
                      <a:lnTo>
                        <a:pt x="12" y="235"/>
                      </a:lnTo>
                      <a:lnTo>
                        <a:pt x="0" y="223"/>
                      </a:lnTo>
                      <a:lnTo>
                        <a:pt x="163" y="61"/>
                      </a:lnTo>
                      <a:lnTo>
                        <a:pt x="114" y="11"/>
                      </a:lnTo>
                      <a:lnTo>
                        <a:pt x="124" y="0"/>
                      </a:lnTo>
                      <a:lnTo>
                        <a:pt x="236" y="111"/>
                      </a:lnTo>
                      <a:lnTo>
                        <a:pt x="224" y="123"/>
                      </a:lnTo>
                      <a:lnTo>
                        <a:pt x="175"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1" name="Freeform 51">
                  <a:extLst>
                    <a:ext uri="{FF2B5EF4-FFF2-40B4-BE49-F238E27FC236}">
                      <a16:creationId xmlns:a16="http://schemas.microsoft.com/office/drawing/2014/main" id="{8AF74771-722E-41B9-9A63-D57073D2D196}"/>
                    </a:ext>
                  </a:extLst>
                </p:cNvPr>
                <p:cNvSpPr>
                  <a:spLocks noEditPoints="1"/>
                </p:cNvSpPr>
                <p:nvPr/>
              </p:nvSpPr>
              <p:spPr bwMode="auto">
                <a:xfrm>
                  <a:off x="8429625" y="1889125"/>
                  <a:ext cx="396875" cy="395287"/>
                </a:xfrm>
                <a:custGeom>
                  <a:avLst/>
                  <a:gdLst>
                    <a:gd name="T0" fmla="*/ 99 w 194"/>
                    <a:gd name="T1" fmla="*/ 184 h 194"/>
                    <a:gd name="T2" fmla="*/ 125 w 194"/>
                    <a:gd name="T3" fmla="*/ 126 h 194"/>
                    <a:gd name="T4" fmla="*/ 67 w 194"/>
                    <a:gd name="T5" fmla="*/ 68 h 194"/>
                    <a:gd name="T6" fmla="*/ 10 w 194"/>
                    <a:gd name="T7" fmla="*/ 94 h 194"/>
                    <a:gd name="T8" fmla="*/ 0 w 194"/>
                    <a:gd name="T9" fmla="*/ 84 h 194"/>
                    <a:gd name="T10" fmla="*/ 185 w 194"/>
                    <a:gd name="T11" fmla="*/ 0 h 194"/>
                    <a:gd name="T12" fmla="*/ 194 w 194"/>
                    <a:gd name="T13" fmla="*/ 9 h 194"/>
                    <a:gd name="T14" fmla="*/ 109 w 194"/>
                    <a:gd name="T15" fmla="*/ 194 h 194"/>
                    <a:gd name="T16" fmla="*/ 99 w 194"/>
                    <a:gd name="T17" fmla="*/ 184 h 194"/>
                    <a:gd name="T18" fmla="*/ 170 w 194"/>
                    <a:gd name="T19" fmla="*/ 30 h 194"/>
                    <a:gd name="T20" fmla="*/ 174 w 194"/>
                    <a:gd name="T21" fmla="*/ 22 h 194"/>
                    <a:gd name="T22" fmla="*/ 177 w 194"/>
                    <a:gd name="T23" fmla="*/ 16 h 194"/>
                    <a:gd name="T24" fmla="*/ 177 w 194"/>
                    <a:gd name="T25" fmla="*/ 16 h 194"/>
                    <a:gd name="T26" fmla="*/ 164 w 194"/>
                    <a:gd name="T27" fmla="*/ 23 h 194"/>
                    <a:gd name="T28" fmla="*/ 79 w 194"/>
                    <a:gd name="T29" fmla="*/ 63 h 194"/>
                    <a:gd name="T30" fmla="*/ 131 w 194"/>
                    <a:gd name="T31" fmla="*/ 115 h 194"/>
                    <a:gd name="T32" fmla="*/ 170 w 194"/>
                    <a:gd name="T33" fmla="*/ 3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194">
                      <a:moveTo>
                        <a:pt x="99" y="184"/>
                      </a:moveTo>
                      <a:cubicBezTo>
                        <a:pt x="125" y="126"/>
                        <a:pt x="125" y="126"/>
                        <a:pt x="125" y="126"/>
                      </a:cubicBezTo>
                      <a:cubicBezTo>
                        <a:pt x="67" y="68"/>
                        <a:pt x="67" y="68"/>
                        <a:pt x="67" y="68"/>
                      </a:cubicBezTo>
                      <a:cubicBezTo>
                        <a:pt x="10" y="94"/>
                        <a:pt x="10" y="94"/>
                        <a:pt x="10" y="94"/>
                      </a:cubicBezTo>
                      <a:cubicBezTo>
                        <a:pt x="0" y="84"/>
                        <a:pt x="0" y="84"/>
                        <a:pt x="0" y="84"/>
                      </a:cubicBezTo>
                      <a:cubicBezTo>
                        <a:pt x="185" y="0"/>
                        <a:pt x="185" y="0"/>
                        <a:pt x="185" y="0"/>
                      </a:cubicBezTo>
                      <a:cubicBezTo>
                        <a:pt x="194" y="9"/>
                        <a:pt x="194" y="9"/>
                        <a:pt x="194" y="9"/>
                      </a:cubicBezTo>
                      <a:cubicBezTo>
                        <a:pt x="109" y="194"/>
                        <a:pt x="109" y="194"/>
                        <a:pt x="109" y="194"/>
                      </a:cubicBezTo>
                      <a:lnTo>
                        <a:pt x="99" y="184"/>
                      </a:lnTo>
                      <a:close/>
                      <a:moveTo>
                        <a:pt x="170" y="30"/>
                      </a:moveTo>
                      <a:cubicBezTo>
                        <a:pt x="171" y="27"/>
                        <a:pt x="173" y="25"/>
                        <a:pt x="174" y="22"/>
                      </a:cubicBezTo>
                      <a:cubicBezTo>
                        <a:pt x="175" y="20"/>
                        <a:pt x="176" y="18"/>
                        <a:pt x="177" y="16"/>
                      </a:cubicBezTo>
                      <a:cubicBezTo>
                        <a:pt x="177" y="16"/>
                        <a:pt x="177" y="16"/>
                        <a:pt x="177" y="16"/>
                      </a:cubicBezTo>
                      <a:cubicBezTo>
                        <a:pt x="172" y="19"/>
                        <a:pt x="167" y="21"/>
                        <a:pt x="164" y="23"/>
                      </a:cubicBezTo>
                      <a:cubicBezTo>
                        <a:pt x="79" y="63"/>
                        <a:pt x="79" y="63"/>
                        <a:pt x="79" y="63"/>
                      </a:cubicBezTo>
                      <a:cubicBezTo>
                        <a:pt x="131" y="115"/>
                        <a:pt x="131" y="115"/>
                        <a:pt x="131" y="115"/>
                      </a:cubicBezTo>
                      <a:lnTo>
                        <a:pt x="170"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2" name="Freeform 52">
                  <a:extLst>
                    <a:ext uri="{FF2B5EF4-FFF2-40B4-BE49-F238E27FC236}">
                      <a16:creationId xmlns:a16="http://schemas.microsoft.com/office/drawing/2014/main" id="{6093D0D4-E881-4126-8B8B-B679A8C143EA}"/>
                    </a:ext>
                  </a:extLst>
                </p:cNvPr>
                <p:cNvSpPr>
                  <a:spLocks/>
                </p:cNvSpPr>
                <p:nvPr/>
              </p:nvSpPr>
              <p:spPr bwMode="auto">
                <a:xfrm>
                  <a:off x="8742362" y="2105025"/>
                  <a:ext cx="406400" cy="396875"/>
                </a:xfrm>
                <a:custGeom>
                  <a:avLst/>
                  <a:gdLst>
                    <a:gd name="T0" fmla="*/ 82 w 199"/>
                    <a:gd name="T1" fmla="*/ 195 h 195"/>
                    <a:gd name="T2" fmla="*/ 27 w 199"/>
                    <a:gd name="T3" fmla="*/ 164 h 195"/>
                    <a:gd name="T4" fmla="*/ 1 w 199"/>
                    <a:gd name="T5" fmla="*/ 101 h 195"/>
                    <a:gd name="T6" fmla="*/ 34 w 199"/>
                    <a:gd name="T7" fmla="*/ 35 h 195"/>
                    <a:gd name="T8" fmla="*/ 103 w 199"/>
                    <a:gd name="T9" fmla="*/ 2 h 195"/>
                    <a:gd name="T10" fmla="*/ 172 w 199"/>
                    <a:gd name="T11" fmla="*/ 30 h 195"/>
                    <a:gd name="T12" fmla="*/ 199 w 199"/>
                    <a:gd name="T13" fmla="*/ 72 h 195"/>
                    <a:gd name="T14" fmla="*/ 189 w 199"/>
                    <a:gd name="T15" fmla="*/ 82 h 195"/>
                    <a:gd name="T16" fmla="*/ 162 w 199"/>
                    <a:gd name="T17" fmla="*/ 38 h 195"/>
                    <a:gd name="T18" fmla="*/ 104 w 199"/>
                    <a:gd name="T19" fmla="*/ 14 h 195"/>
                    <a:gd name="T20" fmla="*/ 44 w 199"/>
                    <a:gd name="T21" fmla="*/ 43 h 195"/>
                    <a:gd name="T22" fmla="*/ 14 w 199"/>
                    <a:gd name="T23" fmla="*/ 102 h 195"/>
                    <a:gd name="T24" fmla="*/ 37 w 199"/>
                    <a:gd name="T25" fmla="*/ 157 h 195"/>
                    <a:gd name="T26" fmla="*/ 77 w 199"/>
                    <a:gd name="T27" fmla="*/ 181 h 195"/>
                    <a:gd name="T28" fmla="*/ 122 w 199"/>
                    <a:gd name="T29" fmla="*/ 137 h 195"/>
                    <a:gd name="T30" fmla="*/ 90 w 199"/>
                    <a:gd name="T31" fmla="*/ 105 h 195"/>
                    <a:gd name="T32" fmla="*/ 98 w 199"/>
                    <a:gd name="T33" fmla="*/ 96 h 195"/>
                    <a:gd name="T34" fmla="*/ 139 w 199"/>
                    <a:gd name="T35" fmla="*/ 137 h 195"/>
                    <a:gd name="T36" fmla="*/ 82 w 199"/>
                    <a:gd name="T3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9" h="195">
                      <a:moveTo>
                        <a:pt x="82" y="195"/>
                      </a:moveTo>
                      <a:cubicBezTo>
                        <a:pt x="60" y="189"/>
                        <a:pt x="42" y="178"/>
                        <a:pt x="27" y="164"/>
                      </a:cubicBezTo>
                      <a:cubicBezTo>
                        <a:pt x="9" y="145"/>
                        <a:pt x="0" y="124"/>
                        <a:pt x="1" y="101"/>
                      </a:cubicBezTo>
                      <a:cubicBezTo>
                        <a:pt x="3" y="77"/>
                        <a:pt x="13" y="55"/>
                        <a:pt x="34" y="35"/>
                      </a:cubicBezTo>
                      <a:cubicBezTo>
                        <a:pt x="54" y="14"/>
                        <a:pt x="77" y="3"/>
                        <a:pt x="103" y="2"/>
                      </a:cubicBezTo>
                      <a:cubicBezTo>
                        <a:pt x="129" y="0"/>
                        <a:pt x="152" y="10"/>
                        <a:pt x="172" y="30"/>
                      </a:cubicBezTo>
                      <a:cubicBezTo>
                        <a:pt x="184" y="42"/>
                        <a:pt x="193" y="56"/>
                        <a:pt x="199" y="72"/>
                      </a:cubicBezTo>
                      <a:cubicBezTo>
                        <a:pt x="189" y="82"/>
                        <a:pt x="189" y="82"/>
                        <a:pt x="189" y="82"/>
                      </a:cubicBezTo>
                      <a:cubicBezTo>
                        <a:pt x="183" y="64"/>
                        <a:pt x="174" y="49"/>
                        <a:pt x="162" y="38"/>
                      </a:cubicBezTo>
                      <a:cubicBezTo>
                        <a:pt x="146" y="21"/>
                        <a:pt x="126" y="13"/>
                        <a:pt x="104" y="14"/>
                      </a:cubicBezTo>
                      <a:cubicBezTo>
                        <a:pt x="82" y="15"/>
                        <a:pt x="62" y="25"/>
                        <a:pt x="44" y="43"/>
                      </a:cubicBezTo>
                      <a:cubicBezTo>
                        <a:pt x="26" y="62"/>
                        <a:pt x="16" y="81"/>
                        <a:pt x="14" y="102"/>
                      </a:cubicBezTo>
                      <a:cubicBezTo>
                        <a:pt x="13" y="122"/>
                        <a:pt x="21" y="140"/>
                        <a:pt x="37" y="157"/>
                      </a:cubicBezTo>
                      <a:cubicBezTo>
                        <a:pt x="50" y="169"/>
                        <a:pt x="63" y="177"/>
                        <a:pt x="77" y="181"/>
                      </a:cubicBezTo>
                      <a:cubicBezTo>
                        <a:pt x="122" y="137"/>
                        <a:pt x="122" y="137"/>
                        <a:pt x="122" y="137"/>
                      </a:cubicBezTo>
                      <a:cubicBezTo>
                        <a:pt x="90" y="105"/>
                        <a:pt x="90" y="105"/>
                        <a:pt x="90" y="105"/>
                      </a:cubicBezTo>
                      <a:cubicBezTo>
                        <a:pt x="98" y="96"/>
                        <a:pt x="98" y="96"/>
                        <a:pt x="98" y="96"/>
                      </a:cubicBezTo>
                      <a:cubicBezTo>
                        <a:pt x="139" y="137"/>
                        <a:pt x="139" y="137"/>
                        <a:pt x="139" y="137"/>
                      </a:cubicBezTo>
                      <a:lnTo>
                        <a:pt x="82"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3" name="Freeform 53">
                  <a:extLst>
                    <a:ext uri="{FF2B5EF4-FFF2-40B4-BE49-F238E27FC236}">
                      <a16:creationId xmlns:a16="http://schemas.microsoft.com/office/drawing/2014/main" id="{28506E58-DE53-4C84-980E-352CDA1E0E01}"/>
                    </a:ext>
                  </a:extLst>
                </p:cNvPr>
                <p:cNvSpPr>
                  <a:spLocks/>
                </p:cNvSpPr>
                <p:nvPr/>
              </p:nvSpPr>
              <p:spPr bwMode="auto">
                <a:xfrm>
                  <a:off x="8955087" y="2339975"/>
                  <a:ext cx="393700" cy="346075"/>
                </a:xfrm>
                <a:custGeom>
                  <a:avLst/>
                  <a:gdLst>
                    <a:gd name="T0" fmla="*/ 0 w 193"/>
                    <a:gd name="T1" fmla="*/ 111 h 170"/>
                    <a:gd name="T2" fmla="*/ 11 w 193"/>
                    <a:gd name="T3" fmla="*/ 101 h 170"/>
                    <a:gd name="T4" fmla="*/ 31 w 193"/>
                    <a:gd name="T5" fmla="*/ 139 h 170"/>
                    <a:gd name="T6" fmla="*/ 61 w 193"/>
                    <a:gd name="T7" fmla="*/ 157 h 170"/>
                    <a:gd name="T8" fmla="*/ 88 w 193"/>
                    <a:gd name="T9" fmla="*/ 147 h 170"/>
                    <a:gd name="T10" fmla="*/ 99 w 193"/>
                    <a:gd name="T11" fmla="*/ 125 h 170"/>
                    <a:gd name="T12" fmla="*/ 92 w 193"/>
                    <a:gd name="T13" fmla="*/ 84 h 170"/>
                    <a:gd name="T14" fmla="*/ 86 w 193"/>
                    <a:gd name="T15" fmla="*/ 38 h 170"/>
                    <a:gd name="T16" fmla="*/ 99 w 193"/>
                    <a:gd name="T17" fmla="*/ 14 h 170"/>
                    <a:gd name="T18" fmla="*/ 134 w 193"/>
                    <a:gd name="T19" fmla="*/ 1 h 170"/>
                    <a:gd name="T20" fmla="*/ 174 w 193"/>
                    <a:gd name="T21" fmla="*/ 21 h 170"/>
                    <a:gd name="T22" fmla="*/ 193 w 193"/>
                    <a:gd name="T23" fmla="*/ 49 h 170"/>
                    <a:gd name="T24" fmla="*/ 184 w 193"/>
                    <a:gd name="T25" fmla="*/ 59 h 170"/>
                    <a:gd name="T26" fmla="*/ 164 w 193"/>
                    <a:gd name="T27" fmla="*/ 28 h 170"/>
                    <a:gd name="T28" fmla="*/ 135 w 193"/>
                    <a:gd name="T29" fmla="*/ 13 h 170"/>
                    <a:gd name="T30" fmla="*/ 110 w 193"/>
                    <a:gd name="T31" fmla="*/ 23 h 170"/>
                    <a:gd name="T32" fmla="*/ 99 w 193"/>
                    <a:gd name="T33" fmla="*/ 45 h 170"/>
                    <a:gd name="T34" fmla="*/ 106 w 193"/>
                    <a:gd name="T35" fmla="*/ 85 h 170"/>
                    <a:gd name="T36" fmla="*/ 112 w 193"/>
                    <a:gd name="T37" fmla="*/ 129 h 170"/>
                    <a:gd name="T38" fmla="*/ 99 w 193"/>
                    <a:gd name="T39" fmla="*/ 155 h 170"/>
                    <a:gd name="T40" fmla="*/ 63 w 193"/>
                    <a:gd name="T41" fmla="*/ 169 h 170"/>
                    <a:gd name="T42" fmla="*/ 23 w 193"/>
                    <a:gd name="T43" fmla="*/ 148 h 170"/>
                    <a:gd name="T44" fmla="*/ 9 w 193"/>
                    <a:gd name="T45" fmla="*/ 130 h 170"/>
                    <a:gd name="T46" fmla="*/ 0 w 193"/>
                    <a:gd name="T47" fmla="*/ 11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3" h="170">
                      <a:moveTo>
                        <a:pt x="0" y="111"/>
                      </a:moveTo>
                      <a:cubicBezTo>
                        <a:pt x="11" y="101"/>
                        <a:pt x="11" y="101"/>
                        <a:pt x="11" y="101"/>
                      </a:cubicBezTo>
                      <a:cubicBezTo>
                        <a:pt x="14" y="117"/>
                        <a:pt x="21" y="129"/>
                        <a:pt x="31" y="139"/>
                      </a:cubicBezTo>
                      <a:cubicBezTo>
                        <a:pt x="41" y="150"/>
                        <a:pt x="51" y="156"/>
                        <a:pt x="61" y="157"/>
                      </a:cubicBezTo>
                      <a:cubicBezTo>
                        <a:pt x="71" y="158"/>
                        <a:pt x="80" y="154"/>
                        <a:pt x="88" y="147"/>
                      </a:cubicBezTo>
                      <a:cubicBezTo>
                        <a:pt x="94" y="140"/>
                        <a:pt x="98" y="132"/>
                        <a:pt x="99" y="125"/>
                      </a:cubicBezTo>
                      <a:cubicBezTo>
                        <a:pt x="99" y="117"/>
                        <a:pt x="97" y="103"/>
                        <a:pt x="92" y="84"/>
                      </a:cubicBezTo>
                      <a:cubicBezTo>
                        <a:pt x="86" y="63"/>
                        <a:pt x="84" y="47"/>
                        <a:pt x="86" y="38"/>
                      </a:cubicBezTo>
                      <a:cubicBezTo>
                        <a:pt x="87" y="29"/>
                        <a:pt x="92" y="21"/>
                        <a:pt x="99" y="14"/>
                      </a:cubicBezTo>
                      <a:cubicBezTo>
                        <a:pt x="108" y="5"/>
                        <a:pt x="120" y="0"/>
                        <a:pt x="134" y="1"/>
                      </a:cubicBezTo>
                      <a:cubicBezTo>
                        <a:pt x="148" y="2"/>
                        <a:pt x="161" y="9"/>
                        <a:pt x="174" y="21"/>
                      </a:cubicBezTo>
                      <a:cubicBezTo>
                        <a:pt x="182" y="29"/>
                        <a:pt x="188" y="38"/>
                        <a:pt x="193" y="49"/>
                      </a:cubicBezTo>
                      <a:cubicBezTo>
                        <a:pt x="184" y="59"/>
                        <a:pt x="184" y="59"/>
                        <a:pt x="184" y="59"/>
                      </a:cubicBezTo>
                      <a:cubicBezTo>
                        <a:pt x="179" y="47"/>
                        <a:pt x="173" y="37"/>
                        <a:pt x="164" y="28"/>
                      </a:cubicBezTo>
                      <a:cubicBezTo>
                        <a:pt x="155" y="19"/>
                        <a:pt x="145" y="14"/>
                        <a:pt x="135" y="13"/>
                      </a:cubicBezTo>
                      <a:cubicBezTo>
                        <a:pt x="125" y="13"/>
                        <a:pt x="117" y="16"/>
                        <a:pt x="110" y="23"/>
                      </a:cubicBezTo>
                      <a:cubicBezTo>
                        <a:pt x="103" y="30"/>
                        <a:pt x="99" y="37"/>
                        <a:pt x="99" y="45"/>
                      </a:cubicBezTo>
                      <a:cubicBezTo>
                        <a:pt x="98" y="53"/>
                        <a:pt x="100" y="66"/>
                        <a:pt x="106" y="85"/>
                      </a:cubicBezTo>
                      <a:cubicBezTo>
                        <a:pt x="111" y="105"/>
                        <a:pt x="113" y="120"/>
                        <a:pt x="112" y="129"/>
                      </a:cubicBezTo>
                      <a:cubicBezTo>
                        <a:pt x="110" y="139"/>
                        <a:pt x="106" y="147"/>
                        <a:pt x="99" y="155"/>
                      </a:cubicBezTo>
                      <a:cubicBezTo>
                        <a:pt x="88" y="165"/>
                        <a:pt x="76" y="170"/>
                        <a:pt x="63" y="169"/>
                      </a:cubicBezTo>
                      <a:cubicBezTo>
                        <a:pt x="49" y="168"/>
                        <a:pt x="36" y="161"/>
                        <a:pt x="23" y="148"/>
                      </a:cubicBezTo>
                      <a:cubicBezTo>
                        <a:pt x="18" y="144"/>
                        <a:pt x="13" y="138"/>
                        <a:pt x="9" y="130"/>
                      </a:cubicBezTo>
                      <a:cubicBezTo>
                        <a:pt x="4" y="123"/>
                        <a:pt x="1" y="116"/>
                        <a:pt x="0"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64" name="Freeform 32">
                  <a:extLst>
                    <a:ext uri="{FF2B5EF4-FFF2-40B4-BE49-F238E27FC236}">
                      <a16:creationId xmlns:a16="http://schemas.microsoft.com/office/drawing/2014/main" id="{D8EC597D-81D0-4A66-B4DF-3421CCBE9F6C}"/>
                    </a:ext>
                  </a:extLst>
                </p:cNvPr>
                <p:cNvSpPr>
                  <a:spLocks/>
                </p:cNvSpPr>
                <p:nvPr/>
              </p:nvSpPr>
              <p:spPr bwMode="auto">
                <a:xfrm>
                  <a:off x="9612449" y="2462704"/>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5" name="Freeform 32">
                  <a:extLst>
                    <a:ext uri="{FF2B5EF4-FFF2-40B4-BE49-F238E27FC236}">
                      <a16:creationId xmlns:a16="http://schemas.microsoft.com/office/drawing/2014/main" id="{F06A88D8-7755-4F98-8CB7-604839C02A72}"/>
                    </a:ext>
                  </a:extLst>
                </p:cNvPr>
                <p:cNvSpPr>
                  <a:spLocks/>
                </p:cNvSpPr>
                <p:nvPr/>
              </p:nvSpPr>
              <p:spPr bwMode="auto">
                <a:xfrm>
                  <a:off x="9661637" y="2411907"/>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6" name="Freeform 32">
                  <a:extLst>
                    <a:ext uri="{FF2B5EF4-FFF2-40B4-BE49-F238E27FC236}">
                      <a16:creationId xmlns:a16="http://schemas.microsoft.com/office/drawing/2014/main" id="{A909E0FB-245F-4471-BFBA-096D9F4D7C99}"/>
                    </a:ext>
                  </a:extLst>
                </p:cNvPr>
                <p:cNvSpPr>
                  <a:spLocks/>
                </p:cNvSpPr>
                <p:nvPr/>
              </p:nvSpPr>
              <p:spPr bwMode="auto">
                <a:xfrm>
                  <a:off x="9707675" y="2360508"/>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grpSp>
          <p:pic>
            <p:nvPicPr>
              <p:cNvPr id="18" name="Picture 17">
                <a:extLst>
                  <a:ext uri="{FF2B5EF4-FFF2-40B4-BE49-F238E27FC236}">
                    <a16:creationId xmlns:a16="http://schemas.microsoft.com/office/drawing/2014/main" id="{7C0B5572-BE63-4086-A4CB-1BE6917608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5887" y="3879050"/>
                <a:ext cx="1044116" cy="1044116"/>
              </a:xfrm>
              <a:prstGeom prst="rect">
                <a:avLst/>
              </a:prstGeom>
            </p:spPr>
          </p:pic>
          <p:pic>
            <p:nvPicPr>
              <p:cNvPr id="19" name="Picture 18">
                <a:extLst>
                  <a:ext uri="{FF2B5EF4-FFF2-40B4-BE49-F238E27FC236}">
                    <a16:creationId xmlns:a16="http://schemas.microsoft.com/office/drawing/2014/main" id="{BFEAA2E9-5C4B-4D35-AD9E-D6D811F366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22591" y="3782494"/>
                <a:ext cx="1237228" cy="1237228"/>
              </a:xfrm>
              <a:prstGeom prst="rect">
                <a:avLst/>
              </a:prstGeom>
            </p:spPr>
          </p:pic>
          <p:grpSp>
            <p:nvGrpSpPr>
              <p:cNvPr id="20" name="Group 19">
                <a:extLst>
                  <a:ext uri="{FF2B5EF4-FFF2-40B4-BE49-F238E27FC236}">
                    <a16:creationId xmlns:a16="http://schemas.microsoft.com/office/drawing/2014/main" id="{D0920D28-8152-460D-824D-884074BF9C09}"/>
                  </a:ext>
                </a:extLst>
              </p:cNvPr>
              <p:cNvGrpSpPr/>
              <p:nvPr/>
            </p:nvGrpSpPr>
            <p:grpSpPr>
              <a:xfrm>
                <a:off x="6121227" y="1189038"/>
                <a:ext cx="4697412" cy="3830684"/>
                <a:chOff x="6057900" y="1189038"/>
                <a:chExt cx="4697412" cy="3830684"/>
              </a:xfrm>
            </p:grpSpPr>
            <p:sp>
              <p:nvSpPr>
                <p:cNvPr id="21" name="Freeform 25">
                  <a:extLst>
                    <a:ext uri="{FF2B5EF4-FFF2-40B4-BE49-F238E27FC236}">
                      <a16:creationId xmlns:a16="http://schemas.microsoft.com/office/drawing/2014/main" id="{792C681A-E5A7-405B-9ECD-A970BACD3BCA}"/>
                    </a:ext>
                  </a:extLst>
                </p:cNvPr>
                <p:cNvSpPr>
                  <a:spLocks/>
                </p:cNvSpPr>
                <p:nvPr/>
              </p:nvSpPr>
              <p:spPr bwMode="auto">
                <a:xfrm>
                  <a:off x="6670188" y="2979738"/>
                  <a:ext cx="3548515" cy="577850"/>
                </a:xfrm>
                <a:custGeom>
                  <a:avLst/>
                  <a:gdLst>
                    <a:gd name="T0" fmla="*/ 1315 w 1315"/>
                    <a:gd name="T1" fmla="*/ 283 h 283"/>
                    <a:gd name="T2" fmla="*/ 1315 w 1315"/>
                    <a:gd name="T3" fmla="*/ 46 h 283"/>
                    <a:gd name="T4" fmla="*/ 1268 w 1315"/>
                    <a:gd name="T5" fmla="*/ 0 h 283"/>
                    <a:gd name="T6" fmla="*/ 46 w 1315"/>
                    <a:gd name="T7" fmla="*/ 0 h 283"/>
                    <a:gd name="T8" fmla="*/ 0 w 1315"/>
                    <a:gd name="T9" fmla="*/ 46 h 283"/>
                    <a:gd name="T10" fmla="*/ 0 w 1315"/>
                    <a:gd name="T11" fmla="*/ 283 h 283"/>
                  </a:gdLst>
                  <a:ahLst/>
                  <a:cxnLst>
                    <a:cxn ang="0">
                      <a:pos x="T0" y="T1"/>
                    </a:cxn>
                    <a:cxn ang="0">
                      <a:pos x="T2" y="T3"/>
                    </a:cxn>
                    <a:cxn ang="0">
                      <a:pos x="T4" y="T5"/>
                    </a:cxn>
                    <a:cxn ang="0">
                      <a:pos x="T6" y="T7"/>
                    </a:cxn>
                    <a:cxn ang="0">
                      <a:pos x="T8" y="T9"/>
                    </a:cxn>
                    <a:cxn ang="0">
                      <a:pos x="T10" y="T11"/>
                    </a:cxn>
                  </a:cxnLst>
                  <a:rect l="0" t="0" r="r" b="b"/>
                  <a:pathLst>
                    <a:path w="1315" h="283">
                      <a:moveTo>
                        <a:pt x="1315" y="283"/>
                      </a:moveTo>
                      <a:cubicBezTo>
                        <a:pt x="1315" y="46"/>
                        <a:pt x="1315" y="46"/>
                        <a:pt x="1315" y="46"/>
                      </a:cubicBezTo>
                      <a:cubicBezTo>
                        <a:pt x="1315" y="21"/>
                        <a:pt x="1294" y="0"/>
                        <a:pt x="1268" y="0"/>
                      </a:cubicBezTo>
                      <a:cubicBezTo>
                        <a:pt x="46" y="0"/>
                        <a:pt x="46" y="0"/>
                        <a:pt x="46" y="0"/>
                      </a:cubicBezTo>
                      <a:cubicBezTo>
                        <a:pt x="21" y="0"/>
                        <a:pt x="0" y="21"/>
                        <a:pt x="0" y="46"/>
                      </a:cubicBezTo>
                      <a:cubicBezTo>
                        <a:pt x="0" y="283"/>
                        <a:pt x="0" y="283"/>
                        <a:pt x="0" y="283"/>
                      </a:cubicBezTo>
                    </a:path>
                  </a:pathLst>
                </a:custGeom>
                <a:noFill/>
                <a:ln w="3175" cap="flat">
                  <a:solidFill>
                    <a:schemeClr val="bg1">
                      <a:lumMod val="7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2" name="Oval 44">
                  <a:extLst>
                    <a:ext uri="{FF2B5EF4-FFF2-40B4-BE49-F238E27FC236}">
                      <a16:creationId xmlns:a16="http://schemas.microsoft.com/office/drawing/2014/main" id="{100A4611-0E91-4C91-8A73-6D06CD8360E3}"/>
                    </a:ext>
                  </a:extLst>
                </p:cNvPr>
                <p:cNvSpPr>
                  <a:spLocks noChangeArrowheads="1"/>
                </p:cNvSpPr>
                <p:nvPr/>
              </p:nvSpPr>
              <p:spPr bwMode="auto">
                <a:xfrm>
                  <a:off x="8081701" y="4035425"/>
                  <a:ext cx="646419" cy="598809"/>
                </a:xfrm>
                <a:prstGeom prst="ellipse">
                  <a:avLst/>
                </a:prstGeom>
                <a:solidFill>
                  <a:schemeClr val="bg1">
                    <a:lumMod val="95000"/>
                  </a:schemeClr>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Segoe UI"/>
                      <a:ea typeface="+mn-ea"/>
                      <a:cs typeface="+mn-cs"/>
                    </a:rPr>
                    <a:t>OR</a:t>
                  </a:r>
                </a:p>
              </p:txBody>
            </p:sp>
            <p:grpSp>
              <p:nvGrpSpPr>
                <p:cNvPr id="23" name="Group 22">
                  <a:extLst>
                    <a:ext uri="{FF2B5EF4-FFF2-40B4-BE49-F238E27FC236}">
                      <a16:creationId xmlns:a16="http://schemas.microsoft.com/office/drawing/2014/main" id="{709C7BFF-75AA-493F-ABB5-232DCEDAEAF0}"/>
                    </a:ext>
                  </a:extLst>
                </p:cNvPr>
                <p:cNvGrpSpPr/>
                <p:nvPr/>
              </p:nvGrpSpPr>
              <p:grpSpPr>
                <a:xfrm>
                  <a:off x="7449877" y="1189038"/>
                  <a:ext cx="2008926" cy="1966912"/>
                  <a:chOff x="7797800" y="1189038"/>
                  <a:chExt cx="2008926" cy="1966912"/>
                </a:xfrm>
              </p:grpSpPr>
              <p:sp>
                <p:nvSpPr>
                  <p:cNvPr id="26" name="Freeform 28">
                    <a:extLst>
                      <a:ext uri="{FF2B5EF4-FFF2-40B4-BE49-F238E27FC236}">
                        <a16:creationId xmlns:a16="http://schemas.microsoft.com/office/drawing/2014/main" id="{449E695B-A334-4A97-9DF9-2D0F58AD8443}"/>
                      </a:ext>
                    </a:extLst>
                  </p:cNvPr>
                  <p:cNvSpPr>
                    <a:spLocks noEditPoints="1"/>
                  </p:cNvSpPr>
                  <p:nvPr/>
                </p:nvSpPr>
                <p:spPr bwMode="auto">
                  <a:xfrm>
                    <a:off x="7797800" y="1189038"/>
                    <a:ext cx="2005012" cy="1963737"/>
                  </a:xfrm>
                  <a:custGeom>
                    <a:avLst/>
                    <a:gdLst>
                      <a:gd name="T0" fmla="*/ 0 w 982"/>
                      <a:gd name="T1" fmla="*/ 89 h 963"/>
                      <a:gd name="T2" fmla="*/ 6 w 982"/>
                      <a:gd name="T3" fmla="*/ 396 h 963"/>
                      <a:gd name="T4" fmla="*/ 590 w 982"/>
                      <a:gd name="T5" fmla="*/ 963 h 963"/>
                      <a:gd name="T6" fmla="*/ 982 w 982"/>
                      <a:gd name="T7" fmla="*/ 557 h 963"/>
                      <a:gd name="T8" fmla="*/ 404 w 982"/>
                      <a:gd name="T9" fmla="*/ 0 h 963"/>
                      <a:gd name="T10" fmla="*/ 80 w 982"/>
                      <a:gd name="T11" fmla="*/ 5 h 963"/>
                      <a:gd name="T12" fmla="*/ 0 w 982"/>
                      <a:gd name="T13" fmla="*/ 89 h 963"/>
                      <a:gd name="T14" fmla="*/ 221 w 982"/>
                      <a:gd name="T15" fmla="*/ 100 h 963"/>
                      <a:gd name="T16" fmla="*/ 223 w 982"/>
                      <a:gd name="T17" fmla="*/ 217 h 963"/>
                      <a:gd name="T18" fmla="*/ 106 w 982"/>
                      <a:gd name="T19" fmla="*/ 219 h 963"/>
                      <a:gd name="T20" fmla="*/ 104 w 982"/>
                      <a:gd name="T21" fmla="*/ 103 h 963"/>
                      <a:gd name="T22" fmla="*/ 221 w 982"/>
                      <a:gd name="T23" fmla="*/ 10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2" h="963">
                        <a:moveTo>
                          <a:pt x="0" y="89"/>
                        </a:moveTo>
                        <a:cubicBezTo>
                          <a:pt x="6" y="396"/>
                          <a:pt x="6" y="396"/>
                          <a:pt x="6" y="396"/>
                        </a:cubicBezTo>
                        <a:cubicBezTo>
                          <a:pt x="590" y="963"/>
                          <a:pt x="590" y="963"/>
                          <a:pt x="590" y="963"/>
                        </a:cubicBezTo>
                        <a:cubicBezTo>
                          <a:pt x="982" y="557"/>
                          <a:pt x="982" y="557"/>
                          <a:pt x="982" y="557"/>
                        </a:cubicBezTo>
                        <a:cubicBezTo>
                          <a:pt x="404" y="0"/>
                          <a:pt x="404" y="0"/>
                          <a:pt x="404" y="0"/>
                        </a:cubicBezTo>
                        <a:cubicBezTo>
                          <a:pt x="80" y="5"/>
                          <a:pt x="80" y="5"/>
                          <a:pt x="80" y="5"/>
                        </a:cubicBezTo>
                        <a:lnTo>
                          <a:pt x="0" y="89"/>
                        </a:lnTo>
                        <a:close/>
                        <a:moveTo>
                          <a:pt x="221" y="100"/>
                        </a:moveTo>
                        <a:cubicBezTo>
                          <a:pt x="254" y="132"/>
                          <a:pt x="255" y="184"/>
                          <a:pt x="223" y="217"/>
                        </a:cubicBezTo>
                        <a:cubicBezTo>
                          <a:pt x="191" y="250"/>
                          <a:pt x="139" y="251"/>
                          <a:pt x="106" y="219"/>
                        </a:cubicBezTo>
                        <a:cubicBezTo>
                          <a:pt x="74" y="187"/>
                          <a:pt x="73" y="135"/>
                          <a:pt x="104" y="103"/>
                        </a:cubicBezTo>
                        <a:cubicBezTo>
                          <a:pt x="136" y="70"/>
                          <a:pt x="188" y="69"/>
                          <a:pt x="221" y="100"/>
                        </a:cubicBezTo>
                        <a:close/>
                      </a:path>
                    </a:pathLst>
                  </a:custGeom>
                  <a:solidFill>
                    <a:srgbClr val="0079D6"/>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7" name="Freeform 32">
                    <a:extLst>
                      <a:ext uri="{FF2B5EF4-FFF2-40B4-BE49-F238E27FC236}">
                        <a16:creationId xmlns:a16="http://schemas.microsoft.com/office/drawing/2014/main" id="{942B7E81-56BA-4DE3-A7B7-92279C74F009}"/>
                      </a:ext>
                    </a:extLst>
                  </p:cNvPr>
                  <p:cNvSpPr>
                    <a:spLocks/>
                  </p:cNvSpPr>
                  <p:nvPr/>
                </p:nvSpPr>
                <p:spPr bwMode="auto">
                  <a:xfrm>
                    <a:off x="9559924" y="2514600"/>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8" name="Freeform 33">
                    <a:extLst>
                      <a:ext uri="{FF2B5EF4-FFF2-40B4-BE49-F238E27FC236}">
                        <a16:creationId xmlns:a16="http://schemas.microsoft.com/office/drawing/2014/main" id="{95503E1B-7C39-4B28-A4A5-D501E3C8EF7F}"/>
                      </a:ext>
                    </a:extLst>
                  </p:cNvPr>
                  <p:cNvSpPr>
                    <a:spLocks/>
                  </p:cNvSpPr>
                  <p:nvPr/>
                </p:nvSpPr>
                <p:spPr bwMode="auto">
                  <a:xfrm>
                    <a:off x="9502774" y="2573338"/>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9" name="Freeform 34">
                    <a:extLst>
                      <a:ext uri="{FF2B5EF4-FFF2-40B4-BE49-F238E27FC236}">
                        <a16:creationId xmlns:a16="http://schemas.microsoft.com/office/drawing/2014/main" id="{0D308289-2A5A-4539-98C3-E22924805A66}"/>
                      </a:ext>
                    </a:extLst>
                  </p:cNvPr>
                  <p:cNvSpPr>
                    <a:spLocks/>
                  </p:cNvSpPr>
                  <p:nvPr/>
                </p:nvSpPr>
                <p:spPr bwMode="auto">
                  <a:xfrm>
                    <a:off x="9447212" y="2630488"/>
                    <a:ext cx="49212" cy="60325"/>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0" name="Freeform 35">
                    <a:extLst>
                      <a:ext uri="{FF2B5EF4-FFF2-40B4-BE49-F238E27FC236}">
                        <a16:creationId xmlns:a16="http://schemas.microsoft.com/office/drawing/2014/main" id="{C4E3A0C6-5FDD-4540-B98E-519EA1126500}"/>
                      </a:ext>
                    </a:extLst>
                  </p:cNvPr>
                  <p:cNvSpPr>
                    <a:spLocks/>
                  </p:cNvSpPr>
                  <p:nvPr/>
                </p:nvSpPr>
                <p:spPr bwMode="auto">
                  <a:xfrm>
                    <a:off x="9390062" y="2690813"/>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1" name="Freeform 36">
                    <a:extLst>
                      <a:ext uri="{FF2B5EF4-FFF2-40B4-BE49-F238E27FC236}">
                        <a16:creationId xmlns:a16="http://schemas.microsoft.com/office/drawing/2014/main" id="{D7A453D6-77A7-46EE-A388-92967543456E}"/>
                      </a:ext>
                    </a:extLst>
                  </p:cNvPr>
                  <p:cNvSpPr>
                    <a:spLocks/>
                  </p:cNvSpPr>
                  <p:nvPr/>
                </p:nvSpPr>
                <p:spPr bwMode="auto">
                  <a:xfrm>
                    <a:off x="9334499" y="2747963"/>
                    <a:ext cx="49212" cy="58737"/>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5"/>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2" name="Freeform 37">
                    <a:extLst>
                      <a:ext uri="{FF2B5EF4-FFF2-40B4-BE49-F238E27FC236}">
                        <a16:creationId xmlns:a16="http://schemas.microsoft.com/office/drawing/2014/main" id="{DDE1199B-C941-4A9B-9452-1120C9FC47BA}"/>
                      </a:ext>
                    </a:extLst>
                  </p:cNvPr>
                  <p:cNvSpPr>
                    <a:spLocks/>
                  </p:cNvSpPr>
                  <p:nvPr/>
                </p:nvSpPr>
                <p:spPr bwMode="auto">
                  <a:xfrm>
                    <a:off x="9277349" y="2805113"/>
                    <a:ext cx="50800" cy="58737"/>
                  </a:xfrm>
                  <a:custGeom>
                    <a:avLst/>
                    <a:gdLst>
                      <a:gd name="T0" fmla="*/ 25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5"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3" name="Freeform 38">
                    <a:extLst>
                      <a:ext uri="{FF2B5EF4-FFF2-40B4-BE49-F238E27FC236}">
                        <a16:creationId xmlns:a16="http://schemas.microsoft.com/office/drawing/2014/main" id="{DDB589C2-9D39-48F0-B106-BFA9C0CE7BE2}"/>
                      </a:ext>
                    </a:extLst>
                  </p:cNvPr>
                  <p:cNvSpPr>
                    <a:spLocks/>
                  </p:cNvSpPr>
                  <p:nvPr/>
                </p:nvSpPr>
                <p:spPr bwMode="auto">
                  <a:xfrm>
                    <a:off x="9221787" y="2863850"/>
                    <a:ext cx="49212" cy="58737"/>
                  </a:xfrm>
                  <a:custGeom>
                    <a:avLst/>
                    <a:gdLst>
                      <a:gd name="T0" fmla="*/ 24 w 24"/>
                      <a:gd name="T1" fmla="*/ 0 h 29"/>
                      <a:gd name="T2" fmla="*/ 24 w 24"/>
                      <a:gd name="T3" fmla="*/ 22 h 29"/>
                      <a:gd name="T4" fmla="*/ 16 w 24"/>
                      <a:gd name="T5" fmla="*/ 29 h 29"/>
                      <a:gd name="T6" fmla="*/ 5 w 24"/>
                      <a:gd name="T7" fmla="*/ 28 h 29"/>
                      <a:gd name="T8" fmla="*/ 2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3" y="26"/>
                          <a:pt x="20" y="29"/>
                          <a:pt x="16" y="29"/>
                        </a:cubicBezTo>
                        <a:cubicBezTo>
                          <a:pt x="5" y="28"/>
                          <a:pt x="5" y="28"/>
                          <a:pt x="5" y="28"/>
                        </a:cubicBezTo>
                        <a:cubicBezTo>
                          <a:pt x="1" y="28"/>
                          <a:pt x="0" y="25"/>
                          <a:pt x="2"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4" name="Freeform 39">
                    <a:extLst>
                      <a:ext uri="{FF2B5EF4-FFF2-40B4-BE49-F238E27FC236}">
                        <a16:creationId xmlns:a16="http://schemas.microsoft.com/office/drawing/2014/main" id="{456FAE57-DE36-45A4-B553-E6CF8599815D}"/>
                      </a:ext>
                    </a:extLst>
                  </p:cNvPr>
                  <p:cNvSpPr>
                    <a:spLocks/>
                  </p:cNvSpPr>
                  <p:nvPr/>
                </p:nvSpPr>
                <p:spPr bwMode="auto">
                  <a:xfrm>
                    <a:off x="9164637" y="2921000"/>
                    <a:ext cx="50800" cy="58737"/>
                  </a:xfrm>
                  <a:custGeom>
                    <a:avLst/>
                    <a:gdLst>
                      <a:gd name="T0" fmla="*/ 24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5" name="Freeform 40">
                    <a:extLst>
                      <a:ext uri="{FF2B5EF4-FFF2-40B4-BE49-F238E27FC236}">
                        <a16:creationId xmlns:a16="http://schemas.microsoft.com/office/drawing/2014/main" id="{0DA46099-900D-42BB-8875-7E5DC4B45172}"/>
                      </a:ext>
                    </a:extLst>
                  </p:cNvPr>
                  <p:cNvSpPr>
                    <a:spLocks/>
                  </p:cNvSpPr>
                  <p:nvPr/>
                </p:nvSpPr>
                <p:spPr bwMode="auto">
                  <a:xfrm>
                    <a:off x="9110662" y="2979738"/>
                    <a:ext cx="47625" cy="58737"/>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6" name="Freeform 41">
                    <a:extLst>
                      <a:ext uri="{FF2B5EF4-FFF2-40B4-BE49-F238E27FC236}">
                        <a16:creationId xmlns:a16="http://schemas.microsoft.com/office/drawing/2014/main" id="{35143DF3-FC49-4422-A22C-3A14D4510BB4}"/>
                      </a:ext>
                    </a:extLst>
                  </p:cNvPr>
                  <p:cNvSpPr>
                    <a:spLocks/>
                  </p:cNvSpPr>
                  <p:nvPr/>
                </p:nvSpPr>
                <p:spPr bwMode="auto">
                  <a:xfrm>
                    <a:off x="9053512" y="3036888"/>
                    <a:ext cx="50800" cy="58737"/>
                  </a:xfrm>
                  <a:custGeom>
                    <a:avLst/>
                    <a:gdLst>
                      <a:gd name="T0" fmla="*/ 24 w 25"/>
                      <a:gd name="T1" fmla="*/ 1 h 29"/>
                      <a:gd name="T2" fmla="*/ 24 w 25"/>
                      <a:gd name="T3" fmla="*/ 22 h 29"/>
                      <a:gd name="T4" fmla="*/ 16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6"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7" name="Freeform 42">
                    <a:extLst>
                      <a:ext uri="{FF2B5EF4-FFF2-40B4-BE49-F238E27FC236}">
                        <a16:creationId xmlns:a16="http://schemas.microsoft.com/office/drawing/2014/main" id="{7A7C1CEE-BD1B-43AC-96C5-E41A1B232006}"/>
                      </a:ext>
                    </a:extLst>
                  </p:cNvPr>
                  <p:cNvSpPr>
                    <a:spLocks/>
                  </p:cNvSpPr>
                  <p:nvPr/>
                </p:nvSpPr>
                <p:spPr bwMode="auto">
                  <a:xfrm>
                    <a:off x="8997949" y="3095625"/>
                    <a:ext cx="49212" cy="60325"/>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8" name="Freeform 43">
                    <a:extLst>
                      <a:ext uri="{FF2B5EF4-FFF2-40B4-BE49-F238E27FC236}">
                        <a16:creationId xmlns:a16="http://schemas.microsoft.com/office/drawing/2014/main" id="{F32DFD0D-6536-43F6-AE48-242C9CEABC18}"/>
                      </a:ext>
                    </a:extLst>
                  </p:cNvPr>
                  <p:cNvSpPr>
                    <a:spLocks noEditPoints="1"/>
                  </p:cNvSpPr>
                  <p:nvPr/>
                </p:nvSpPr>
                <p:spPr bwMode="auto">
                  <a:xfrm>
                    <a:off x="7907337" y="1290638"/>
                    <a:ext cx="449262" cy="449262"/>
                  </a:xfrm>
                  <a:custGeom>
                    <a:avLst/>
                    <a:gdLst>
                      <a:gd name="T0" fmla="*/ 108 w 220"/>
                      <a:gd name="T1" fmla="*/ 1 h 220"/>
                      <a:gd name="T2" fmla="*/ 1 w 220"/>
                      <a:gd name="T3" fmla="*/ 112 h 220"/>
                      <a:gd name="T4" fmla="*/ 112 w 220"/>
                      <a:gd name="T5" fmla="*/ 219 h 220"/>
                      <a:gd name="T6" fmla="*/ 219 w 220"/>
                      <a:gd name="T7" fmla="*/ 108 h 220"/>
                      <a:gd name="T8" fmla="*/ 108 w 220"/>
                      <a:gd name="T9" fmla="*/ 1 h 220"/>
                      <a:gd name="T10" fmla="*/ 112 w 220"/>
                      <a:gd name="T11" fmla="*/ 191 h 220"/>
                      <a:gd name="T12" fmla="*/ 29 w 220"/>
                      <a:gd name="T13" fmla="*/ 111 h 220"/>
                      <a:gd name="T14" fmla="*/ 109 w 220"/>
                      <a:gd name="T15" fmla="*/ 29 h 220"/>
                      <a:gd name="T16" fmla="*/ 191 w 220"/>
                      <a:gd name="T17" fmla="*/ 108 h 220"/>
                      <a:gd name="T18" fmla="*/ 112 w 220"/>
                      <a:gd name="T19" fmla="*/ 19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0" h="220">
                        <a:moveTo>
                          <a:pt x="108" y="1"/>
                        </a:moveTo>
                        <a:cubicBezTo>
                          <a:pt x="48" y="2"/>
                          <a:pt x="0" y="52"/>
                          <a:pt x="1" y="112"/>
                        </a:cubicBezTo>
                        <a:cubicBezTo>
                          <a:pt x="2" y="172"/>
                          <a:pt x="52" y="220"/>
                          <a:pt x="112" y="219"/>
                        </a:cubicBezTo>
                        <a:cubicBezTo>
                          <a:pt x="172" y="218"/>
                          <a:pt x="220" y="168"/>
                          <a:pt x="219" y="108"/>
                        </a:cubicBezTo>
                        <a:cubicBezTo>
                          <a:pt x="218" y="48"/>
                          <a:pt x="168" y="0"/>
                          <a:pt x="108" y="1"/>
                        </a:cubicBezTo>
                        <a:close/>
                        <a:moveTo>
                          <a:pt x="112" y="191"/>
                        </a:moveTo>
                        <a:cubicBezTo>
                          <a:pt x="67" y="192"/>
                          <a:pt x="30" y="156"/>
                          <a:pt x="29" y="111"/>
                        </a:cubicBezTo>
                        <a:cubicBezTo>
                          <a:pt x="28" y="66"/>
                          <a:pt x="64" y="29"/>
                          <a:pt x="109" y="29"/>
                        </a:cubicBezTo>
                        <a:cubicBezTo>
                          <a:pt x="153" y="28"/>
                          <a:pt x="190" y="63"/>
                          <a:pt x="191" y="108"/>
                        </a:cubicBezTo>
                        <a:cubicBezTo>
                          <a:pt x="192" y="153"/>
                          <a:pt x="156" y="190"/>
                          <a:pt x="112" y="191"/>
                        </a:cubicBezTo>
                        <a:close/>
                      </a:path>
                    </a:pathLst>
                  </a:custGeom>
                  <a:solidFill>
                    <a:srgbClr val="F2F2F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9" name="Freeform 50">
                    <a:extLst>
                      <a:ext uri="{FF2B5EF4-FFF2-40B4-BE49-F238E27FC236}">
                        <a16:creationId xmlns:a16="http://schemas.microsoft.com/office/drawing/2014/main" id="{4D44A2C1-811E-400D-ABD8-6C864CA35B8D}"/>
                      </a:ext>
                    </a:extLst>
                  </p:cNvPr>
                  <p:cNvSpPr>
                    <a:spLocks/>
                  </p:cNvSpPr>
                  <p:nvPr/>
                </p:nvSpPr>
                <p:spPr bwMode="auto">
                  <a:xfrm>
                    <a:off x="8351837" y="1630363"/>
                    <a:ext cx="374650" cy="373062"/>
                  </a:xfrm>
                  <a:custGeom>
                    <a:avLst/>
                    <a:gdLst>
                      <a:gd name="T0" fmla="*/ 175 w 236"/>
                      <a:gd name="T1" fmla="*/ 73 h 235"/>
                      <a:gd name="T2" fmla="*/ 12 w 236"/>
                      <a:gd name="T3" fmla="*/ 235 h 235"/>
                      <a:gd name="T4" fmla="*/ 0 w 236"/>
                      <a:gd name="T5" fmla="*/ 223 h 235"/>
                      <a:gd name="T6" fmla="*/ 163 w 236"/>
                      <a:gd name="T7" fmla="*/ 61 h 235"/>
                      <a:gd name="T8" fmla="*/ 114 w 236"/>
                      <a:gd name="T9" fmla="*/ 11 h 235"/>
                      <a:gd name="T10" fmla="*/ 124 w 236"/>
                      <a:gd name="T11" fmla="*/ 0 h 235"/>
                      <a:gd name="T12" fmla="*/ 236 w 236"/>
                      <a:gd name="T13" fmla="*/ 111 h 235"/>
                      <a:gd name="T14" fmla="*/ 224 w 236"/>
                      <a:gd name="T15" fmla="*/ 123 h 235"/>
                      <a:gd name="T16" fmla="*/ 175 w 236"/>
                      <a:gd name="T17" fmla="*/ 7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 h="235">
                        <a:moveTo>
                          <a:pt x="175" y="73"/>
                        </a:moveTo>
                        <a:lnTo>
                          <a:pt x="12" y="235"/>
                        </a:lnTo>
                        <a:lnTo>
                          <a:pt x="0" y="223"/>
                        </a:lnTo>
                        <a:lnTo>
                          <a:pt x="163" y="61"/>
                        </a:lnTo>
                        <a:lnTo>
                          <a:pt x="114" y="11"/>
                        </a:lnTo>
                        <a:lnTo>
                          <a:pt x="124" y="0"/>
                        </a:lnTo>
                        <a:lnTo>
                          <a:pt x="236" y="111"/>
                        </a:lnTo>
                        <a:lnTo>
                          <a:pt x="224" y="123"/>
                        </a:lnTo>
                        <a:lnTo>
                          <a:pt x="175"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0" name="Freeform 51">
                    <a:extLst>
                      <a:ext uri="{FF2B5EF4-FFF2-40B4-BE49-F238E27FC236}">
                        <a16:creationId xmlns:a16="http://schemas.microsoft.com/office/drawing/2014/main" id="{C614D8E9-16D3-44C8-93D6-B66E86A70506}"/>
                      </a:ext>
                    </a:extLst>
                  </p:cNvPr>
                  <p:cNvSpPr>
                    <a:spLocks noEditPoints="1"/>
                  </p:cNvSpPr>
                  <p:nvPr/>
                </p:nvSpPr>
                <p:spPr bwMode="auto">
                  <a:xfrm>
                    <a:off x="8429625" y="1889125"/>
                    <a:ext cx="396875" cy="395287"/>
                  </a:xfrm>
                  <a:custGeom>
                    <a:avLst/>
                    <a:gdLst>
                      <a:gd name="T0" fmla="*/ 99 w 194"/>
                      <a:gd name="T1" fmla="*/ 184 h 194"/>
                      <a:gd name="T2" fmla="*/ 125 w 194"/>
                      <a:gd name="T3" fmla="*/ 126 h 194"/>
                      <a:gd name="T4" fmla="*/ 67 w 194"/>
                      <a:gd name="T5" fmla="*/ 68 h 194"/>
                      <a:gd name="T6" fmla="*/ 10 w 194"/>
                      <a:gd name="T7" fmla="*/ 94 h 194"/>
                      <a:gd name="T8" fmla="*/ 0 w 194"/>
                      <a:gd name="T9" fmla="*/ 84 h 194"/>
                      <a:gd name="T10" fmla="*/ 185 w 194"/>
                      <a:gd name="T11" fmla="*/ 0 h 194"/>
                      <a:gd name="T12" fmla="*/ 194 w 194"/>
                      <a:gd name="T13" fmla="*/ 9 h 194"/>
                      <a:gd name="T14" fmla="*/ 109 w 194"/>
                      <a:gd name="T15" fmla="*/ 194 h 194"/>
                      <a:gd name="T16" fmla="*/ 99 w 194"/>
                      <a:gd name="T17" fmla="*/ 184 h 194"/>
                      <a:gd name="T18" fmla="*/ 170 w 194"/>
                      <a:gd name="T19" fmla="*/ 30 h 194"/>
                      <a:gd name="T20" fmla="*/ 174 w 194"/>
                      <a:gd name="T21" fmla="*/ 22 h 194"/>
                      <a:gd name="T22" fmla="*/ 177 w 194"/>
                      <a:gd name="T23" fmla="*/ 16 h 194"/>
                      <a:gd name="T24" fmla="*/ 177 w 194"/>
                      <a:gd name="T25" fmla="*/ 16 h 194"/>
                      <a:gd name="T26" fmla="*/ 164 w 194"/>
                      <a:gd name="T27" fmla="*/ 23 h 194"/>
                      <a:gd name="T28" fmla="*/ 79 w 194"/>
                      <a:gd name="T29" fmla="*/ 63 h 194"/>
                      <a:gd name="T30" fmla="*/ 131 w 194"/>
                      <a:gd name="T31" fmla="*/ 115 h 194"/>
                      <a:gd name="T32" fmla="*/ 170 w 194"/>
                      <a:gd name="T33" fmla="*/ 3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194">
                        <a:moveTo>
                          <a:pt x="99" y="184"/>
                        </a:moveTo>
                        <a:cubicBezTo>
                          <a:pt x="125" y="126"/>
                          <a:pt x="125" y="126"/>
                          <a:pt x="125" y="126"/>
                        </a:cubicBezTo>
                        <a:cubicBezTo>
                          <a:pt x="67" y="68"/>
                          <a:pt x="67" y="68"/>
                          <a:pt x="67" y="68"/>
                        </a:cubicBezTo>
                        <a:cubicBezTo>
                          <a:pt x="10" y="94"/>
                          <a:pt x="10" y="94"/>
                          <a:pt x="10" y="94"/>
                        </a:cubicBezTo>
                        <a:cubicBezTo>
                          <a:pt x="0" y="84"/>
                          <a:pt x="0" y="84"/>
                          <a:pt x="0" y="84"/>
                        </a:cubicBezTo>
                        <a:cubicBezTo>
                          <a:pt x="185" y="0"/>
                          <a:pt x="185" y="0"/>
                          <a:pt x="185" y="0"/>
                        </a:cubicBezTo>
                        <a:cubicBezTo>
                          <a:pt x="194" y="9"/>
                          <a:pt x="194" y="9"/>
                          <a:pt x="194" y="9"/>
                        </a:cubicBezTo>
                        <a:cubicBezTo>
                          <a:pt x="109" y="194"/>
                          <a:pt x="109" y="194"/>
                          <a:pt x="109" y="194"/>
                        </a:cubicBezTo>
                        <a:lnTo>
                          <a:pt x="99" y="184"/>
                        </a:lnTo>
                        <a:close/>
                        <a:moveTo>
                          <a:pt x="170" y="30"/>
                        </a:moveTo>
                        <a:cubicBezTo>
                          <a:pt x="171" y="27"/>
                          <a:pt x="173" y="25"/>
                          <a:pt x="174" y="22"/>
                        </a:cubicBezTo>
                        <a:cubicBezTo>
                          <a:pt x="175" y="20"/>
                          <a:pt x="176" y="18"/>
                          <a:pt x="177" y="16"/>
                        </a:cubicBezTo>
                        <a:cubicBezTo>
                          <a:pt x="177" y="16"/>
                          <a:pt x="177" y="16"/>
                          <a:pt x="177" y="16"/>
                        </a:cubicBezTo>
                        <a:cubicBezTo>
                          <a:pt x="172" y="19"/>
                          <a:pt x="167" y="21"/>
                          <a:pt x="164" y="23"/>
                        </a:cubicBezTo>
                        <a:cubicBezTo>
                          <a:pt x="79" y="63"/>
                          <a:pt x="79" y="63"/>
                          <a:pt x="79" y="63"/>
                        </a:cubicBezTo>
                        <a:cubicBezTo>
                          <a:pt x="131" y="115"/>
                          <a:pt x="131" y="115"/>
                          <a:pt x="131" y="115"/>
                        </a:cubicBezTo>
                        <a:lnTo>
                          <a:pt x="170"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1" name="Freeform 52">
                    <a:extLst>
                      <a:ext uri="{FF2B5EF4-FFF2-40B4-BE49-F238E27FC236}">
                        <a16:creationId xmlns:a16="http://schemas.microsoft.com/office/drawing/2014/main" id="{3D3FA5C4-9A77-4100-9A53-443D29C5193E}"/>
                      </a:ext>
                    </a:extLst>
                  </p:cNvPr>
                  <p:cNvSpPr>
                    <a:spLocks/>
                  </p:cNvSpPr>
                  <p:nvPr/>
                </p:nvSpPr>
                <p:spPr bwMode="auto">
                  <a:xfrm>
                    <a:off x="8742362" y="2105025"/>
                    <a:ext cx="406400" cy="396875"/>
                  </a:xfrm>
                  <a:custGeom>
                    <a:avLst/>
                    <a:gdLst>
                      <a:gd name="T0" fmla="*/ 82 w 199"/>
                      <a:gd name="T1" fmla="*/ 195 h 195"/>
                      <a:gd name="T2" fmla="*/ 27 w 199"/>
                      <a:gd name="T3" fmla="*/ 164 h 195"/>
                      <a:gd name="T4" fmla="*/ 1 w 199"/>
                      <a:gd name="T5" fmla="*/ 101 h 195"/>
                      <a:gd name="T6" fmla="*/ 34 w 199"/>
                      <a:gd name="T7" fmla="*/ 35 h 195"/>
                      <a:gd name="T8" fmla="*/ 103 w 199"/>
                      <a:gd name="T9" fmla="*/ 2 h 195"/>
                      <a:gd name="T10" fmla="*/ 172 w 199"/>
                      <a:gd name="T11" fmla="*/ 30 h 195"/>
                      <a:gd name="T12" fmla="*/ 199 w 199"/>
                      <a:gd name="T13" fmla="*/ 72 h 195"/>
                      <a:gd name="T14" fmla="*/ 189 w 199"/>
                      <a:gd name="T15" fmla="*/ 82 h 195"/>
                      <a:gd name="T16" fmla="*/ 162 w 199"/>
                      <a:gd name="T17" fmla="*/ 38 h 195"/>
                      <a:gd name="T18" fmla="*/ 104 w 199"/>
                      <a:gd name="T19" fmla="*/ 14 h 195"/>
                      <a:gd name="T20" fmla="*/ 44 w 199"/>
                      <a:gd name="T21" fmla="*/ 43 h 195"/>
                      <a:gd name="T22" fmla="*/ 14 w 199"/>
                      <a:gd name="T23" fmla="*/ 102 h 195"/>
                      <a:gd name="T24" fmla="*/ 37 w 199"/>
                      <a:gd name="T25" fmla="*/ 157 h 195"/>
                      <a:gd name="T26" fmla="*/ 77 w 199"/>
                      <a:gd name="T27" fmla="*/ 181 h 195"/>
                      <a:gd name="T28" fmla="*/ 122 w 199"/>
                      <a:gd name="T29" fmla="*/ 137 h 195"/>
                      <a:gd name="T30" fmla="*/ 90 w 199"/>
                      <a:gd name="T31" fmla="*/ 105 h 195"/>
                      <a:gd name="T32" fmla="*/ 98 w 199"/>
                      <a:gd name="T33" fmla="*/ 96 h 195"/>
                      <a:gd name="T34" fmla="*/ 139 w 199"/>
                      <a:gd name="T35" fmla="*/ 137 h 195"/>
                      <a:gd name="T36" fmla="*/ 82 w 199"/>
                      <a:gd name="T3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9" h="195">
                        <a:moveTo>
                          <a:pt x="82" y="195"/>
                        </a:moveTo>
                        <a:cubicBezTo>
                          <a:pt x="60" y="189"/>
                          <a:pt x="42" y="178"/>
                          <a:pt x="27" y="164"/>
                        </a:cubicBezTo>
                        <a:cubicBezTo>
                          <a:pt x="9" y="145"/>
                          <a:pt x="0" y="124"/>
                          <a:pt x="1" y="101"/>
                        </a:cubicBezTo>
                        <a:cubicBezTo>
                          <a:pt x="3" y="77"/>
                          <a:pt x="13" y="55"/>
                          <a:pt x="34" y="35"/>
                        </a:cubicBezTo>
                        <a:cubicBezTo>
                          <a:pt x="54" y="14"/>
                          <a:pt x="77" y="3"/>
                          <a:pt x="103" y="2"/>
                        </a:cubicBezTo>
                        <a:cubicBezTo>
                          <a:pt x="129" y="0"/>
                          <a:pt x="152" y="10"/>
                          <a:pt x="172" y="30"/>
                        </a:cubicBezTo>
                        <a:cubicBezTo>
                          <a:pt x="184" y="42"/>
                          <a:pt x="193" y="56"/>
                          <a:pt x="199" y="72"/>
                        </a:cubicBezTo>
                        <a:cubicBezTo>
                          <a:pt x="189" y="82"/>
                          <a:pt x="189" y="82"/>
                          <a:pt x="189" y="82"/>
                        </a:cubicBezTo>
                        <a:cubicBezTo>
                          <a:pt x="183" y="64"/>
                          <a:pt x="174" y="49"/>
                          <a:pt x="162" y="38"/>
                        </a:cubicBezTo>
                        <a:cubicBezTo>
                          <a:pt x="146" y="21"/>
                          <a:pt x="126" y="13"/>
                          <a:pt x="104" y="14"/>
                        </a:cubicBezTo>
                        <a:cubicBezTo>
                          <a:pt x="82" y="15"/>
                          <a:pt x="62" y="25"/>
                          <a:pt x="44" y="43"/>
                        </a:cubicBezTo>
                        <a:cubicBezTo>
                          <a:pt x="26" y="62"/>
                          <a:pt x="16" y="81"/>
                          <a:pt x="14" y="102"/>
                        </a:cubicBezTo>
                        <a:cubicBezTo>
                          <a:pt x="13" y="122"/>
                          <a:pt x="21" y="140"/>
                          <a:pt x="37" y="157"/>
                        </a:cubicBezTo>
                        <a:cubicBezTo>
                          <a:pt x="50" y="169"/>
                          <a:pt x="63" y="177"/>
                          <a:pt x="77" y="181"/>
                        </a:cubicBezTo>
                        <a:cubicBezTo>
                          <a:pt x="122" y="137"/>
                          <a:pt x="122" y="137"/>
                          <a:pt x="122" y="137"/>
                        </a:cubicBezTo>
                        <a:cubicBezTo>
                          <a:pt x="90" y="105"/>
                          <a:pt x="90" y="105"/>
                          <a:pt x="90" y="105"/>
                        </a:cubicBezTo>
                        <a:cubicBezTo>
                          <a:pt x="98" y="96"/>
                          <a:pt x="98" y="96"/>
                          <a:pt x="98" y="96"/>
                        </a:cubicBezTo>
                        <a:cubicBezTo>
                          <a:pt x="139" y="137"/>
                          <a:pt x="139" y="137"/>
                          <a:pt x="139" y="137"/>
                        </a:cubicBezTo>
                        <a:lnTo>
                          <a:pt x="82"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2" name="Freeform 53">
                    <a:extLst>
                      <a:ext uri="{FF2B5EF4-FFF2-40B4-BE49-F238E27FC236}">
                        <a16:creationId xmlns:a16="http://schemas.microsoft.com/office/drawing/2014/main" id="{FC77588A-9153-4552-BA83-832F8C5DDA96}"/>
                      </a:ext>
                    </a:extLst>
                  </p:cNvPr>
                  <p:cNvSpPr>
                    <a:spLocks/>
                  </p:cNvSpPr>
                  <p:nvPr/>
                </p:nvSpPr>
                <p:spPr bwMode="auto">
                  <a:xfrm>
                    <a:off x="8955087" y="2339975"/>
                    <a:ext cx="393700" cy="346075"/>
                  </a:xfrm>
                  <a:custGeom>
                    <a:avLst/>
                    <a:gdLst>
                      <a:gd name="T0" fmla="*/ 0 w 193"/>
                      <a:gd name="T1" fmla="*/ 111 h 170"/>
                      <a:gd name="T2" fmla="*/ 11 w 193"/>
                      <a:gd name="T3" fmla="*/ 101 h 170"/>
                      <a:gd name="T4" fmla="*/ 31 w 193"/>
                      <a:gd name="T5" fmla="*/ 139 h 170"/>
                      <a:gd name="T6" fmla="*/ 61 w 193"/>
                      <a:gd name="T7" fmla="*/ 157 h 170"/>
                      <a:gd name="T8" fmla="*/ 88 w 193"/>
                      <a:gd name="T9" fmla="*/ 147 h 170"/>
                      <a:gd name="T10" fmla="*/ 99 w 193"/>
                      <a:gd name="T11" fmla="*/ 125 h 170"/>
                      <a:gd name="T12" fmla="*/ 92 w 193"/>
                      <a:gd name="T13" fmla="*/ 84 h 170"/>
                      <a:gd name="T14" fmla="*/ 86 w 193"/>
                      <a:gd name="T15" fmla="*/ 38 h 170"/>
                      <a:gd name="T16" fmla="*/ 99 w 193"/>
                      <a:gd name="T17" fmla="*/ 14 h 170"/>
                      <a:gd name="T18" fmla="*/ 134 w 193"/>
                      <a:gd name="T19" fmla="*/ 1 h 170"/>
                      <a:gd name="T20" fmla="*/ 174 w 193"/>
                      <a:gd name="T21" fmla="*/ 21 h 170"/>
                      <a:gd name="T22" fmla="*/ 193 w 193"/>
                      <a:gd name="T23" fmla="*/ 49 h 170"/>
                      <a:gd name="T24" fmla="*/ 184 w 193"/>
                      <a:gd name="T25" fmla="*/ 59 h 170"/>
                      <a:gd name="T26" fmla="*/ 164 w 193"/>
                      <a:gd name="T27" fmla="*/ 28 h 170"/>
                      <a:gd name="T28" fmla="*/ 135 w 193"/>
                      <a:gd name="T29" fmla="*/ 13 h 170"/>
                      <a:gd name="T30" fmla="*/ 110 w 193"/>
                      <a:gd name="T31" fmla="*/ 23 h 170"/>
                      <a:gd name="T32" fmla="*/ 99 w 193"/>
                      <a:gd name="T33" fmla="*/ 45 h 170"/>
                      <a:gd name="T34" fmla="*/ 106 w 193"/>
                      <a:gd name="T35" fmla="*/ 85 h 170"/>
                      <a:gd name="T36" fmla="*/ 112 w 193"/>
                      <a:gd name="T37" fmla="*/ 129 h 170"/>
                      <a:gd name="T38" fmla="*/ 99 w 193"/>
                      <a:gd name="T39" fmla="*/ 155 h 170"/>
                      <a:gd name="T40" fmla="*/ 63 w 193"/>
                      <a:gd name="T41" fmla="*/ 169 h 170"/>
                      <a:gd name="T42" fmla="*/ 23 w 193"/>
                      <a:gd name="T43" fmla="*/ 148 h 170"/>
                      <a:gd name="T44" fmla="*/ 9 w 193"/>
                      <a:gd name="T45" fmla="*/ 130 h 170"/>
                      <a:gd name="T46" fmla="*/ 0 w 193"/>
                      <a:gd name="T47" fmla="*/ 11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3" h="170">
                        <a:moveTo>
                          <a:pt x="0" y="111"/>
                        </a:moveTo>
                        <a:cubicBezTo>
                          <a:pt x="11" y="101"/>
                          <a:pt x="11" y="101"/>
                          <a:pt x="11" y="101"/>
                        </a:cubicBezTo>
                        <a:cubicBezTo>
                          <a:pt x="14" y="117"/>
                          <a:pt x="21" y="129"/>
                          <a:pt x="31" y="139"/>
                        </a:cubicBezTo>
                        <a:cubicBezTo>
                          <a:pt x="41" y="150"/>
                          <a:pt x="51" y="156"/>
                          <a:pt x="61" y="157"/>
                        </a:cubicBezTo>
                        <a:cubicBezTo>
                          <a:pt x="71" y="158"/>
                          <a:pt x="80" y="154"/>
                          <a:pt x="88" y="147"/>
                        </a:cubicBezTo>
                        <a:cubicBezTo>
                          <a:pt x="94" y="140"/>
                          <a:pt x="98" y="132"/>
                          <a:pt x="99" y="125"/>
                        </a:cubicBezTo>
                        <a:cubicBezTo>
                          <a:pt x="99" y="117"/>
                          <a:pt x="97" y="103"/>
                          <a:pt x="92" y="84"/>
                        </a:cubicBezTo>
                        <a:cubicBezTo>
                          <a:pt x="86" y="63"/>
                          <a:pt x="84" y="47"/>
                          <a:pt x="86" y="38"/>
                        </a:cubicBezTo>
                        <a:cubicBezTo>
                          <a:pt x="87" y="29"/>
                          <a:pt x="92" y="21"/>
                          <a:pt x="99" y="14"/>
                        </a:cubicBezTo>
                        <a:cubicBezTo>
                          <a:pt x="108" y="5"/>
                          <a:pt x="120" y="0"/>
                          <a:pt x="134" y="1"/>
                        </a:cubicBezTo>
                        <a:cubicBezTo>
                          <a:pt x="148" y="2"/>
                          <a:pt x="161" y="9"/>
                          <a:pt x="174" y="21"/>
                        </a:cubicBezTo>
                        <a:cubicBezTo>
                          <a:pt x="182" y="29"/>
                          <a:pt x="188" y="38"/>
                          <a:pt x="193" y="49"/>
                        </a:cubicBezTo>
                        <a:cubicBezTo>
                          <a:pt x="184" y="59"/>
                          <a:pt x="184" y="59"/>
                          <a:pt x="184" y="59"/>
                        </a:cubicBezTo>
                        <a:cubicBezTo>
                          <a:pt x="179" y="47"/>
                          <a:pt x="173" y="37"/>
                          <a:pt x="164" y="28"/>
                        </a:cubicBezTo>
                        <a:cubicBezTo>
                          <a:pt x="155" y="19"/>
                          <a:pt x="145" y="14"/>
                          <a:pt x="135" y="13"/>
                        </a:cubicBezTo>
                        <a:cubicBezTo>
                          <a:pt x="125" y="13"/>
                          <a:pt x="117" y="16"/>
                          <a:pt x="110" y="23"/>
                        </a:cubicBezTo>
                        <a:cubicBezTo>
                          <a:pt x="103" y="30"/>
                          <a:pt x="99" y="37"/>
                          <a:pt x="99" y="45"/>
                        </a:cubicBezTo>
                        <a:cubicBezTo>
                          <a:pt x="98" y="53"/>
                          <a:pt x="100" y="66"/>
                          <a:pt x="106" y="85"/>
                        </a:cubicBezTo>
                        <a:cubicBezTo>
                          <a:pt x="111" y="105"/>
                          <a:pt x="113" y="120"/>
                          <a:pt x="112" y="129"/>
                        </a:cubicBezTo>
                        <a:cubicBezTo>
                          <a:pt x="110" y="139"/>
                          <a:pt x="106" y="147"/>
                          <a:pt x="99" y="155"/>
                        </a:cubicBezTo>
                        <a:cubicBezTo>
                          <a:pt x="88" y="165"/>
                          <a:pt x="76" y="170"/>
                          <a:pt x="63" y="169"/>
                        </a:cubicBezTo>
                        <a:cubicBezTo>
                          <a:pt x="49" y="168"/>
                          <a:pt x="36" y="161"/>
                          <a:pt x="23" y="148"/>
                        </a:cubicBezTo>
                        <a:cubicBezTo>
                          <a:pt x="18" y="144"/>
                          <a:pt x="13" y="138"/>
                          <a:pt x="9" y="130"/>
                        </a:cubicBezTo>
                        <a:cubicBezTo>
                          <a:pt x="4" y="123"/>
                          <a:pt x="1" y="116"/>
                          <a:pt x="0"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43" name="Freeform 32">
                    <a:extLst>
                      <a:ext uri="{FF2B5EF4-FFF2-40B4-BE49-F238E27FC236}">
                        <a16:creationId xmlns:a16="http://schemas.microsoft.com/office/drawing/2014/main" id="{29BEC9AF-77F3-495C-A9B9-53E6514A00E5}"/>
                      </a:ext>
                    </a:extLst>
                  </p:cNvPr>
                  <p:cNvSpPr>
                    <a:spLocks/>
                  </p:cNvSpPr>
                  <p:nvPr/>
                </p:nvSpPr>
                <p:spPr bwMode="auto">
                  <a:xfrm>
                    <a:off x="9612449" y="2462704"/>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4" name="Freeform 32">
                    <a:extLst>
                      <a:ext uri="{FF2B5EF4-FFF2-40B4-BE49-F238E27FC236}">
                        <a16:creationId xmlns:a16="http://schemas.microsoft.com/office/drawing/2014/main" id="{80AD87E1-6678-43DF-BB08-DDE4644DE989}"/>
                      </a:ext>
                    </a:extLst>
                  </p:cNvPr>
                  <p:cNvSpPr>
                    <a:spLocks/>
                  </p:cNvSpPr>
                  <p:nvPr/>
                </p:nvSpPr>
                <p:spPr bwMode="auto">
                  <a:xfrm>
                    <a:off x="9661637" y="2411907"/>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5" name="Freeform 32">
                    <a:extLst>
                      <a:ext uri="{FF2B5EF4-FFF2-40B4-BE49-F238E27FC236}">
                        <a16:creationId xmlns:a16="http://schemas.microsoft.com/office/drawing/2014/main" id="{2E451511-436E-48FF-B6A4-D360E43C6578}"/>
                      </a:ext>
                    </a:extLst>
                  </p:cNvPr>
                  <p:cNvSpPr>
                    <a:spLocks/>
                  </p:cNvSpPr>
                  <p:nvPr/>
                </p:nvSpPr>
                <p:spPr bwMode="auto">
                  <a:xfrm>
                    <a:off x="9707675" y="2360508"/>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6" name="Freeform 32">
                    <a:extLst>
                      <a:ext uri="{FF2B5EF4-FFF2-40B4-BE49-F238E27FC236}">
                        <a16:creationId xmlns:a16="http://schemas.microsoft.com/office/drawing/2014/main" id="{241BFDD1-E817-4220-8EE7-3DA47B951312}"/>
                      </a:ext>
                    </a:extLst>
                  </p:cNvPr>
                  <p:cNvSpPr>
                    <a:spLocks/>
                  </p:cNvSpPr>
                  <p:nvPr/>
                </p:nvSpPr>
                <p:spPr bwMode="auto">
                  <a:xfrm>
                    <a:off x="9755926" y="2310606"/>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grpSp>
            <p:pic>
              <p:nvPicPr>
                <p:cNvPr id="24" name="Picture 23">
                  <a:extLst>
                    <a:ext uri="{FF2B5EF4-FFF2-40B4-BE49-F238E27FC236}">
                      <a16:creationId xmlns:a16="http://schemas.microsoft.com/office/drawing/2014/main" id="{DD629785-F77C-48DF-A780-76C3F1D5AB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11196" y="3879050"/>
                  <a:ext cx="1044116" cy="1044116"/>
                </a:xfrm>
                <a:prstGeom prst="rect">
                  <a:avLst/>
                </a:prstGeom>
              </p:spPr>
            </p:pic>
            <p:pic>
              <p:nvPicPr>
                <p:cNvPr id="25" name="Picture 24">
                  <a:extLst>
                    <a:ext uri="{FF2B5EF4-FFF2-40B4-BE49-F238E27FC236}">
                      <a16:creationId xmlns:a16="http://schemas.microsoft.com/office/drawing/2014/main" id="{A850A374-A7F5-49C0-8E7D-0E91F80D744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57900" y="3782494"/>
                  <a:ext cx="1237228" cy="1237228"/>
                </a:xfrm>
                <a:prstGeom prst="rect">
                  <a:avLst/>
                </a:prstGeom>
              </p:spPr>
            </p:pic>
          </p:grpSp>
        </p:grpSp>
      </p:grpSp>
    </p:spTree>
    <p:extLst>
      <p:ext uri="{BB962C8B-B14F-4D97-AF65-F5344CB8AC3E}">
        <p14:creationId xmlns:p14="http://schemas.microsoft.com/office/powerpoint/2010/main" val="305331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Policy</a:t>
            </a:r>
          </a:p>
        </p:txBody>
      </p:sp>
      <p:sp>
        <p:nvSpPr>
          <p:cNvPr id="6" name="Text Placeholder 5"/>
          <p:cNvSpPr>
            <a:spLocks noGrp="1"/>
          </p:cNvSpPr>
          <p:nvPr>
            <p:ph sz="quarter" idx="10"/>
          </p:nvPr>
        </p:nvSpPr>
        <p:spPr>
          <a:xfrm>
            <a:off x="419100" y="1456897"/>
            <a:ext cx="11340811" cy="1292662"/>
          </a:xfrm>
        </p:spPr>
        <p:txBody>
          <a:bodyPr/>
          <a:lstStyle/>
          <a:p>
            <a:pPr marL="0" indent="0">
              <a:buNone/>
            </a:pPr>
            <a:r>
              <a:rPr lang="en-US" i="0" dirty="0">
                <a:solidFill>
                  <a:srgbClr val="171717"/>
                </a:solidFill>
                <a:effectLst/>
                <a:latin typeface="+mj-lt"/>
              </a:rPr>
              <a:t>Azure Policy</a:t>
            </a:r>
            <a:r>
              <a:rPr lang="en-US" b="1" i="0" dirty="0">
                <a:solidFill>
                  <a:srgbClr val="171717"/>
                </a:solidFill>
                <a:effectLst/>
                <a:latin typeface="Segoe UI" panose="020B0502040204020203" pitchFamily="34" charset="0"/>
              </a:rPr>
              <a:t> </a:t>
            </a:r>
            <a:r>
              <a:rPr lang="en-US" b="0" i="0" dirty="0">
                <a:solidFill>
                  <a:srgbClr val="171717"/>
                </a:solidFill>
                <a:effectLst/>
                <a:latin typeface="Segoe UI" panose="020B0502040204020203" pitchFamily="34" charset="0"/>
              </a:rPr>
              <a:t>helps to enforce organizational standards and to assess compliance at-scale. Provides governance and resource consistency </a:t>
            </a:r>
            <a:r>
              <a:rPr lang="en-US" dirty="0">
                <a:solidFill>
                  <a:srgbClr val="171717"/>
                </a:solidFill>
                <a:latin typeface="Segoe UI" panose="020B0502040204020203" pitchFamily="34" charset="0"/>
              </a:rPr>
              <a:t>with regulatory compliance, security, cost, and management. </a:t>
            </a:r>
            <a:endParaRPr lang="en-US" noProof="0" dirty="0">
              <a:latin typeface="+mn-lt"/>
            </a:endParaRPr>
          </a:p>
        </p:txBody>
      </p:sp>
      <p:sp>
        <p:nvSpPr>
          <p:cNvPr id="7" name="Text Placeholder 5">
            <a:extLst>
              <a:ext uri="{FF2B5EF4-FFF2-40B4-BE49-F238E27FC236}">
                <a16:creationId xmlns:a16="http://schemas.microsoft.com/office/drawing/2014/main" id="{21EC92CC-3C04-417A-AA1B-5A88FBCBD7F4}"/>
              </a:ext>
            </a:extLst>
          </p:cNvPr>
          <p:cNvSpPr txBox="1">
            <a:spLocks/>
          </p:cNvSpPr>
          <p:nvPr/>
        </p:nvSpPr>
        <p:spPr>
          <a:xfrm>
            <a:off x="652781" y="2745758"/>
            <a:ext cx="6799580" cy="2803460"/>
          </a:xfrm>
          <a:prstGeom prst="rect">
            <a:avLst/>
          </a:prstGeom>
        </p:spPr>
        <p:txBody>
          <a:bodyPr vert="horz" wrap="square" lIns="0" tIns="91440" rIns="146304" bIns="91440" rtlCol="0">
            <a:spAutoFit/>
          </a:bodyPr>
          <a:lstStyle>
            <a:lvl1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lvl="1" indent="-457200">
              <a:lnSpc>
                <a:spcPct val="114000"/>
              </a:lnSpc>
              <a:buFont typeface="Arial" panose="020B0604020202020204" pitchFamily="34" charset="0"/>
              <a:buChar char="•"/>
            </a:pPr>
            <a:r>
              <a:rPr lang="en-US" sz="2400" dirty="0">
                <a:cs typeface="Segoe UI Semilight" panose="020B0402040204020203" pitchFamily="34" charset="0"/>
              </a:rPr>
              <a:t>Evaluates and identifies Azure resources that do not comply with your policies.</a:t>
            </a:r>
          </a:p>
          <a:p>
            <a:pPr marL="457200" lvl="1" indent="-457200">
              <a:lnSpc>
                <a:spcPct val="114000"/>
              </a:lnSpc>
              <a:buFont typeface="Arial" panose="020B0604020202020204" pitchFamily="34" charset="0"/>
              <a:buChar char="•"/>
            </a:pPr>
            <a:r>
              <a:rPr lang="en-US" sz="2400" dirty="0">
                <a:cs typeface="Segoe UI Semilight" panose="020B0402040204020203" pitchFamily="34" charset="0"/>
              </a:rPr>
              <a:t>Provides built-in policy and initiative definitions, under categories such as Storage, Networking, Compute, Security Center, and Monitoring.</a:t>
            </a:r>
          </a:p>
        </p:txBody>
      </p:sp>
      <p:pic>
        <p:nvPicPr>
          <p:cNvPr id="3" name="Graphic 2">
            <a:extLst>
              <a:ext uri="{FF2B5EF4-FFF2-40B4-BE49-F238E27FC236}">
                <a16:creationId xmlns:a16="http://schemas.microsoft.com/office/drawing/2014/main" id="{ABD3E443-456F-42C4-B57B-F32DC1649FD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8813" y="2775335"/>
            <a:ext cx="2748107" cy="2748107"/>
          </a:xfrm>
          <a:prstGeom prst="rect">
            <a:avLst/>
          </a:prstGeom>
        </p:spPr>
      </p:pic>
    </p:spTree>
    <p:extLst>
      <p:ext uri="{BB962C8B-B14F-4D97-AF65-F5344CB8AC3E}">
        <p14:creationId xmlns:p14="http://schemas.microsoft.com/office/powerpoint/2010/main" val="339023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Blueprints</a:t>
            </a:r>
          </a:p>
        </p:txBody>
      </p:sp>
      <p:sp>
        <p:nvSpPr>
          <p:cNvPr id="6" name="Text Placeholder 5"/>
          <p:cNvSpPr>
            <a:spLocks noGrp="1"/>
          </p:cNvSpPr>
          <p:nvPr>
            <p:ph sz="quarter" idx="10"/>
          </p:nvPr>
        </p:nvSpPr>
        <p:spPr>
          <a:xfrm>
            <a:off x="419100" y="1456897"/>
            <a:ext cx="11340811" cy="3652282"/>
          </a:xfrm>
        </p:spPr>
        <p:txBody>
          <a:bodyPr/>
          <a:lstStyle/>
          <a:p>
            <a:r>
              <a:rPr lang="en-US" i="0" dirty="0">
                <a:solidFill>
                  <a:srgbClr val="171717"/>
                </a:solidFill>
                <a:effectLst/>
                <a:latin typeface="+mj-lt"/>
              </a:rPr>
              <a:t>Azure Blueprints</a:t>
            </a:r>
            <a:r>
              <a:rPr lang="en-US" b="1" i="0" dirty="0">
                <a:solidFill>
                  <a:srgbClr val="171717"/>
                </a:solidFill>
                <a:effectLst/>
                <a:latin typeface="Segoe UI" panose="020B0502040204020203" pitchFamily="34" charset="0"/>
              </a:rPr>
              <a:t> </a:t>
            </a:r>
            <a:r>
              <a:rPr lang="en-US" b="0" i="0" dirty="0">
                <a:solidFill>
                  <a:srgbClr val="171717"/>
                </a:solidFill>
                <a:effectLst/>
                <a:latin typeface="Segoe UI" panose="020B0502040204020203" pitchFamily="34" charset="0"/>
              </a:rPr>
              <a:t>makes it possible for development teams to rapidly build and stand up new environments. Development teams can quickly build trust through organizational compliance with a set of built-in components</a:t>
            </a:r>
            <a:r>
              <a:rPr lang="en-US" dirty="0">
                <a:solidFill>
                  <a:srgbClr val="171717"/>
                </a:solidFill>
                <a:latin typeface="Segoe UI" panose="020B0502040204020203" pitchFamily="34" charset="0"/>
              </a:rPr>
              <a:t> </a:t>
            </a:r>
            <a:r>
              <a:rPr lang="en-US" b="0" i="0" dirty="0">
                <a:solidFill>
                  <a:srgbClr val="171717"/>
                </a:solidFill>
                <a:effectLst/>
                <a:latin typeface="Segoe UI" panose="020B0502040204020203" pitchFamily="34" charset="0"/>
              </a:rPr>
              <a:t>(such as networking</a:t>
            </a:r>
            <a:r>
              <a:rPr lang="en-US" dirty="0">
                <a:solidFill>
                  <a:srgbClr val="171717"/>
                </a:solidFill>
                <a:latin typeface="Segoe UI" panose="020B0502040204020203" pitchFamily="34" charset="0"/>
              </a:rPr>
              <a:t>)</a:t>
            </a:r>
            <a:r>
              <a:rPr lang="en-US" b="0" i="0" dirty="0">
                <a:solidFill>
                  <a:srgbClr val="171717"/>
                </a:solidFill>
                <a:effectLst/>
                <a:latin typeface="Segoe UI" panose="020B0502040204020203" pitchFamily="34" charset="0"/>
              </a:rPr>
              <a:t> in order to speed up development and delivery.</a:t>
            </a:r>
          </a:p>
          <a:p>
            <a:pPr marL="342900" indent="-342900">
              <a:buFont typeface="Arial" panose="020B0604020202020204" pitchFamily="34" charset="0"/>
              <a:buChar char="•"/>
            </a:pPr>
            <a:r>
              <a:rPr lang="en-US" sz="2400" noProof="0" dirty="0">
                <a:solidFill>
                  <a:srgbClr val="171717"/>
                </a:solidFill>
                <a:latin typeface="Segoe UI" panose="020B0502040204020203" pitchFamily="34" charset="0"/>
                <a:cs typeface="Segoe UI" panose="020B0502040204020203" pitchFamily="34" charset="0"/>
              </a:rPr>
              <a:t>Role Assignments</a:t>
            </a:r>
          </a:p>
          <a:p>
            <a:pPr marL="342900" indent="-342900">
              <a:buFont typeface="Arial" panose="020B0604020202020204" pitchFamily="34" charset="0"/>
              <a:buChar char="•"/>
            </a:pPr>
            <a:r>
              <a:rPr lang="en-US" sz="2400" noProof="0" dirty="0">
                <a:solidFill>
                  <a:srgbClr val="171717"/>
                </a:solidFill>
                <a:latin typeface="Segoe UI" panose="020B0502040204020203" pitchFamily="34" charset="0"/>
                <a:cs typeface="Segoe UI" panose="020B0502040204020203" pitchFamily="34" charset="0"/>
              </a:rPr>
              <a:t>Policy Assignments</a:t>
            </a:r>
          </a:p>
          <a:p>
            <a:pPr marL="342900" indent="-342900">
              <a:buFont typeface="Arial" panose="020B0604020202020204" pitchFamily="34" charset="0"/>
              <a:buChar char="•"/>
            </a:pPr>
            <a:r>
              <a:rPr lang="en-US" dirty="0">
                <a:solidFill>
                  <a:srgbClr val="171717"/>
                </a:solidFill>
                <a:latin typeface="Segoe UI" panose="020B0502040204020203" pitchFamily="34" charset="0"/>
                <a:cs typeface="Segoe UI" panose="020B0502040204020203" pitchFamily="34" charset="0"/>
              </a:rPr>
              <a:t>Azure Resource Manager Templates</a:t>
            </a:r>
          </a:p>
          <a:p>
            <a:pPr marL="342900" indent="-342900">
              <a:buFont typeface="Arial" panose="020B0604020202020204" pitchFamily="34" charset="0"/>
              <a:buChar char="•"/>
            </a:pPr>
            <a:r>
              <a:rPr lang="en-US" sz="2400" noProof="0" dirty="0">
                <a:solidFill>
                  <a:srgbClr val="171717"/>
                </a:solidFill>
                <a:latin typeface="Segoe UI" panose="020B0502040204020203" pitchFamily="34" charset="0"/>
                <a:cs typeface="Segoe UI" panose="020B0502040204020203" pitchFamily="34" charset="0"/>
              </a:rPr>
              <a:t>Resource Groups</a:t>
            </a:r>
            <a:endParaRPr lang="en-US" sz="2400" noProof="0" dirty="0">
              <a:latin typeface="Segoe UI" panose="020B0502040204020203" pitchFamily="34" charset="0"/>
              <a:cs typeface="Segoe UI" panose="020B0502040204020203" pitchFamily="34" charset="0"/>
            </a:endParaRPr>
          </a:p>
        </p:txBody>
      </p:sp>
      <p:pic>
        <p:nvPicPr>
          <p:cNvPr id="3" name="Graphic 2">
            <a:extLst>
              <a:ext uri="{FF2B5EF4-FFF2-40B4-BE49-F238E27FC236}">
                <a16:creationId xmlns:a16="http://schemas.microsoft.com/office/drawing/2014/main" id="{4C59E150-A658-4E5C-89AE-7A5B0C94EE3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2849" y="2893603"/>
            <a:ext cx="2507500" cy="2507500"/>
          </a:xfrm>
          <a:prstGeom prst="rect">
            <a:avLst/>
          </a:prstGeom>
        </p:spPr>
      </p:pic>
    </p:spTree>
    <p:extLst>
      <p:ext uri="{BB962C8B-B14F-4D97-AF65-F5344CB8AC3E}">
        <p14:creationId xmlns:p14="http://schemas.microsoft.com/office/powerpoint/2010/main" val="3410650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EB18D7-F987-4105-A2B5-C80ECAD9319A}">
  <ds:schemaRefs>
    <ds:schemaRef ds:uri="http://schemas.microsoft.com/sharepoint/v3/contenttype/forms"/>
  </ds:schemaRefs>
</ds:datastoreItem>
</file>

<file path=customXml/itemProps2.xml><?xml version="1.0" encoding="utf-8"?>
<ds:datastoreItem xmlns:ds="http://schemas.openxmlformats.org/officeDocument/2006/customXml" ds:itemID="{3852F1F0-4A20-4DF6-A9E4-5B1EAE25BD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6ffad-92b0-4efb-bc78-5d5af2c7fd93"/>
    <ds:schemaRef ds:uri="e7cc3f53-dbdf-4ffb-90f1-33d3d18064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565DAA-DA7D-47ED-ACE4-5E12F489D149}">
  <ds:schemaRefs>
    <ds:schemaRef ds:uri="http://purl.org/dc/elements/1.1/"/>
    <ds:schemaRef ds:uri="6656ffad-92b0-4efb-bc78-5d5af2c7fd93"/>
    <ds:schemaRef ds:uri="http://schemas.microsoft.com/office/2006/documentManagement/types"/>
    <ds:schemaRef ds:uri="http://schemas.microsoft.com/office/2006/metadata/properties"/>
    <ds:schemaRef ds:uri="http://purl.org/dc/dcmitype/"/>
    <ds:schemaRef ds:uri="http://schemas.microsoft.com/office/infopath/2007/PartnerControls"/>
    <ds:schemaRef ds:uri="http://www.w3.org/XML/1998/namespace"/>
    <ds:schemaRef ds:uri="http://schemas.openxmlformats.org/package/2006/metadata/core-properties"/>
    <ds:schemaRef ds:uri="e7cc3f53-dbdf-4ffb-90f1-33d3d1806439"/>
    <ds:schemaRef ds:uri="http://purl.org/dc/te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16-9_Illustration_2018_Cloud_011</Template>
  <TotalTime>0</TotalTime>
  <Words>2002</Words>
  <Application>Microsoft Office PowerPoint</Application>
  <PresentationFormat>Widescreen</PresentationFormat>
  <Paragraphs>234</Paragraphs>
  <Slides>16</Slides>
  <Notes>15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Segoe UI Semibold (Headings)</vt:lpstr>
      <vt:lpstr>Arial</vt:lpstr>
      <vt:lpstr>Calibri</vt:lpstr>
      <vt:lpstr>Segoe UI</vt:lpstr>
      <vt:lpstr>Segoe UI Light</vt:lpstr>
      <vt:lpstr>Segoe UI Semibold</vt:lpstr>
      <vt:lpstr>Segoe UI Semilight</vt:lpstr>
      <vt:lpstr>Wingdings</vt:lpstr>
      <vt:lpstr>WHITE TEMPLATE</vt:lpstr>
      <vt:lpstr>Microsoft Power Platform Template</vt:lpstr>
      <vt:lpstr>Module 05:  Identity, governance, privacy, and compliance</vt:lpstr>
      <vt:lpstr>Module outline</vt:lpstr>
      <vt:lpstr>Module 05 – Outline</vt:lpstr>
      <vt:lpstr>Core Azure identity services</vt:lpstr>
      <vt:lpstr>Azure Identity Services - Objective Domain</vt:lpstr>
      <vt:lpstr>Compare Authentication and Authorization</vt:lpstr>
      <vt:lpstr>Azure Multi-Factor Authentication</vt:lpstr>
      <vt:lpstr>Azure Active Directory (AAD)</vt:lpstr>
      <vt:lpstr>Conditional Access</vt:lpstr>
      <vt:lpstr>Azure Governance Methodologies</vt:lpstr>
      <vt:lpstr>Azure Governance Methodologies - Objective Domain</vt:lpstr>
      <vt:lpstr>Explore Role-based access control (RBAC)</vt:lpstr>
      <vt:lpstr>Resource locks</vt:lpstr>
      <vt:lpstr>Tags</vt:lpstr>
      <vt:lpstr>Azure Policy</vt:lpstr>
      <vt:lpstr>Azure Blueprints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Module 05:  Identity, governance, privacy, and compliance</dc:title>
  <dc:subject/>
  <dc:creator/>
  <cp:keywords/>
  <dc:description/>
  <cp:revision>46</cp:revision>
  <dcterms:created xsi:type="dcterms:W3CDTF">2019-10-20T18:53:17Z</dcterms:created>
  <dcterms:modified xsi:type="dcterms:W3CDTF">2022-07-12T13:35:08Z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y fmtid="{D5CDD505-2E9C-101B-9397-08002B2CF9AE}" pid="3" name="MSIP_Label_f42aa342-8706-4288-bd11-ebb85995028c_Enabled">
    <vt:lpwstr>true</vt:lpwstr>
  </property>
  <property fmtid="{D5CDD505-2E9C-101B-9397-08002B2CF9AE}" pid="4" name="MSIP_Label_f42aa342-8706-4288-bd11-ebb85995028c_SetDate">
    <vt:lpwstr>2020-08-18T21:15:37Z</vt:lpwstr>
  </property>
  <property fmtid="{D5CDD505-2E9C-101B-9397-08002B2CF9AE}" pid="5" name="MSIP_Label_f42aa342-8706-4288-bd11-ebb85995028c_Method">
    <vt:lpwstr>Standard</vt:lpwstr>
  </property>
  <property fmtid="{D5CDD505-2E9C-101B-9397-08002B2CF9AE}" pid="6" name="MSIP_Label_f42aa342-8706-4288-bd11-ebb85995028c_Name">
    <vt:lpwstr>Internal</vt:lpwstr>
  </property>
  <property fmtid="{D5CDD505-2E9C-101B-9397-08002B2CF9AE}" pid="7" name="MSIP_Label_f42aa342-8706-4288-bd11-ebb85995028c_SiteId">
    <vt:lpwstr>72f988bf-86f1-41af-91ab-2d7cd011db47</vt:lpwstr>
  </property>
  <property fmtid="{D5CDD505-2E9C-101B-9397-08002B2CF9AE}" pid="8" name="MSIP_Label_f42aa342-8706-4288-bd11-ebb85995028c_ActionId">
    <vt:lpwstr>dd64a40a-3fd0-4f3e-9ca9-9973192d2549</vt:lpwstr>
  </property>
  <property fmtid="{D5CDD505-2E9C-101B-9397-08002B2CF9AE}" pid="9" name="MSIP_Label_f42aa342-8706-4288-bd11-ebb85995028c_ContentBits">
    <vt:lpwstr>0</vt:lpwstr>
  </property>
</Properties>
</file>